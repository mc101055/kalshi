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3" r:id="rId1"/>
    <p:sldMasterId id="2147483831" r:id="rId2"/>
    <p:sldMasterId id="2147483660" r:id="rId3"/>
    <p:sldMasterId id="2147483672" r:id="rId4"/>
    <p:sldMasterId id="2147483712" r:id="rId5"/>
    <p:sldMasterId id="2147483737" r:id="rId6"/>
    <p:sldMasterId id="2147483799" r:id="rId7"/>
    <p:sldMasterId id="2147483807" r:id="rId8"/>
  </p:sldMasterIdLst>
  <p:notesMasterIdLst>
    <p:notesMasterId r:id="rId37"/>
  </p:notesMasterIdLst>
  <p:sldIdLst>
    <p:sldId id="318" r:id="rId9"/>
    <p:sldId id="319" r:id="rId10"/>
    <p:sldId id="320" r:id="rId11"/>
    <p:sldId id="321" r:id="rId12"/>
    <p:sldId id="323" r:id="rId13"/>
    <p:sldId id="325" r:id="rId14"/>
    <p:sldId id="401" r:id="rId15"/>
    <p:sldId id="327" r:id="rId16"/>
    <p:sldId id="404" r:id="rId17"/>
    <p:sldId id="329" r:id="rId18"/>
    <p:sldId id="372" r:id="rId19"/>
    <p:sldId id="331" r:id="rId20"/>
    <p:sldId id="394" r:id="rId21"/>
    <p:sldId id="402" r:id="rId22"/>
    <p:sldId id="345" r:id="rId23"/>
    <p:sldId id="348" r:id="rId24"/>
    <p:sldId id="395" r:id="rId25"/>
    <p:sldId id="396" r:id="rId26"/>
    <p:sldId id="354" r:id="rId27"/>
    <p:sldId id="397" r:id="rId28"/>
    <p:sldId id="403" r:id="rId29"/>
    <p:sldId id="398" r:id="rId30"/>
    <p:sldId id="399" r:id="rId31"/>
    <p:sldId id="386" r:id="rId32"/>
    <p:sldId id="388" r:id="rId33"/>
    <p:sldId id="400" r:id="rId34"/>
    <p:sldId id="391" r:id="rId35"/>
    <p:sldId id="39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B6E756B-0239-482C-8542-38B11616479C}">
          <p14:sldIdLst>
            <p14:sldId id="318"/>
            <p14:sldId id="319"/>
            <p14:sldId id="320"/>
            <p14:sldId id="321"/>
          </p14:sldIdLst>
        </p14:section>
        <p14:section name="Business and Profits" id="{7719E1E5-63B0-425A-B282-50520CB0AB66}">
          <p14:sldIdLst>
            <p14:sldId id="323"/>
            <p14:sldId id="325"/>
            <p14:sldId id="401"/>
            <p14:sldId id="327"/>
            <p14:sldId id="404"/>
            <p14:sldId id="329"/>
            <p14:sldId id="372"/>
          </p14:sldIdLst>
        </p14:section>
        <p14:section name="Role Business Plays in Society" id="{C7206DDB-B745-49DE-9E8C-09C6D3A4FC65}">
          <p14:sldIdLst>
            <p14:sldId id="331"/>
            <p14:sldId id="394"/>
            <p14:sldId id="402"/>
          </p14:sldIdLst>
        </p14:section>
        <p14:section name="Entrepreneural Risk and Factors of Production" id="{ABA85F0C-7A22-4A19-A5A0-12C3FC28839C}">
          <p14:sldIdLst>
            <p14:sldId id="345"/>
            <p14:sldId id="348"/>
            <p14:sldId id="395"/>
            <p14:sldId id="396"/>
          </p14:sldIdLst>
        </p14:section>
        <p14:section name="The Forces of the Business Environment" id="{04D08958-B185-4539-898D-2102447A0742}">
          <p14:sldIdLst>
            <p14:sldId id="354"/>
            <p14:sldId id="397"/>
            <p14:sldId id="403"/>
            <p14:sldId id="398"/>
            <p14:sldId id="399"/>
          </p14:sldIdLst>
        </p14:section>
        <p14:section name="Stakeholders and Succeeding in Business" id="{181D1F98-FA79-42CE-AB7F-2F93778F6611}">
          <p14:sldIdLst>
            <p14:sldId id="386"/>
            <p14:sldId id="388"/>
            <p14:sldId id="400"/>
            <p14:sldId id="391"/>
            <p14:sldId id="392"/>
          </p14:sldIdLst>
        </p14:section>
      </p14:sectionLst>
    </p:ext>
    <p:ext uri="{EFAFB233-063F-42B5-8137-9DF3F51BA10A}">
      <p15:sldGuideLst xmlns:p15="http://schemas.microsoft.com/office/powerpoint/2012/main">
        <p15:guide id="2" pos="576" userDrawn="1">
          <p15:clr>
            <a:srgbClr val="A4A3A4"/>
          </p15:clr>
        </p15:guide>
        <p15:guide id="3" orient="horz" pos="550" userDrawn="1">
          <p15:clr>
            <a:srgbClr val="A4A3A4"/>
          </p15:clr>
        </p15:guide>
        <p15:guide id="4" orient="horz" pos="51" userDrawn="1">
          <p15:clr>
            <a:srgbClr val="A4A3A4"/>
          </p15:clr>
        </p15:guide>
        <p15:guide id="5" pos="29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dy.chris" initials="s" lastIdx="1" clrIdx="0"/>
  <p:cmAuthor id="2" name="chris, Sandy" initials="cS" lastIdx="16" clrIdx="1">
    <p:extLst>
      <p:ext uri="{19B8F6BF-5375-455C-9EA6-DF929625EA0E}">
        <p15:presenceInfo xmlns:p15="http://schemas.microsoft.com/office/powerpoint/2012/main" userId="S-1-5-21-39343037-960914493-329593862-79639" providerId="AD"/>
      </p:ext>
    </p:extLst>
  </p:cmAuthor>
  <p:cmAuthor id="3" name="Cenveo ID" initials="C-ID" lastIdx="6" clrIdx="2">
    <p:extLst>
      <p:ext uri="{19B8F6BF-5375-455C-9EA6-DF929625EA0E}">
        <p15:presenceInfo xmlns:p15="http://schemas.microsoft.com/office/powerpoint/2012/main" userId="Cenveo ID" providerId="None"/>
      </p:ext>
    </p:extLst>
  </p:cmAuthor>
  <p:cmAuthor id="4" name="Limje, Shubhangi" initials="LS" lastIdx="1" clrIdx="3">
    <p:extLst>
      <p:ext uri="{19B8F6BF-5375-455C-9EA6-DF929625EA0E}">
        <p15:presenceInfo xmlns:p15="http://schemas.microsoft.com/office/powerpoint/2012/main" userId="S-1-5-21-39343037-960914493-329593862-77367" providerId="AD"/>
      </p:ext>
    </p:extLst>
  </p:cmAuthor>
  <p:cmAuthor id="5" name="Cenveo Editor" initials="CE" lastIdx="4" clrIdx="4">
    <p:extLst>
      <p:ext uri="{19B8F6BF-5375-455C-9EA6-DF929625EA0E}">
        <p15:presenceInfo xmlns:p15="http://schemas.microsoft.com/office/powerpoint/2012/main" userId="Cenveo Editor" providerId="None"/>
      </p:ext>
    </p:extLst>
  </p:cmAuthor>
  <p:cmAuthor id="6" name="Darin, Kelsey" initials="DK" lastIdx="4" clrIdx="5">
    <p:extLst>
      <p:ext uri="{19B8F6BF-5375-455C-9EA6-DF929625EA0E}">
        <p15:presenceInfo xmlns:p15="http://schemas.microsoft.com/office/powerpoint/2012/main" userId="S::kelsey.darin@mheducation.com::413a9664-6e25-46c2-9747-eb36818d7a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304"/>
    <a:srgbClr val="006699"/>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2020" autoAdjust="0"/>
    <p:restoredTop sz="78955" autoAdjust="0"/>
  </p:normalViewPr>
  <p:slideViewPr>
    <p:cSldViewPr snapToGrid="0">
      <p:cViewPr varScale="1">
        <p:scale>
          <a:sx n="67" d="100"/>
          <a:sy n="67" d="100"/>
        </p:scale>
        <p:origin x="1613" y="67"/>
      </p:cViewPr>
      <p:guideLst>
        <p:guide pos="576"/>
        <p:guide orient="horz" pos="550"/>
        <p:guide orient="horz" pos="51"/>
        <p:guide pos="29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7B394-6A08-4542-8F0C-3B86D82D604D}" type="datetimeFigureOut">
              <a:rPr lang="en-US" smtClean="0"/>
              <a:t>8/5/2021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9A2FD-25E4-4F4D-BDE3-F28861BF236E}" type="slidenum">
              <a:rPr lang="en-US" smtClean="0"/>
              <a:t>‹#›</a:t>
            </a:fld>
            <a:endParaRPr lang="en-US"/>
          </a:p>
        </p:txBody>
      </p:sp>
    </p:spTree>
    <p:extLst>
      <p:ext uri="{BB962C8B-B14F-4D97-AF65-F5344CB8AC3E}">
        <p14:creationId xmlns:p14="http://schemas.microsoft.com/office/powerpoint/2010/main" val="2674098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5bremark:5e5f9f93547048be99b58095c9da2456%5d"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t>1</a:t>
            </a:fld>
            <a:endParaRPr lang="en-US"/>
          </a:p>
        </p:txBody>
      </p:sp>
    </p:spTree>
    <p:extLst>
      <p:ext uri="{BB962C8B-B14F-4D97-AF65-F5344CB8AC3E}">
        <p14:creationId xmlns:p14="http://schemas.microsoft.com/office/powerpoint/2010/main" val="3849607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t>3</a:t>
            </a:fld>
            <a:endParaRPr lang="en-US"/>
          </a:p>
        </p:txBody>
      </p:sp>
    </p:spTree>
    <p:extLst>
      <p:ext uri="{BB962C8B-B14F-4D97-AF65-F5344CB8AC3E}">
        <p14:creationId xmlns:p14="http://schemas.microsoft.com/office/powerpoint/2010/main" val="587384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indent="-1143000">
              <a:buNone/>
            </a:pPr>
            <a:r>
              <a:rPr lang="en-IN" sz="1200" dirty="0"/>
              <a:t>See Learning Objectives: </a:t>
            </a:r>
            <a:r>
              <a:rPr lang="en-US" sz="1200" dirty="0"/>
              <a:t>Classify businesses as for-profit or nonprofit.; Outline key facets of a business.</a:t>
            </a:r>
            <a:endParaRPr lang="en-IN" sz="1200" dirty="0"/>
          </a:p>
          <a:p>
            <a:pPr marL="1143000" indent="-1143000">
              <a:buNone/>
            </a:pPr>
            <a:endParaRPr lang="en-IN" sz="1200" b="1" dirty="0"/>
          </a:p>
          <a:p>
            <a:pPr marL="1143000" indent="-1143000">
              <a:buNone/>
            </a:pPr>
            <a:r>
              <a:rPr lang="en-US" dirty="0"/>
              <a:t>It is helpful to distinguish between an </a:t>
            </a:r>
            <a:r>
              <a:rPr lang="en-US" i="1" dirty="0"/>
              <a:t>organization</a:t>
            </a:r>
            <a:r>
              <a:rPr lang="en-US" dirty="0"/>
              <a:t> and a </a:t>
            </a:r>
            <a:r>
              <a:rPr lang="en-US" i="1" dirty="0"/>
              <a:t>business</a:t>
            </a:r>
            <a:r>
              <a:rPr lang="en-US" dirty="0"/>
              <a:t>. </a:t>
            </a:r>
          </a:p>
          <a:p>
            <a:pPr marL="1143000" indent="-1143000">
              <a:buNone/>
            </a:pPr>
            <a:endParaRPr lang="en-IN" sz="1200" dirty="0"/>
          </a:p>
        </p:txBody>
      </p:sp>
      <p:sp>
        <p:nvSpPr>
          <p:cNvPr id="4" name="Slide Number Placeholder 3"/>
          <p:cNvSpPr>
            <a:spLocks noGrp="1"/>
          </p:cNvSpPr>
          <p:nvPr>
            <p:ph type="sldNum" sz="quarter" idx="10"/>
          </p:nvPr>
        </p:nvSpPr>
        <p:spPr/>
        <p:txBody>
          <a:bodyPr/>
          <a:lstStyle/>
          <a:p>
            <a:fld id="{CC39A2FD-25E4-4F4D-BDE3-F28861BF236E}" type="slidenum">
              <a:rPr lang="en-US" smtClean="0"/>
              <a:t>6</a:t>
            </a:fld>
            <a:endParaRPr lang="en-US"/>
          </a:p>
        </p:txBody>
      </p:sp>
    </p:spTree>
    <p:extLst>
      <p:ext uri="{BB962C8B-B14F-4D97-AF65-F5344CB8AC3E}">
        <p14:creationId xmlns:p14="http://schemas.microsoft.com/office/powerpoint/2010/main" val="2767065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indent="-1143000">
              <a:buNone/>
            </a:pPr>
            <a:r>
              <a:rPr lang="en-IN" sz="1200" dirty="0"/>
              <a:t>See Learning Objectives: </a:t>
            </a:r>
            <a:r>
              <a:rPr lang="en-US" sz="1200" dirty="0"/>
              <a:t>Classify businesses as for-profit or nonprofit.; Outline key facets of a business.</a:t>
            </a:r>
            <a:endParaRPr lang="en-IN" sz="1200" dirty="0"/>
          </a:p>
          <a:p>
            <a:pPr marL="1143000" indent="-1143000">
              <a:buNone/>
            </a:pPr>
            <a:endParaRPr lang="en-IN" sz="1200" dirty="0"/>
          </a:p>
          <a:p>
            <a:pPr marL="1143000" indent="-1143000">
              <a:buNone/>
            </a:pPr>
            <a:r>
              <a:rPr lang="en-IN" sz="1200" b="1" dirty="0"/>
              <a:t>Examples of for-profit organizations:</a:t>
            </a:r>
          </a:p>
          <a:p>
            <a:pPr marL="171450" lvl="0" indent="-171450">
              <a:buFont typeface="Arial" panose="020B0604020202020204" pitchFamily="34" charset="0"/>
              <a:buChar char="•"/>
            </a:pPr>
            <a:r>
              <a:rPr lang="en-US" dirty="0"/>
              <a:t>PetSmart</a:t>
            </a:r>
          </a:p>
          <a:p>
            <a:pPr marL="171450" lvl="0" indent="-171450">
              <a:buFont typeface="Arial" panose="020B0604020202020204" pitchFamily="34" charset="0"/>
              <a:buChar char="•"/>
            </a:pPr>
            <a:r>
              <a:rPr lang="en-US" dirty="0"/>
              <a:t>Camping World</a:t>
            </a:r>
          </a:p>
          <a:p>
            <a:pPr marL="171450" lvl="0" indent="-171450">
              <a:buFont typeface="Arial" panose="020B0604020202020204" pitchFamily="34" charset="0"/>
              <a:buChar char="•"/>
            </a:pPr>
            <a:r>
              <a:rPr lang="en-US" dirty="0"/>
              <a:t>Under </a:t>
            </a:r>
            <a:r>
              <a:rPr lang="en-US" dirty="0" err="1"/>
              <a:t>Armour</a:t>
            </a:r>
            <a:endParaRPr lang="en-US" dirty="0"/>
          </a:p>
          <a:p>
            <a:pPr marL="171450" lvl="0" indent="-171450">
              <a:buFont typeface="Arial" panose="020B0604020202020204" pitchFamily="34" charset="0"/>
              <a:buChar char="•"/>
            </a:pPr>
            <a:r>
              <a:rPr lang="en-US" dirty="0"/>
              <a:t>Uber</a:t>
            </a:r>
          </a:p>
          <a:p>
            <a:pPr marL="171450" lvl="0" indent="-171450">
              <a:buFont typeface="Arial" panose="020B0604020202020204" pitchFamily="34" charset="0"/>
              <a:buChar char="•"/>
            </a:pPr>
            <a:r>
              <a:rPr lang="en-US" dirty="0"/>
              <a:t>Facebook</a:t>
            </a:r>
          </a:p>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IN" sz="1200" b="1" dirty="0"/>
              <a:t>Examples of </a:t>
            </a:r>
            <a:r>
              <a:rPr lang="en-IN" sz="1200" b="1" dirty="0" err="1"/>
              <a:t>nonprofit</a:t>
            </a:r>
            <a:r>
              <a:rPr lang="en-IN" sz="1200" b="1" dirty="0"/>
              <a:t> organizations:</a:t>
            </a:r>
          </a:p>
          <a:p>
            <a:pPr marL="0" indent="182880">
              <a:buFont typeface="Arial" panose="020B0604020202020204" pitchFamily="34" charset="0"/>
              <a:buChar char="•"/>
            </a:pPr>
            <a:r>
              <a:rPr lang="en-US" dirty="0"/>
              <a:t>Red Cross</a:t>
            </a:r>
          </a:p>
          <a:p>
            <a:pPr marL="0" indent="182880">
              <a:buFont typeface="Arial" panose="020B0604020202020204" pitchFamily="34" charset="0"/>
              <a:buChar char="•"/>
            </a:pPr>
            <a:r>
              <a:rPr lang="en-US" dirty="0"/>
              <a:t>NFL (National Football League)</a:t>
            </a:r>
          </a:p>
          <a:p>
            <a:pPr marL="0" indent="182880">
              <a:buFont typeface="Arial" panose="020B0604020202020204" pitchFamily="34" charset="0"/>
              <a:buChar char="•"/>
            </a:pPr>
            <a:r>
              <a:rPr lang="en-US" dirty="0"/>
              <a:t>Humane Society</a:t>
            </a:r>
          </a:p>
          <a:p>
            <a:pPr marL="0" indent="182880">
              <a:buFont typeface="Arial" panose="020B0604020202020204" pitchFamily="34" charset="0"/>
              <a:buChar char="•"/>
            </a:pPr>
            <a:r>
              <a:rPr lang="en-US" dirty="0"/>
              <a:t>Some hospitals</a:t>
            </a:r>
          </a:p>
          <a:p>
            <a:pPr marL="0" indent="182880">
              <a:buFont typeface="Arial" panose="020B0604020202020204" pitchFamily="34" charset="0"/>
              <a:buChar char="•"/>
            </a:pPr>
            <a:r>
              <a:rPr lang="en-US" dirty="0"/>
              <a:t>Some colleges and universities</a:t>
            </a:r>
          </a:p>
          <a:p>
            <a:pPr marL="0" indent="182880">
              <a:buFont typeface="Arial" panose="020B0604020202020204" pitchFamily="34" charset="0"/>
              <a:buChar char="•"/>
            </a:pPr>
            <a:r>
              <a:rPr lang="en-US" dirty="0"/>
              <a:t>United Autoworkers</a:t>
            </a:r>
          </a:p>
          <a:p>
            <a:pPr marL="0" indent="0">
              <a:buNone/>
            </a:pPr>
            <a:r>
              <a:rPr lang="en-US" dirty="0"/>
              <a:t>Some nonprofits operate in the </a:t>
            </a:r>
            <a:r>
              <a:rPr lang="en-US" i="1" dirty="0"/>
              <a:t>public sector</a:t>
            </a:r>
            <a:r>
              <a:rPr lang="en-US" dirty="0"/>
              <a:t>, which are controlled by government. Others are in the </a:t>
            </a:r>
            <a:r>
              <a:rPr lang="en-US" i="1" dirty="0"/>
              <a:t>private sector</a:t>
            </a:r>
            <a:r>
              <a:rPr lang="en-US" dirty="0"/>
              <a:t>, which are not controlled by the</a:t>
            </a:r>
            <a:r>
              <a:rPr lang="en-US" baseline="0" dirty="0"/>
              <a:t> </a:t>
            </a:r>
            <a:r>
              <a:rPr lang="en-US" dirty="0"/>
              <a:t>government.</a:t>
            </a:r>
          </a:p>
          <a:p>
            <a:pPr marL="1143000" indent="-1143000">
              <a:buNone/>
            </a:pPr>
            <a:r>
              <a:rPr lang="en-US" dirty="0"/>
              <a:t>The biggest difference between for-profit businesses and nonprofit organizations is the measure of accomplishment.</a:t>
            </a:r>
          </a:p>
          <a:p>
            <a:pPr marL="1143000" indent="-1143000">
              <a:buNone/>
            </a:pPr>
            <a:endParaRPr lang="en-IN" sz="1200" dirty="0"/>
          </a:p>
        </p:txBody>
      </p:sp>
      <p:sp>
        <p:nvSpPr>
          <p:cNvPr id="4" name="Slide Number Placeholder 3"/>
          <p:cNvSpPr>
            <a:spLocks noGrp="1"/>
          </p:cNvSpPr>
          <p:nvPr>
            <p:ph type="sldNum" sz="quarter" idx="10"/>
          </p:nvPr>
        </p:nvSpPr>
        <p:spPr/>
        <p:txBody>
          <a:bodyPr/>
          <a:lstStyle/>
          <a:p>
            <a:fld id="{CC39A2FD-25E4-4F4D-BDE3-F28861BF236E}" type="slidenum">
              <a:rPr lang="en-US" smtClean="0"/>
              <a:t>7</a:t>
            </a:fld>
            <a:endParaRPr lang="en-US"/>
          </a:p>
        </p:txBody>
      </p:sp>
    </p:spTree>
    <p:extLst>
      <p:ext uri="{BB962C8B-B14F-4D97-AF65-F5344CB8AC3E}">
        <p14:creationId xmlns:p14="http://schemas.microsoft.com/office/powerpoint/2010/main" val="168797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indent="-1143000">
              <a:buNone/>
            </a:pPr>
            <a:r>
              <a:rPr lang="en-IN" sz="1200" dirty="0"/>
              <a:t>See Learning Objective: </a:t>
            </a:r>
            <a:r>
              <a:rPr lang="en-US" sz="1200" dirty="0"/>
              <a:t>Outline key facets of a business.</a:t>
            </a:r>
            <a:endParaRPr lang="en-I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b="1" i="1" dirty="0"/>
              <a:t>Profit</a:t>
            </a:r>
            <a:r>
              <a:rPr lang="en-IN" dirty="0"/>
              <a:t> is the amount of money a business makes after paying for all of its costs. The opposite of profit is a </a:t>
            </a:r>
            <a:r>
              <a:rPr lang="en-IN" b="1" i="1" dirty="0"/>
              <a:t>loss</a:t>
            </a:r>
            <a:r>
              <a:rPr lang="en-IN" dirty="0"/>
              <a:t>, which occurs when business expenses exceed revenues.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dirty="0">
              <a:latin typeface="Helvetica" panose="020B0604020202020204" pitchFamily="34" charset="0"/>
              <a:cs typeface="Helvetica" panose="020B0604020202020204" pitchFamily="34" charset="0"/>
            </a:endParaRPr>
          </a:p>
        </p:txBody>
      </p:sp>
      <p:sp>
        <p:nvSpPr>
          <p:cNvPr id="4" name="Slide Number Placeholder 3"/>
          <p:cNvSpPr>
            <a:spLocks noGrp="1"/>
          </p:cNvSpPr>
          <p:nvPr>
            <p:ph type="sldNum" sz="quarter" idx="10"/>
          </p:nvPr>
        </p:nvSpPr>
        <p:spPr/>
        <p:txBody>
          <a:bodyPr/>
          <a:lstStyle/>
          <a:p>
            <a:fld id="{CC39A2FD-25E4-4F4D-BDE3-F28861BF236E}" type="slidenum">
              <a:rPr lang="en-US" smtClean="0"/>
              <a:t>8</a:t>
            </a:fld>
            <a:endParaRPr lang="en-US"/>
          </a:p>
        </p:txBody>
      </p:sp>
    </p:spTree>
    <p:extLst>
      <p:ext uri="{BB962C8B-B14F-4D97-AF65-F5344CB8AC3E}">
        <p14:creationId xmlns:p14="http://schemas.microsoft.com/office/powerpoint/2010/main" val="237032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dirty="0"/>
              <a:t>See Learning Objective: Classify business offerings as goods or services.</a:t>
            </a:r>
          </a:p>
          <a:p>
            <a:pPr marL="1143000" indent="-1143000">
              <a:buNone/>
            </a:pPr>
            <a:endParaRPr lang="en-IN" sz="1200" b="0" i="0" kern="1200" dirty="0">
              <a:solidFill>
                <a:schemeClr val="tx1"/>
              </a:solidFill>
              <a:effectLst/>
              <a:latin typeface="+mn-lt"/>
              <a:ea typeface="+mn-ea"/>
              <a:cs typeface="+mn-cs"/>
            </a:endParaRPr>
          </a:p>
          <a:p>
            <a:r>
              <a:rPr lang="en-IN" sz="1800" dirty="0">
                <a:latin typeface="Calibri" panose="020F0502020204030204" pitchFamily="34" charset="0"/>
              </a:rPr>
              <a:t>What Do Business Sell? </a:t>
            </a:r>
          </a:p>
          <a:p>
            <a:r>
              <a:rPr lang="en-IN" sz="1200" b="1" dirty="0">
                <a:solidFill>
                  <a:srgbClr val="006699"/>
                </a:solidFill>
                <a:latin typeface="Calibri" panose="020F0502020204030204" pitchFamily="34" charset="0"/>
              </a:rPr>
              <a:t>Goods </a:t>
            </a:r>
            <a:r>
              <a:rPr lang="en-IN" sz="1200" dirty="0">
                <a:solidFill>
                  <a:srgbClr val="006699"/>
                </a:solidFill>
                <a:latin typeface="Calibri" panose="020F0502020204030204" pitchFamily="34" charset="0"/>
              </a:rPr>
              <a:t>are tangible products such as food, clothing, appliances, gasoline, and books.</a:t>
            </a:r>
          </a:p>
          <a:p>
            <a:r>
              <a:rPr lang="en-IN" sz="1200" b="1" dirty="0">
                <a:solidFill>
                  <a:srgbClr val="006699"/>
                </a:solidFill>
                <a:latin typeface="Calibri" panose="020F0502020204030204" pitchFamily="34" charset="0"/>
              </a:rPr>
              <a:t>Services</a:t>
            </a:r>
            <a:r>
              <a:rPr lang="en-IN" sz="1200" dirty="0">
                <a:solidFill>
                  <a:srgbClr val="006699"/>
                </a:solidFill>
                <a:latin typeface="Calibri" panose="020F0502020204030204" pitchFamily="34" charset="0"/>
              </a:rPr>
              <a:t> are intangible products such as education, recreation, or health care.</a:t>
            </a:r>
          </a:p>
        </p:txBody>
      </p:sp>
      <p:sp>
        <p:nvSpPr>
          <p:cNvPr id="4" name="Slide Number Placeholder 3"/>
          <p:cNvSpPr>
            <a:spLocks noGrp="1"/>
          </p:cNvSpPr>
          <p:nvPr>
            <p:ph type="sldNum" sz="quarter" idx="10"/>
          </p:nvPr>
        </p:nvSpPr>
        <p:spPr/>
        <p:txBody>
          <a:bodyPr/>
          <a:lstStyle/>
          <a:p>
            <a:fld id="{CC39A2FD-25E4-4F4D-BDE3-F28861BF236E}" type="slidenum">
              <a:rPr lang="en-US" smtClean="0"/>
              <a:t>9</a:t>
            </a:fld>
            <a:endParaRPr lang="en-US"/>
          </a:p>
        </p:txBody>
      </p:sp>
    </p:spTree>
    <p:extLst>
      <p:ext uri="{BB962C8B-B14F-4D97-AF65-F5344CB8AC3E}">
        <p14:creationId xmlns:p14="http://schemas.microsoft.com/office/powerpoint/2010/main" val="2444206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Learning Objective:</a:t>
            </a:r>
            <a:r>
              <a:rPr lang="en-US" b="0" dirty="0"/>
              <a:t> </a:t>
            </a:r>
            <a:r>
              <a:rPr lang="en-US" sz="1200" b="0" i="0" kern="1200" dirty="0">
                <a:solidFill>
                  <a:schemeClr val="tx1"/>
                </a:solidFill>
                <a:effectLst/>
                <a:latin typeface="+mn-lt"/>
                <a:ea typeface="+mn-ea"/>
                <a:cs typeface="+mn-cs"/>
              </a:rPr>
              <a:t>Summarize how the American economy has evolved over time.</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Evolution of the U.S. Economy</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From an economic standpoint, most American jobs today involve the provision of services. For example, editors provide services by editing books, magazines, and Websites; stockbrokers provide services by helping investors buy and sell stocks. But the dominance of service-based jobs is relatively recent. </a:t>
            </a:r>
          </a:p>
          <a:p>
            <a:endParaRPr lang="en-IN" sz="1200" b="1" dirty="0">
              <a:solidFill>
                <a:srgbClr val="006699"/>
              </a:solidFill>
              <a:latin typeface="Calibri" panose="020F0502020204030204" pitchFamily="34" charset="0"/>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IN" sz="1200" b="1" dirty="0"/>
              <a:t>18th Century: The Agricultural Economy: </a:t>
            </a:r>
          </a:p>
          <a:p>
            <a:pPr marL="1143000" indent="-1143000">
              <a:buNone/>
            </a:pPr>
            <a:r>
              <a:rPr lang="en-IN" sz="1200" b="0" i="0" kern="1200" dirty="0">
                <a:solidFill>
                  <a:schemeClr val="tx1"/>
                </a:solidFill>
                <a:effectLst/>
                <a:latin typeface="+mn-lt"/>
                <a:ea typeface="+mn-ea"/>
                <a:cs typeface="+mn-cs"/>
              </a:rPr>
              <a:t>Today, technology has made farming and ranching so efficient that only about 2% of the U.S. population is now employed in agriculture.</a:t>
            </a:r>
          </a:p>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IN" sz="1200" b="1" dirty="0"/>
              <a:t>Late 19th – Early 20th Century: The Industrial Economy:</a:t>
            </a:r>
            <a:endParaRPr lang="en-IN" sz="1200" b="0" i="0" kern="1200" dirty="0">
              <a:solidFill>
                <a:schemeClr val="tx1"/>
              </a:solidFill>
              <a:effectLst/>
              <a:latin typeface="+mn-lt"/>
              <a:ea typeface="+mn-ea"/>
              <a:cs typeface="+mn-cs"/>
            </a:endParaRPr>
          </a:p>
          <a:p>
            <a:pPr marL="1143000" indent="-1143000">
              <a:buNone/>
            </a:pPr>
            <a:r>
              <a:rPr lang="en-IN" sz="1200" b="0" i="0" kern="1200" dirty="0">
                <a:solidFill>
                  <a:schemeClr val="tx1"/>
                </a:solidFill>
                <a:effectLst/>
                <a:latin typeface="+mn-lt"/>
                <a:ea typeface="+mn-ea"/>
                <a:cs typeface="+mn-cs"/>
              </a:rPr>
              <a:t>America’s industrial development became the envy of the world and made a huge difference in turning the tide toward victory during World War II.</a:t>
            </a:r>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t>10</a:t>
            </a:fld>
            <a:endParaRPr lang="en-US"/>
          </a:p>
        </p:txBody>
      </p:sp>
    </p:spTree>
    <p:extLst>
      <p:ext uri="{BB962C8B-B14F-4D97-AF65-F5344CB8AC3E}">
        <p14:creationId xmlns:p14="http://schemas.microsoft.com/office/powerpoint/2010/main" val="1932697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Learning Objective:</a:t>
            </a:r>
            <a:r>
              <a:rPr lang="en-US" b="0" dirty="0"/>
              <a:t> </a:t>
            </a:r>
            <a:r>
              <a:rPr lang="en-US" sz="1200" b="0" i="0" kern="1200" dirty="0">
                <a:solidFill>
                  <a:schemeClr val="tx1"/>
                </a:solidFill>
                <a:effectLst/>
                <a:latin typeface="+mn-lt"/>
                <a:ea typeface="+mn-ea"/>
                <a:cs typeface="+mn-cs"/>
              </a:rPr>
              <a:t>Summarize how the American economy has evolved over time.</a:t>
            </a:r>
          </a:p>
          <a:p>
            <a:pPr marL="1143000" indent="-1143000">
              <a:buNone/>
            </a:pPr>
            <a:endParaRPr lang="en-IN" sz="1200" b="1" i="0" kern="1200" dirty="0">
              <a:solidFill>
                <a:schemeClr val="tx1"/>
              </a:solidFill>
              <a:effectLst/>
              <a:latin typeface="+mn-lt"/>
              <a:ea typeface="+mn-ea"/>
              <a:cs typeface="+mn-cs"/>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tx1"/>
                </a:solidFill>
                <a:effectLst/>
                <a:latin typeface="+mn-lt"/>
                <a:ea typeface="+mn-ea"/>
                <a:cs typeface="+mn-cs"/>
              </a:rPr>
              <a:t>The suppliers outside the United States (such as suppliers in China and India) provide </a:t>
            </a:r>
            <a:r>
              <a:rPr lang="en-IN" sz="1200" b="0" i="0" kern="1200" dirty="0" err="1">
                <a:solidFill>
                  <a:schemeClr val="tx1"/>
                </a:solidFill>
                <a:effectLst/>
                <a:latin typeface="+mn-lt"/>
                <a:ea typeface="+mn-ea"/>
                <a:cs typeface="+mn-cs"/>
              </a:rPr>
              <a:t>labor</a:t>
            </a:r>
            <a:r>
              <a:rPr lang="en-IN" sz="1200" b="0" i="0" kern="1200" dirty="0">
                <a:solidFill>
                  <a:schemeClr val="tx1"/>
                </a:solidFill>
                <a:effectLst/>
                <a:latin typeface="+mn-lt"/>
                <a:ea typeface="+mn-ea"/>
                <a:cs typeface="+mn-cs"/>
              </a:rPr>
              <a:t>, goods, or services.</a:t>
            </a:r>
          </a:p>
        </p:txBody>
      </p:sp>
      <p:sp>
        <p:nvSpPr>
          <p:cNvPr id="4" name="Slide Number Placeholder 3"/>
          <p:cNvSpPr>
            <a:spLocks noGrp="1"/>
          </p:cNvSpPr>
          <p:nvPr>
            <p:ph type="sldNum" sz="quarter" idx="10"/>
          </p:nvPr>
        </p:nvSpPr>
        <p:spPr/>
        <p:txBody>
          <a:bodyPr/>
          <a:lstStyle/>
          <a:p>
            <a:fld id="{CC39A2FD-25E4-4F4D-BDE3-F28861BF236E}" type="slidenum">
              <a:rPr lang="en-US" smtClean="0"/>
              <a:t>11</a:t>
            </a:fld>
            <a:endParaRPr lang="en-US"/>
          </a:p>
        </p:txBody>
      </p:sp>
    </p:spTree>
    <p:extLst>
      <p:ext uri="{BB962C8B-B14F-4D97-AF65-F5344CB8AC3E}">
        <p14:creationId xmlns:p14="http://schemas.microsoft.com/office/powerpoint/2010/main" val="1703722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sz="800" dirty="0"/>
              <a:t>See Learning Objective: Provide examples of the ways business can impact quality of life.</a:t>
            </a:r>
            <a:endParaRPr lang="en-IN" sz="800" dirty="0">
              <a:latin typeface="Calibri" panose="020F0502020204030204" pitchFamily="34" charset="0"/>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sz="800" dirty="0">
              <a:latin typeface="Calibri" panose="020F0502020204030204" pitchFamily="34" charset="0"/>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sz="800" b="0" i="0" kern="1200" dirty="0">
              <a:solidFill>
                <a:schemeClr val="tx1"/>
              </a:solidFill>
              <a:effectLst/>
              <a:latin typeface="+mn-lt"/>
              <a:ea typeface="+mn-ea"/>
              <a:cs typeface="+mn-cs"/>
            </a:endParaRPr>
          </a:p>
          <a:p>
            <a:endParaRPr lang="en-US" sz="800" dirty="0"/>
          </a:p>
          <a:p>
            <a:endParaRPr lang="en-US" sz="800"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1212942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sz="800" dirty="0"/>
              <a:t>See Learning Objective: </a:t>
            </a:r>
            <a:r>
              <a:rPr lang="en-US" sz="800" dirty="0">
                <a:latin typeface="Calibri" panose="020F0502020204030204" pitchFamily="34" charset="0"/>
              </a:rPr>
              <a:t>Provide examples of the four ways business can advance the interests of society.</a:t>
            </a:r>
            <a:endParaRPr lang="en-IN" sz="800" dirty="0">
              <a:latin typeface="Calibri" panose="020F0502020204030204" pitchFamily="34" charset="0"/>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sz="800" b="0" i="0" kern="1200" dirty="0">
              <a:solidFill>
                <a:schemeClr val="tx1"/>
              </a:solidFill>
              <a:effectLst/>
              <a:latin typeface="+mn-lt"/>
              <a:ea typeface="+mn-ea"/>
              <a:cs typeface="+mn-cs"/>
            </a:endParaRPr>
          </a:p>
          <a:p>
            <a:endParaRPr lang="en-US" sz="800" dirty="0"/>
          </a:p>
          <a:p>
            <a:endParaRPr lang="en-US" sz="800"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2581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CC39A2FD-25E4-4F4D-BDE3-F28861BF236E}" type="slidenum">
              <a:rPr lang="en-US" smtClean="0"/>
              <a:t>15</a:t>
            </a:fld>
            <a:endParaRPr lang="en-US"/>
          </a:p>
        </p:txBody>
      </p:sp>
    </p:spTree>
    <p:extLst>
      <p:ext uri="{BB962C8B-B14F-4D97-AF65-F5344CB8AC3E}">
        <p14:creationId xmlns:p14="http://schemas.microsoft.com/office/powerpoint/2010/main" val="1514893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dirty="0"/>
              <a:t>See Learning </a:t>
            </a:r>
            <a:r>
              <a:rPr lang="en-US" i="0" dirty="0"/>
              <a:t>Objective: Explain why entrepreneurs are important to an economy.</a:t>
            </a: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sz="1200" i="0" dirty="0">
              <a:latin typeface="Calibri" panose="020F0502020204030204" pitchFamily="34" charset="0"/>
            </a:endParaRPr>
          </a:p>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6699"/>
                </a:solidFill>
                <a:latin typeface="Calibri" panose="020F0502020204030204" pitchFamily="34" charset="0"/>
              </a:rPr>
              <a:t>Risk</a:t>
            </a:r>
            <a:r>
              <a:rPr lang="en-IN" sz="1200" dirty="0">
                <a:solidFill>
                  <a:srgbClr val="006699"/>
                </a:solidFill>
                <a:latin typeface="Calibri" panose="020F0502020204030204" pitchFamily="34" charset="0"/>
              </a:rPr>
              <a:t> is the possibility that the owner or owners of a business may invest time and money in the enterprise and fail. </a:t>
            </a: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sz="1200" dirty="0">
              <a:latin typeface="Calibri" panose="020F0502020204030204" pitchFamily="34" charset="0"/>
            </a:endParaRPr>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1762861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dirty="0"/>
              <a:t>See Learning Objective: </a:t>
            </a:r>
            <a:r>
              <a:rPr lang="en-IN" sz="1200" dirty="0">
                <a:latin typeface="Calibri" panose="020F0502020204030204" pitchFamily="34" charset="0"/>
              </a:rPr>
              <a:t>Apply the factors of production to a business setting.</a:t>
            </a: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316490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0" lvl="0" indent="-1143000" algn="l" defTabSz="914400" rtl="0" eaLnBrk="1" fontAlgn="auto" latinLnBrk="0" hangingPunct="1">
              <a:lnSpc>
                <a:spcPct val="100000"/>
              </a:lnSpc>
              <a:spcBef>
                <a:spcPts val="0"/>
              </a:spcBef>
              <a:spcAft>
                <a:spcPts val="0"/>
              </a:spcAft>
              <a:buClrTx/>
              <a:buSzTx/>
              <a:buFontTx/>
              <a:buNone/>
              <a:tabLst/>
              <a:defRPr/>
            </a:pPr>
            <a:r>
              <a:rPr lang="en-US" dirty="0"/>
              <a:t>See Learning Objective 6: </a:t>
            </a:r>
            <a:r>
              <a:rPr lang="en-IN" sz="1200" dirty="0">
                <a:latin typeface="Calibri" panose="020F0502020204030204" pitchFamily="34" charset="0"/>
              </a:rPr>
              <a:t>Apply the factors of production to a business setting.</a:t>
            </a:r>
          </a:p>
          <a:p>
            <a:pPr marL="1143000" marR="0" lvl="0" indent="-114300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712468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Summarize the importance of the business environment.</a:t>
            </a:r>
          </a:p>
          <a:p>
            <a:pPr marL="0" indent="0">
              <a:buFont typeface="Wingdings" panose="05000000000000000000" pitchFamily="2" charset="2"/>
              <a:buNone/>
            </a:pPr>
            <a:endParaRPr lang="en-IN" sz="1200" dirty="0">
              <a:solidFill>
                <a:srgbClr val="006699"/>
              </a:solidFill>
              <a:latin typeface="Calibri" panose="020F0502020204030204" pitchFamily="34" charset="0"/>
            </a:endParaRPr>
          </a:p>
          <a:p>
            <a:endParaRPr lang="en-IN" dirty="0"/>
          </a:p>
          <a:p>
            <a:endParaRPr lang="en-IN" b="1"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269893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Classify examples of the impacts of economic, political/legal/regulatory, technological, competitive, global, and social forces on businesses.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 typeface="Wingdings" panose="05000000000000000000" pitchFamily="2" charset="2"/>
              <a:buNone/>
            </a:pPr>
            <a:r>
              <a:rPr lang="en-IN" sz="1200" b="1" dirty="0">
                <a:solidFill>
                  <a:srgbClr val="006699"/>
                </a:solidFill>
                <a:latin typeface="Calibri" panose="020F0502020204030204" pitchFamily="34" charset="0"/>
              </a:rPr>
              <a:t>Economic Forces </a:t>
            </a:r>
          </a:p>
          <a:p>
            <a:pPr marL="285750" indent="-285750">
              <a:buFont typeface="Wingdings" panose="05000000000000000000" pitchFamily="2" charset="2"/>
              <a:buChar char="§"/>
            </a:pPr>
            <a:r>
              <a:rPr lang="en-IN" sz="1200" b="1" dirty="0">
                <a:solidFill>
                  <a:srgbClr val="006699"/>
                </a:solidFill>
                <a:latin typeface="Calibri" panose="020F0502020204030204" pitchFamily="34" charset="0"/>
              </a:rPr>
              <a:t>Taxation</a:t>
            </a:r>
            <a:r>
              <a:rPr lang="en-IN" sz="1200" dirty="0">
                <a:solidFill>
                  <a:srgbClr val="006699"/>
                </a:solidFill>
                <a:latin typeface="Calibri" panose="020F0502020204030204" pitchFamily="34" charset="0"/>
              </a:rPr>
              <a:t>: Countries with higher tax rates on businesses can restrict how much companies can invest in initiatives and how much profit is retained in the business.</a:t>
            </a:r>
          </a:p>
          <a:p>
            <a:pPr marL="285750" indent="-285750">
              <a:buFont typeface="Wingdings" panose="05000000000000000000" pitchFamily="2" charset="2"/>
              <a:buChar char="§"/>
            </a:pPr>
            <a:r>
              <a:rPr lang="en-IN" sz="1200" b="1" dirty="0">
                <a:solidFill>
                  <a:srgbClr val="006699"/>
                </a:solidFill>
                <a:latin typeface="Calibri" panose="020F0502020204030204" pitchFamily="34" charset="0"/>
              </a:rPr>
              <a:t>Contract enforcement</a:t>
            </a:r>
            <a:r>
              <a:rPr lang="en-IN" sz="1200" dirty="0">
                <a:solidFill>
                  <a:srgbClr val="006699"/>
                </a:solidFill>
                <a:latin typeface="Calibri" panose="020F0502020204030204" pitchFamily="34" charset="0"/>
              </a:rPr>
              <a:t>: Countries that do not strongly enforce contract laws, businesspeople are reluctant to enter into business relationships.</a:t>
            </a:r>
          </a:p>
          <a:p>
            <a:pPr marL="285750" indent="-285750">
              <a:buFont typeface="Wingdings" panose="05000000000000000000" pitchFamily="2" charset="2"/>
              <a:buChar char="§"/>
            </a:pPr>
            <a:r>
              <a:rPr lang="en-IN" sz="1200" b="1" dirty="0">
                <a:solidFill>
                  <a:srgbClr val="006699"/>
                </a:solidFill>
                <a:latin typeface="Calibri" panose="020F0502020204030204" pitchFamily="34" charset="0"/>
              </a:rPr>
              <a:t>Corruption</a:t>
            </a:r>
            <a:r>
              <a:rPr lang="en-IN" sz="1200" dirty="0">
                <a:solidFill>
                  <a:srgbClr val="006699"/>
                </a:solidFill>
                <a:latin typeface="Calibri" panose="020F0502020204030204" pitchFamily="34" charset="0"/>
              </a:rPr>
              <a:t>: Countries that don’t punish corruption and bribery create an atmosphere of uncertainty that can hurt honest businesspeople.</a:t>
            </a:r>
          </a:p>
          <a:p>
            <a:pPr marL="0" indent="0">
              <a:buFont typeface="Wingdings" panose="05000000000000000000" pitchFamily="2" charset="2"/>
              <a:buNone/>
            </a:pPr>
            <a:r>
              <a:rPr lang="en-IN" sz="1200" b="1" dirty="0">
                <a:solidFill>
                  <a:srgbClr val="006699"/>
                </a:solidFill>
                <a:latin typeface="Calibri" panose="020F0502020204030204" pitchFamily="34" charset="0"/>
              </a:rPr>
              <a:t>Technological Forces</a:t>
            </a:r>
          </a:p>
          <a:p>
            <a:pPr marL="171450" indent="-171450">
              <a:buFont typeface="Wingdings" panose="05000000000000000000" pitchFamily="2" charset="2"/>
              <a:buChar char="§"/>
            </a:pPr>
            <a:r>
              <a:rPr lang="en-US" b="1" i="1" dirty="0"/>
              <a:t>Technology</a:t>
            </a:r>
            <a:r>
              <a:rPr lang="en-US" dirty="0"/>
              <a:t> includes not only digital technology (computers, telecommunications, and giant data storage) but also all machines required to help a company get things done, including delivery vans, vending machines, and surveillance cameras.</a:t>
            </a:r>
          </a:p>
          <a:p>
            <a:pPr marL="171450" indent="-171450">
              <a:buFont typeface="Wingdings" panose="05000000000000000000" pitchFamily="2" charset="2"/>
              <a:buChar char="§"/>
            </a:pPr>
            <a:r>
              <a:rPr lang="en-US" dirty="0"/>
              <a:t>Technology has given rise to </a:t>
            </a:r>
            <a:r>
              <a:rPr lang="en-US" b="1" i="1" dirty="0"/>
              <a:t>e-commerce</a:t>
            </a:r>
            <a:r>
              <a:rPr lang="en-US" dirty="0"/>
              <a:t>, or </a:t>
            </a:r>
            <a:r>
              <a:rPr lang="en-US" b="1" i="1" dirty="0"/>
              <a:t>electronic commerce</a:t>
            </a:r>
            <a:r>
              <a:rPr lang="en-US" dirty="0"/>
              <a:t>, the buying and selling of products or services over computer networks. E-commerce is reshaping entire industries and revamping the very notion of what a company is.</a:t>
            </a:r>
          </a:p>
          <a:p>
            <a:pPr marL="628650" lvl="1" indent="-171450">
              <a:buFont typeface="Arial" panose="020B0604020202020204" pitchFamily="34" charset="0"/>
              <a:buChar char="•"/>
            </a:pPr>
            <a:r>
              <a:rPr lang="en-US" b="1" dirty="0"/>
              <a:t>Productivity</a:t>
            </a:r>
            <a:r>
              <a:rPr lang="en-US" b="1" baseline="0" dirty="0"/>
              <a:t> example: </a:t>
            </a:r>
            <a:r>
              <a:rPr lang="en-US" dirty="0"/>
              <a:t>the number of doughnuts produced by one worker in an hour.   </a:t>
            </a:r>
          </a:p>
          <a:p>
            <a:pPr marL="628650" lvl="1" indent="-171450">
              <a:buFont typeface="Arial" panose="020B0604020202020204" pitchFamily="34" charset="0"/>
              <a:buChar char="•"/>
            </a:pPr>
            <a:r>
              <a:rPr lang="en-US" b="1" dirty="0"/>
              <a:t>Security example:</a:t>
            </a:r>
            <a:r>
              <a:rPr lang="en-US" dirty="0"/>
              <a:t> hackers stealing credit card information</a:t>
            </a:r>
            <a:endParaRPr lang="en-IN" sz="1200" dirty="0">
              <a:solidFill>
                <a:srgbClr val="006699"/>
              </a:solidFill>
              <a:latin typeface="Calibri" panose="020F0502020204030204" pitchFamily="34" charset="0"/>
            </a:endParaRPr>
          </a:p>
          <a:p>
            <a:pPr marL="0" indent="0">
              <a:buFont typeface="Wingdings" panose="05000000000000000000" pitchFamily="2" charset="2"/>
              <a:buNone/>
            </a:pPr>
            <a:endParaRPr lang="en-IN" sz="1200" dirty="0">
              <a:solidFill>
                <a:srgbClr val="006699"/>
              </a:solidFill>
              <a:latin typeface="Calibri" panose="020F0502020204030204" pitchFamily="34" charset="0"/>
            </a:endParaRPr>
          </a:p>
          <a:p>
            <a:endParaRPr lang="en-IN" dirty="0"/>
          </a:p>
          <a:p>
            <a:endParaRPr lang="en-IN" b="1"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714508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Classify examples of the impacts of economic, political/legal/regulatory, technological, competitive, global, and social forces on businesses.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b="1" i="0" dirty="0"/>
              <a:t>Competitive</a:t>
            </a:r>
            <a:r>
              <a:rPr lang="en-IN" b="1" i="0" baseline="0" dirty="0"/>
              <a:t> Forces</a:t>
            </a:r>
            <a:endParaRPr lang="en-IN" b="1" i="0" dirty="0"/>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b="1" i="0" dirty="0"/>
              <a:t>Competitors</a:t>
            </a:r>
            <a:r>
              <a:rPr lang="en-US" dirty="0"/>
              <a:t> are people or organizations that are rivals for a company’s customers or resources. The rivalry that exists between businesses in certain industries can be extremely difficult for a business to operate within, causing some businesses to fail. Because all businesses must deal with competition, businesses strive to create a </a:t>
            </a:r>
            <a:r>
              <a:rPr lang="en-US" b="1" i="1" dirty="0"/>
              <a:t>competitive advantage</a:t>
            </a:r>
            <a:r>
              <a:rPr lang="en-US" dirty="0"/>
              <a:t> to allow the organization to create products, systems, or cultures that are not easily replicable.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IN" sz="1200" b="1" dirty="0">
                <a:solidFill>
                  <a:srgbClr val="006699"/>
                </a:solidFill>
                <a:latin typeface="Calibri" panose="020F0502020204030204" pitchFamily="34" charset="0"/>
              </a:rPr>
              <a:t>Customers example: </a:t>
            </a:r>
            <a:r>
              <a:rPr lang="en-US" dirty="0"/>
              <a:t>A company such as a public utility that is the only one in its industry has no particular incentive to improve service with its customers because it knows they have nowhere else to go.</a:t>
            </a:r>
            <a:endParaRPr lang="en-IN" sz="1200" dirty="0">
              <a:solidFill>
                <a:srgbClr val="006699"/>
              </a:solidFill>
              <a:latin typeface="Calibri" panose="020F0502020204030204" pitchFamily="34" charset="0"/>
            </a:endParaRPr>
          </a:p>
          <a:p>
            <a:pPr marL="171450" indent="-171450">
              <a:buFont typeface="Wingdings" panose="05000000000000000000" pitchFamily="2" charset="2"/>
              <a:buChar char="§"/>
            </a:pPr>
            <a:r>
              <a:rPr lang="en-IN" sz="1200" b="1" dirty="0">
                <a:solidFill>
                  <a:srgbClr val="006699"/>
                </a:solidFill>
                <a:latin typeface="Calibri" panose="020F0502020204030204" pitchFamily="34" charset="0"/>
              </a:rPr>
              <a:t>Employees example:</a:t>
            </a:r>
            <a:r>
              <a:rPr lang="en-IN" sz="1200" dirty="0">
                <a:solidFill>
                  <a:srgbClr val="006699"/>
                </a:solidFill>
                <a:latin typeface="Calibri" panose="020F0502020204030204" pitchFamily="34" charset="0"/>
              </a:rPr>
              <a:t> </a:t>
            </a:r>
            <a:r>
              <a:rPr lang="en-US" dirty="0"/>
              <a:t>A technology company trying to recruit and keep top talent will go to greater lengths if it knows there are other companies fiercely competing for that talent.</a:t>
            </a:r>
          </a:p>
          <a:p>
            <a:pPr marL="171450" indent="-171450">
              <a:buFont typeface="Wingdings" panose="05000000000000000000" pitchFamily="2" charset="2"/>
              <a:buChar char="§"/>
            </a:pPr>
            <a:r>
              <a:rPr lang="en-IN" sz="1200" b="1" dirty="0">
                <a:solidFill>
                  <a:srgbClr val="006699"/>
                </a:solidFill>
                <a:latin typeface="Calibri" panose="020F0502020204030204" pitchFamily="34" charset="0"/>
              </a:rPr>
              <a:t>Investors example: </a:t>
            </a:r>
            <a:r>
              <a:rPr lang="en-US" dirty="0"/>
              <a:t>A bank that is the only one in a state or country may pay its investors whatever it wants. </a:t>
            </a:r>
          </a:p>
          <a:p>
            <a:pPr marL="0" indent="0">
              <a:buFont typeface="Wingdings" panose="05000000000000000000" pitchFamily="2" charset="2"/>
              <a:buNone/>
            </a:pPr>
            <a:endParaRPr lang="en-IN" sz="1200" dirty="0">
              <a:solidFill>
                <a:srgbClr val="006699"/>
              </a:solidFill>
              <a:latin typeface="Calibri" panose="020F0502020204030204" pitchFamily="34" charset="0"/>
            </a:endParaRPr>
          </a:p>
          <a:p>
            <a:endParaRPr lang="en-IN" dirty="0"/>
          </a:p>
          <a:p>
            <a:endParaRPr lang="en-IN" b="1"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1002525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Classify examples of the impacts of economic, political/legal/regulatory, technological, competitive, global, and social forces on businesses. </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rPr>
              <a:t>Global</a:t>
            </a:r>
            <a:r>
              <a:rPr lang="en-IN" sz="1200" b="1" baseline="0" dirty="0">
                <a:latin typeface="Calibri" panose="020F0502020204030204" pitchFamily="34" charset="0"/>
              </a:rPr>
              <a:t> Forces</a:t>
            </a:r>
            <a:endParaRPr lang="en-IN" sz="1200" b="1" dirty="0">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rPr>
              <a:t>Trade pacts and economic unions</a:t>
            </a:r>
            <a:r>
              <a:rPr lang="en-IN" sz="1200" dirty="0">
                <a:latin typeface="Calibri" panose="020F0502020204030204" pitchFamily="34" charset="0"/>
              </a:rPr>
              <a:t>:</a:t>
            </a:r>
            <a:r>
              <a:rPr lang="en-IN" sz="1200" baseline="0" dirty="0">
                <a:latin typeface="Calibri" panose="020F0502020204030204" pitchFamily="34" charset="0"/>
              </a:rPr>
              <a:t> </a:t>
            </a:r>
            <a:r>
              <a:rPr lang="en-IN" dirty="0"/>
              <a:t>Formal trade agreements can facilitate the exchange of goods and services between nations, which in turn can affect a nation’s manufacturing capacity, employment level, and travel policies.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Calibri" panose="020F0502020204030204" pitchFamily="34" charset="0"/>
              </a:rPr>
              <a:t>Trade pacts and economic unions, </a:t>
            </a:r>
            <a:r>
              <a:rPr lang="en-IN" sz="1800" dirty="0"/>
              <a:t>military alliances, currency exchanges, immigration policies, and environmental regulations </a:t>
            </a:r>
            <a:r>
              <a:rPr lang="en-US" dirty="0"/>
              <a:t>can affect national stability. Wars, terrorism, recessions, currency panics, epidemics, refugee flows, and ecological changes can undermine national stability—thereby increasing risk to business owners.</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6699"/>
                </a:solidFill>
                <a:latin typeface="Calibri" panose="020F0502020204030204" pitchFamily="34" charset="0"/>
              </a:rPr>
              <a:t>Legal/Regulatory/Political Forces: The Rules Business Must Play By: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Example: new laws and regulations were implemented after the recession to protect consumers from predatory lending practices.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a:p>
            <a:endParaRPr lang="en-IN" b="1"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246770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t>24</a:t>
            </a:fld>
            <a:endParaRPr lang="en-US"/>
          </a:p>
        </p:txBody>
      </p:sp>
    </p:spTree>
    <p:extLst>
      <p:ext uri="{BB962C8B-B14F-4D97-AF65-F5344CB8AC3E}">
        <p14:creationId xmlns:p14="http://schemas.microsoft.com/office/powerpoint/2010/main" val="530527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Recall the types of stakeholders that businesses must recognize and satisfy.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Businesspeople practice the art of </a:t>
            </a:r>
            <a:r>
              <a:rPr lang="en-IN" b="1" i="1" dirty="0"/>
              <a:t>management</a:t>
            </a:r>
            <a:r>
              <a:rPr lang="en-IN" i="1" dirty="0"/>
              <a:t>,</a:t>
            </a:r>
            <a:r>
              <a:rPr lang="en-IN" dirty="0"/>
              <a:t> planning, leading, organizing, and controlling the activities of an enterprise according to certain policies to achieve certain objectives.</a:t>
            </a:r>
            <a:r>
              <a:rPr lang="en-IN" baseline="0" dirty="0"/>
              <a:t> </a:t>
            </a:r>
            <a:r>
              <a:rPr lang="en-IN" dirty="0"/>
              <a:t>One familiar class of owners are investors or </a:t>
            </a:r>
            <a:r>
              <a:rPr lang="en-IN" b="1" i="1" dirty="0"/>
              <a:t>stockholders</a:t>
            </a:r>
            <a:r>
              <a:rPr lang="en-IN" dirty="0"/>
              <a:t> or </a:t>
            </a:r>
            <a:r>
              <a:rPr lang="en-IN" b="1" i="1" dirty="0"/>
              <a:t>shareholders</a:t>
            </a:r>
            <a:r>
              <a:rPr lang="en-IN" dirty="0"/>
              <a:t>, who own </a:t>
            </a:r>
            <a:r>
              <a:rPr lang="en-IN" b="1" i="1" dirty="0"/>
              <a:t>stock</a:t>
            </a:r>
            <a:r>
              <a:rPr lang="en-IN" dirty="0"/>
              <a:t> (shares of ownership) in a company.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Customers: The focus of the business</a:t>
            </a:r>
            <a:r>
              <a:rPr lang="en-IN" dirty="0"/>
              <a:t>: for example, the customers of a </a:t>
            </a:r>
            <a:r>
              <a:rPr lang="en-IN" dirty="0" err="1"/>
              <a:t>nonprofit</a:t>
            </a:r>
            <a:r>
              <a:rPr lang="en-IN" dirty="0"/>
              <a:t> university are its students.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Have you ever worked for a “toxic organization”? This is the name that Stanford University business professor Jeffrey </a:t>
            </a:r>
            <a:r>
              <a:rPr lang="en-IN" dirty="0" err="1"/>
              <a:t>Pfeffer</a:t>
            </a:r>
            <a:r>
              <a:rPr lang="en-IN" dirty="0"/>
              <a:t> gives to firms with high turnover and low productivity, companies that drive employees away.</a:t>
            </a:r>
            <a:r>
              <a:rPr lang="en-IN" baseline="30000" dirty="0">
                <a:hlinkClick r:id="rId3"/>
              </a:rPr>
              <a:t>1</a:t>
            </a:r>
            <a:r>
              <a:rPr lang="en-IN" dirty="0"/>
              <a:t> “Companies that manage people right will outperform those that don’t by 30% to 40%,” he says.</a:t>
            </a:r>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3122047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Recall the types of stakeholders that businesses must recognize and satisfy.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solidFill>
                  <a:srgbClr val="006699"/>
                </a:solidFill>
                <a:latin typeface="Calibri" panose="020F0502020204030204" pitchFamily="34" charset="0"/>
              </a:rPr>
              <a:t>Lenders</a:t>
            </a:r>
            <a:r>
              <a:rPr lang="en-IN" sz="1200" dirty="0">
                <a:solidFill>
                  <a:srgbClr val="006699"/>
                </a:solidFill>
                <a:latin typeface="Calibri" panose="020F0502020204030204" pitchFamily="34" charset="0"/>
              </a:rPr>
              <a:t>: Some entrepreneurs finance their new enterprises by using their personal credit cards for cash advances or expenses.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285355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Recall the types of stakeholders that businesses must recognize and satisfy.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a:latin typeface="Calibri" panose="020F0502020204030204" pitchFamily="34" charset="0"/>
              </a:rPr>
              <a:t>Government Regulators: Local, State, Federal, and World</a:t>
            </a:r>
            <a:r>
              <a:rPr lang="en-IN" sz="1200" dirty="0">
                <a:latin typeface="Calibri" panose="020F0502020204030204" pitchFamily="34" charset="0"/>
              </a:rPr>
              <a:t>: </a:t>
            </a:r>
            <a:r>
              <a:rPr lang="en-IN" dirty="0"/>
              <a:t>Regulatory bodies may range from local planning departments to state commissions to federal agencies and international agencies (such as the World Trade Organization, which oversees international trade).</a:t>
            </a:r>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4124985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Learning Objective: Recall the types of stakeholders that businesses must recognize and satisfy.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Media:</a:t>
            </a:r>
            <a:r>
              <a:rPr lang="en-IN" dirty="0"/>
              <a:t> No businessperson can afford to ignore the power of news and entertainment media, which include not only newspapers, magazines, radio, and TV but also Internet social media, such as Snapchat, Twitter, Instagram, Facebook, and YouTube. </a:t>
            </a:r>
          </a:p>
        </p:txBody>
      </p:sp>
      <p:sp>
        <p:nvSpPr>
          <p:cNvPr id="4" name="Slide Number Placeholder 3"/>
          <p:cNvSpPr>
            <a:spLocks noGrp="1"/>
          </p:cNvSpPr>
          <p:nvPr>
            <p:ph type="sldNum" sz="quarter" idx="10"/>
          </p:nvPr>
        </p:nvSpPr>
        <p:spPr/>
        <p:txBody>
          <a:bodyPr/>
          <a:lstStyle/>
          <a:p>
            <a:fld id="{CC39A2FD-25E4-4F4D-BDE3-F28861BF236E}"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3732181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01D4897-D806-461C-95DA-1CC32F1F7FF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938871604"/>
      </p:ext>
    </p:extLst>
  </p:cSld>
  <p:clrMapOvr>
    <a:masterClrMapping/>
  </p:clrMapOvr>
  <p:extLst>
    <p:ext uri="{DCECCB84-F9BA-43D5-87BE-67443E8EF086}">
      <p15:sldGuideLst xmlns:p15="http://schemas.microsoft.com/office/powerpoint/2012/main">
        <p15:guide id="2" pos="2880" userDrawn="1">
          <p15:clr>
            <a:srgbClr val="FBAE40"/>
          </p15:clr>
        </p15:guide>
        <p15:guide id="3"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D4897-D806-461C-95DA-1CC32F1F7FF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2521430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D4897-D806-461C-95DA-1CC32F1F7FF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2135256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1D4897-D806-461C-95DA-1CC32F1F7FF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342998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1D4897-D806-461C-95DA-1CC32F1F7FF4}" type="datetimeFigureOut">
              <a:rPr lang="en-US" smtClean="0"/>
              <a:t>8/5/2021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1836143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01D4897-D806-461C-95DA-1CC32F1F7FF4}" type="datetimeFigureOut">
              <a:rPr lang="en-US" smtClean="0"/>
              <a:t>8/5/2021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544678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D4897-D806-461C-95DA-1CC32F1F7FF4}" type="datetimeFigureOut">
              <a:rPr lang="en-US" smtClean="0"/>
              <a:t>8/5/2021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2812966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1D4897-D806-461C-95DA-1CC32F1F7FF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2333758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01D4897-D806-461C-95DA-1CC32F1F7FF4}" type="datetimeFigureOut">
              <a:rPr lang="en-US" smtClean="0"/>
              <a:t>8/5/2021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1854533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1D4897-D806-461C-95DA-1CC32F1F7FF4}" type="datetimeFigureOut">
              <a:rPr lang="en-US" smtClean="0"/>
              <a:t>8/5/2021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1052630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D4897-D806-461C-95DA-1CC32F1F7FF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976373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D4897-D806-461C-95DA-1CC32F1F7FF4}" type="datetimeFigureOut">
              <a:rPr lang="en-US" smtClean="0"/>
              <a:t>8/5/2021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52FE68-7D37-40EC-8CAE-D172C344E2E5}" type="slidenum">
              <a:rPr lang="en-US" smtClean="0"/>
              <a:t>‹#›</a:t>
            </a:fld>
            <a:endParaRPr lang="en-US"/>
          </a:p>
        </p:txBody>
      </p:sp>
    </p:spTree>
    <p:extLst>
      <p:ext uri="{BB962C8B-B14F-4D97-AF65-F5344CB8AC3E}">
        <p14:creationId xmlns:p14="http://schemas.microsoft.com/office/powerpoint/2010/main" val="1858364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039557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95020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008980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25" b="1">
                <a:solidFill>
                  <a:srgbClr val="990000"/>
                </a:solidFill>
                <a:latin typeface="+mn-lt"/>
              </a:defRPr>
            </a:lvl1p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6513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19224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29915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469387"/>
      </p:ext>
    </p:extLst>
  </p:cSld>
  <p:clrMapOvr>
    <a:masterClrMapping/>
  </p:clrMapOvr>
  <p:extLst>
    <p:ext uri="{DCECCB84-F9BA-43D5-87BE-67443E8EF086}">
      <p15:sldGuideLst xmlns:p15="http://schemas.microsoft.com/office/powerpoint/2012/main">
        <p15:guide id="1" orient="horz" pos="51" userDrawn="1">
          <p15:clr>
            <a:srgbClr val="FBAE40"/>
          </p15:clr>
        </p15:guide>
        <p15:guide id="2" orient="horz" pos="55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5999274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8991155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1977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39555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318549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838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a:prstGeom prst="rect">
            <a:avLst/>
          </a:prstGeo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Tree>
    <p:extLst>
      <p:ext uri="{BB962C8B-B14F-4D97-AF65-F5344CB8AC3E}">
        <p14:creationId xmlns:p14="http://schemas.microsoft.com/office/powerpoint/2010/main" val="6452597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8746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9" y="1681163"/>
            <a:ext cx="386873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07497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037526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6185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788" y="987427"/>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3188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788" y="987427"/>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2498759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0657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90390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oBar-Two-Up Comparison">
    <p:spTree>
      <p:nvGrpSpPr>
        <p:cNvPr id="1" name=""/>
        <p:cNvGrpSpPr/>
        <p:nvPr/>
      </p:nvGrpSpPr>
      <p:grpSpPr>
        <a:xfrm>
          <a:off x="0" y="0"/>
          <a:ext cx="0" cy="0"/>
          <a:chOff x="0" y="0"/>
          <a:chExt cx="0" cy="0"/>
        </a:xfrm>
      </p:grpSpPr>
      <p:sp>
        <p:nvSpPr>
          <p:cNvPr id="9" name="Slide Title"/>
          <p:cNvSpPr>
            <a:spLocks noGrp="1"/>
          </p:cNvSpPr>
          <p:nvPr>
            <p:ph type="title"/>
          </p:nvPr>
        </p:nvSpPr>
        <p:spPr>
          <a:xfrm>
            <a:off x="-20713" y="228600"/>
            <a:ext cx="9185426" cy="609600"/>
          </a:xfrm>
          <a:prstGeom prst="rect">
            <a:avLst/>
          </a:prstGeom>
        </p:spPr>
        <p:txBody>
          <a:bodyPr/>
          <a:lstStyle>
            <a:lvl1pPr>
              <a:defRPr sz="2700">
                <a:solidFill>
                  <a:schemeClr val="bg2"/>
                </a:solidFill>
              </a:defRPr>
            </a:lvl1pPr>
          </a:lstStyle>
          <a:p>
            <a:r>
              <a:rPr lang="en-US" dirty="0"/>
              <a:t>Click to edit Master title style</a:t>
            </a:r>
          </a:p>
        </p:txBody>
      </p:sp>
      <p:sp>
        <p:nvSpPr>
          <p:cNvPr id="3" name="Header 1"/>
          <p:cNvSpPr>
            <a:spLocks noGrp="1"/>
          </p:cNvSpPr>
          <p:nvPr>
            <p:ph type="body" idx="1"/>
          </p:nvPr>
        </p:nvSpPr>
        <p:spPr>
          <a:xfrm>
            <a:off x="457202" y="960438"/>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1"/>
          <p:cNvSpPr>
            <a:spLocks noGrp="1"/>
          </p:cNvSpPr>
          <p:nvPr>
            <p:ph sz="half" idx="2"/>
          </p:nvPr>
        </p:nvSpPr>
        <p:spPr>
          <a:xfrm>
            <a:off x="457202" y="1600200"/>
            <a:ext cx="4040188" cy="4912202"/>
          </a:xfrm>
          <a:prstGeom prst="rect">
            <a:avLst/>
          </a:prstGeom>
        </p:spPr>
        <p:txBody>
          <a:bodyPr/>
          <a:lstStyle>
            <a:lvl1pPr marL="257175" indent="-257175">
              <a:spcAft>
                <a:spcPts val="600"/>
              </a:spcAft>
              <a:buFont typeface="Arial" panose="020B0604020202020204" pitchFamily="34" charset="0"/>
              <a:buChar char="•"/>
              <a:defRPr sz="1800"/>
            </a:lvl1pPr>
            <a:lvl2pPr marL="557213" indent="-214313">
              <a:spcAft>
                <a:spcPts val="600"/>
              </a:spcAft>
              <a:buFont typeface="Arial" panose="020B0604020202020204" pitchFamily="34" charset="0"/>
              <a:buChar char="•"/>
              <a:defRPr sz="1500"/>
            </a:lvl2pPr>
            <a:lvl3pPr marL="857250" indent="-171450">
              <a:spcAft>
                <a:spcPts val="600"/>
              </a:spcAft>
              <a:buFont typeface="Arial" panose="020B0604020202020204" pitchFamily="34" charset="0"/>
              <a:buChar char="•"/>
              <a:defRPr sz="1350"/>
            </a:lvl3pPr>
            <a:lvl4pPr marL="1200150" indent="-171450">
              <a:spcAft>
                <a:spcPts val="600"/>
              </a:spcAft>
              <a:buFont typeface="Arial" panose="020B0604020202020204" pitchFamily="34" charset="0"/>
              <a:buChar char="•"/>
              <a:defRPr sz="1200"/>
            </a:lvl4pPr>
            <a:lvl5pPr marL="1543050" indent="-171450">
              <a:spcAft>
                <a:spcPts val="600"/>
              </a:spcAft>
              <a:buFont typeface="Arial" panose="020B0604020202020204" pitchFamily="34" charset="0"/>
              <a:buChar cha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Header 2"/>
          <p:cNvSpPr>
            <a:spLocks noGrp="1"/>
          </p:cNvSpPr>
          <p:nvPr>
            <p:ph type="body" sz="quarter" idx="3"/>
          </p:nvPr>
        </p:nvSpPr>
        <p:spPr>
          <a:xfrm>
            <a:off x="4645027" y="960438"/>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2"/>
          <p:cNvSpPr>
            <a:spLocks noGrp="1"/>
          </p:cNvSpPr>
          <p:nvPr>
            <p:ph sz="quarter" idx="4"/>
          </p:nvPr>
        </p:nvSpPr>
        <p:spPr>
          <a:xfrm>
            <a:off x="4645027" y="1600200"/>
            <a:ext cx="4041775" cy="4912202"/>
          </a:xfrm>
          <a:prstGeom prst="rect">
            <a:avLst/>
          </a:prstGeom>
        </p:spPr>
        <p:txBody>
          <a:bodyPr/>
          <a:lstStyle>
            <a:lvl1pPr marL="257175" indent="-257175">
              <a:spcAft>
                <a:spcPts val="600"/>
              </a:spcAft>
              <a:buFont typeface="Arial" panose="020B0604020202020204" pitchFamily="34" charset="0"/>
              <a:buChar char="•"/>
              <a:defRPr sz="1800"/>
            </a:lvl1pPr>
            <a:lvl2pPr marL="557213" indent="-214313">
              <a:spcAft>
                <a:spcPts val="600"/>
              </a:spcAft>
              <a:buFont typeface="Arial" panose="020B0604020202020204" pitchFamily="34" charset="0"/>
              <a:buChar char="•"/>
              <a:defRPr sz="1500"/>
            </a:lvl2pPr>
            <a:lvl3pPr marL="857250" indent="-171450">
              <a:spcAft>
                <a:spcPts val="600"/>
              </a:spcAft>
              <a:buFont typeface="Arial" panose="020B0604020202020204" pitchFamily="34" charset="0"/>
              <a:buChar char="•"/>
              <a:defRPr sz="1350"/>
            </a:lvl3pPr>
            <a:lvl4pPr marL="1200150" indent="-171450">
              <a:spcAft>
                <a:spcPts val="600"/>
              </a:spcAft>
              <a:buFont typeface="Arial" panose="020B0604020202020204" pitchFamily="34" charset="0"/>
              <a:buChar char="•"/>
              <a:defRPr sz="1200"/>
            </a:lvl4pPr>
            <a:lvl5pPr marL="1543050" indent="-171450">
              <a:spcAft>
                <a:spcPts val="600"/>
              </a:spcAft>
              <a:buFont typeface="Arial" panose="020B0604020202020204" pitchFamily="34" charset="0"/>
              <a:buChar cha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Jump Link"/>
          <p:cNvSpPr>
            <a:spLocks noGrp="1"/>
          </p:cNvSpPr>
          <p:nvPr>
            <p:ph type="body" sz="quarter" idx="12" hasCustomPrompt="1"/>
          </p:nvPr>
        </p:nvSpPr>
        <p:spPr>
          <a:xfrm>
            <a:off x="3817620" y="6529450"/>
            <a:ext cx="1508760" cy="99950"/>
          </a:xfrm>
          <a:prstGeom prst="rect">
            <a:avLst/>
          </a:prstGeom>
        </p:spPr>
        <p:txBody>
          <a:bodyPr lIns="0" tIns="0" rIns="0" bIns="0"/>
          <a:lstStyle>
            <a:lvl1pPr marL="0" indent="0" algn="ctr">
              <a:buNone/>
              <a:defRPr sz="600"/>
            </a:lvl1pPr>
          </a:lstStyle>
          <a:p>
            <a:pPr lvl="0"/>
            <a:r>
              <a:rPr lang="en-US" dirty="0"/>
              <a:t>Jump to long image description(s)</a:t>
            </a:r>
          </a:p>
        </p:txBody>
      </p:sp>
      <p:sp>
        <p:nvSpPr>
          <p:cNvPr id="12"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Tree>
    <p:extLst>
      <p:ext uri="{BB962C8B-B14F-4D97-AF65-F5344CB8AC3E}">
        <p14:creationId xmlns:p14="http://schemas.microsoft.com/office/powerpoint/2010/main" val="7000388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723970290"/>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7435" y="2108509"/>
            <a:ext cx="6815642" cy="828339"/>
          </a:xfrm>
          <a:prstGeom prst="rect">
            <a:avLst/>
          </a:prstGeom>
        </p:spPr>
        <p:txBody>
          <a:bodyPr/>
          <a:lstStyle>
            <a:lvl1pPr algn="l">
              <a:defRPr sz="2000">
                <a:solidFill>
                  <a:srgbClr val="006699"/>
                </a:solidFill>
                <a:latin typeface="+mn-lt"/>
              </a:defRPr>
            </a:lvl1pPr>
          </a:lstStyle>
          <a:p>
            <a:endParaRPr lang="en-US" dirty="0"/>
          </a:p>
        </p:txBody>
      </p:sp>
      <p:sp>
        <p:nvSpPr>
          <p:cNvPr id="3" name="Content Placeholder 2"/>
          <p:cNvSpPr>
            <a:spLocks noGrp="1"/>
          </p:cNvSpPr>
          <p:nvPr>
            <p:ph idx="1" hasCustomPrompt="1"/>
          </p:nvPr>
        </p:nvSpPr>
        <p:spPr>
          <a:xfrm>
            <a:off x="1667435" y="3027203"/>
            <a:ext cx="6815642" cy="1912633"/>
          </a:xfrm>
          <a:prstGeom prst="rect">
            <a:avLst/>
          </a:prstGeom>
        </p:spPr>
        <p:txBody>
          <a:bodyPr/>
          <a:lstStyle>
            <a:lvl1pPr marL="0" indent="0">
              <a:buNone/>
              <a:defRPr sz="2000">
                <a:solidFill>
                  <a:srgbClr val="006699"/>
                </a:solidFill>
                <a:latin typeface="+mn-lt"/>
              </a:defRPr>
            </a:lvl1pPr>
          </a:lstStyle>
          <a:p>
            <a:pPr lvl="0"/>
            <a:r>
              <a:rPr lang="en-US" dirty="0"/>
              <a:t>A.</a:t>
            </a:r>
          </a:p>
          <a:p>
            <a:pPr lvl="0"/>
            <a:r>
              <a:rPr lang="en-US" dirty="0"/>
              <a:t>B.</a:t>
            </a:r>
          </a:p>
          <a:p>
            <a:pPr lvl="0"/>
            <a:r>
              <a:rPr lang="en-US" dirty="0"/>
              <a:t>C.</a:t>
            </a:r>
          </a:p>
          <a:p>
            <a:pPr lvl="0"/>
            <a:r>
              <a:rPr lang="en-US" dirty="0"/>
              <a:t>D.</a:t>
            </a:r>
          </a:p>
        </p:txBody>
      </p:sp>
    </p:spTree>
    <p:extLst>
      <p:ext uri="{BB962C8B-B14F-4D97-AF65-F5344CB8AC3E}">
        <p14:creationId xmlns:p14="http://schemas.microsoft.com/office/powerpoint/2010/main" val="3971804514"/>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a:prstGeom prst="rect">
            <a:avLst/>
          </a:prstGeo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Tree>
    <p:extLst>
      <p:ext uri="{BB962C8B-B14F-4D97-AF65-F5344CB8AC3E}">
        <p14:creationId xmlns:p14="http://schemas.microsoft.com/office/powerpoint/2010/main" val="462397725"/>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1131216"/>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9" y="1681163"/>
            <a:ext cx="386873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8397460"/>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709715500"/>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5422989"/>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788" y="987427"/>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529227450"/>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788" y="987427"/>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73570221"/>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5392968"/>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599614"/>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515129638"/>
      </p:ext>
    </p:extLst>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982518"/>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a:prstGeom prst="rect">
            <a:avLst/>
          </a:prstGeo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Tree>
    <p:extLst>
      <p:ext uri="{BB962C8B-B14F-4D97-AF65-F5344CB8AC3E}">
        <p14:creationId xmlns:p14="http://schemas.microsoft.com/office/powerpoint/2010/main" val="1751656024"/>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9537582"/>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9" y="1681163"/>
            <a:ext cx="386873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9294870"/>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09753153"/>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1712019"/>
      </p:ext>
    </p:extLst>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788" y="987427"/>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3963046324"/>
      </p:ext>
    </p:extLst>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788" y="987427"/>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30239" y="2057400"/>
            <a:ext cx="2949575"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57243195"/>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4723204"/>
      </p:ext>
    </p:extLst>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8658838"/>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WhiteTagline-Gray BG, Title &amp; Subtitle Left">
    <p:spTree>
      <p:nvGrpSpPr>
        <p:cNvPr id="1" name=""/>
        <p:cNvGrpSpPr/>
        <p:nvPr/>
      </p:nvGrpSpPr>
      <p:grpSpPr>
        <a:xfrm>
          <a:off x="0" y="0"/>
          <a:ext cx="0" cy="0"/>
          <a:chOff x="0" y="0"/>
          <a:chExt cx="0" cy="0"/>
        </a:xfrm>
      </p:grpSpPr>
      <p:sp>
        <p:nvSpPr>
          <p:cNvPr id="8" name="Title Background"/>
          <p:cNvSpPr/>
          <p:nvPr userDrawn="1"/>
        </p:nvSpPr>
        <p:spPr>
          <a:xfrm>
            <a:off x="0" y="3276600"/>
            <a:ext cx="5715000" cy="1752600"/>
          </a:xfrm>
          <a:prstGeom prst="rect">
            <a:avLst/>
          </a:prstGeom>
          <a:solidFill>
            <a:srgbClr val="006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2" name="Slide Title"/>
          <p:cNvSpPr>
            <a:spLocks noGrp="1"/>
          </p:cNvSpPr>
          <p:nvPr>
            <p:ph type="ctrTitle" hasCustomPrompt="1"/>
          </p:nvPr>
        </p:nvSpPr>
        <p:spPr>
          <a:xfrm>
            <a:off x="228600" y="3429000"/>
            <a:ext cx="4419600" cy="609600"/>
          </a:xfrm>
          <a:prstGeom prst="rect">
            <a:avLst/>
          </a:prstGeom>
          <a:effectLst>
            <a:outerShdw blurRad="50800" dist="38100" dir="5400000" algn="t" rotWithShape="0">
              <a:prstClr val="black">
                <a:alpha val="40000"/>
              </a:prstClr>
            </a:outerShdw>
          </a:effectLst>
        </p:spPr>
        <p:txBody>
          <a:bodyPr/>
          <a:lstStyle>
            <a:lvl1pPr>
              <a:defRPr sz="2700" b="1">
                <a:solidFill>
                  <a:schemeClr val="bg1"/>
                </a:solidFill>
                <a:latin typeface="Helvetica" panose="020B0604020202020204" pitchFamily="34" charset="0"/>
                <a:cs typeface="Helvetica" panose="020B0604020202020204" pitchFamily="34" charset="0"/>
              </a:defRPr>
            </a:lvl1pPr>
          </a:lstStyle>
          <a:p>
            <a:r>
              <a:rPr lang="en-US" dirty="0"/>
              <a:t>Chapter 0</a:t>
            </a:r>
          </a:p>
        </p:txBody>
      </p:sp>
      <p:sp>
        <p:nvSpPr>
          <p:cNvPr id="7" name="Text Placeholder 1"/>
          <p:cNvSpPr>
            <a:spLocks noGrp="1"/>
          </p:cNvSpPr>
          <p:nvPr>
            <p:ph type="body" sz="quarter" idx="10" hasCustomPrompt="1"/>
          </p:nvPr>
        </p:nvSpPr>
        <p:spPr>
          <a:xfrm>
            <a:off x="228600" y="4114800"/>
            <a:ext cx="4419600" cy="685800"/>
          </a:xfrm>
          <a:prstGeom prst="rect">
            <a:avLst/>
          </a:prstGeom>
        </p:spPr>
        <p:txBody>
          <a:bodyPr/>
          <a:lstStyle>
            <a:lvl1pPr marL="0" indent="0" algn="ctr">
              <a:buNone/>
              <a:defRPr sz="1800" b="0">
                <a:solidFill>
                  <a:schemeClr val="bg1"/>
                </a:solidFill>
                <a:latin typeface="Helvetica" panose="020B0604020202020204" pitchFamily="34" charset="0"/>
                <a:cs typeface="Helvetica" panose="020B0604020202020204" pitchFamily="34" charset="0"/>
              </a:defRPr>
            </a:lvl1pPr>
            <a:lvl2pPr marL="342900" indent="0">
              <a:buNone/>
              <a:defRPr sz="1500" b="0">
                <a:solidFill>
                  <a:schemeClr val="bg1"/>
                </a:solidFill>
                <a:latin typeface="Helvetica" panose="020B0604020202020204" pitchFamily="34" charset="0"/>
                <a:cs typeface="Helvetica" panose="020B0604020202020204" pitchFamily="34" charset="0"/>
              </a:defRPr>
            </a:lvl2pPr>
            <a:lvl3pPr marL="685800" indent="0">
              <a:buNone/>
              <a:defRPr sz="1500" b="0">
                <a:solidFill>
                  <a:schemeClr val="bg1"/>
                </a:solidFill>
                <a:latin typeface="Helvetica" panose="020B0604020202020204" pitchFamily="34" charset="0"/>
                <a:cs typeface="Helvetica" panose="020B0604020202020204" pitchFamily="34" charset="0"/>
              </a:defRPr>
            </a:lvl3pPr>
            <a:lvl4pPr marL="1028700" indent="0">
              <a:buNone/>
              <a:defRPr sz="1500" b="0">
                <a:solidFill>
                  <a:schemeClr val="bg1"/>
                </a:solidFill>
                <a:latin typeface="Helvetica" panose="020B0604020202020204" pitchFamily="34" charset="0"/>
                <a:cs typeface="Helvetica" panose="020B0604020202020204" pitchFamily="34" charset="0"/>
              </a:defRPr>
            </a:lvl4pPr>
            <a:lvl5pPr marL="1371600" indent="0">
              <a:buNone/>
              <a:defRPr sz="1500" b="0">
                <a:solidFill>
                  <a:schemeClr val="bg1"/>
                </a:solidFill>
                <a:latin typeface="Helvetica" panose="020B0604020202020204" pitchFamily="34" charset="0"/>
                <a:cs typeface="Helvetica" panose="020B0604020202020204" pitchFamily="34" charset="0"/>
              </a:defRPr>
            </a:lvl5pPr>
          </a:lstStyle>
          <a:p>
            <a:pPr lvl="0"/>
            <a:r>
              <a:rPr lang="en-US" dirty="0"/>
              <a:t>Chapter title</a:t>
            </a:r>
          </a:p>
        </p:txBody>
      </p:sp>
      <p:sp>
        <p:nvSpPr>
          <p:cNvPr id="4"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6"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05600"/>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5103323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WhiteTagline-Gray BG, Title &amp; Subtitle Right">
    <p:spTree>
      <p:nvGrpSpPr>
        <p:cNvPr id="1" name=""/>
        <p:cNvGrpSpPr/>
        <p:nvPr/>
      </p:nvGrpSpPr>
      <p:grpSpPr>
        <a:xfrm>
          <a:off x="0" y="0"/>
          <a:ext cx="0" cy="0"/>
          <a:chOff x="0" y="0"/>
          <a:chExt cx="0" cy="0"/>
        </a:xfrm>
      </p:grpSpPr>
      <p:sp>
        <p:nvSpPr>
          <p:cNvPr id="8" name="Title Background"/>
          <p:cNvSpPr/>
          <p:nvPr userDrawn="1"/>
        </p:nvSpPr>
        <p:spPr>
          <a:xfrm>
            <a:off x="3429000" y="3429000"/>
            <a:ext cx="5715000" cy="1752600"/>
          </a:xfrm>
          <a:prstGeom prst="rect">
            <a:avLst/>
          </a:prstGeom>
          <a:solidFill>
            <a:schemeClr val="tx1">
              <a:alpha val="4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2" name="Slide Title"/>
          <p:cNvSpPr>
            <a:spLocks noGrp="1"/>
          </p:cNvSpPr>
          <p:nvPr>
            <p:ph type="ctrTitle"/>
          </p:nvPr>
        </p:nvSpPr>
        <p:spPr>
          <a:xfrm>
            <a:off x="3733800" y="3581400"/>
            <a:ext cx="5181600" cy="609600"/>
          </a:xfrm>
          <a:prstGeom prst="rect">
            <a:avLst/>
          </a:prstGeom>
          <a:effectLst>
            <a:outerShdw blurRad="50800" dist="38100" dir="5400000" algn="t" rotWithShape="0">
              <a:prstClr val="black">
                <a:alpha val="40000"/>
              </a:prstClr>
            </a:outerShdw>
          </a:effectLst>
        </p:spPr>
        <p:txBody>
          <a:bodyPr/>
          <a:lstStyle>
            <a:lvl1pPr algn="r">
              <a:defRPr sz="2700">
                <a:solidFill>
                  <a:schemeClr val="bg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7" name="Text Placeholder 1"/>
          <p:cNvSpPr>
            <a:spLocks noGrp="1"/>
          </p:cNvSpPr>
          <p:nvPr>
            <p:ph type="body" sz="quarter" idx="10"/>
          </p:nvPr>
        </p:nvSpPr>
        <p:spPr>
          <a:xfrm>
            <a:off x="3733800" y="4260275"/>
            <a:ext cx="5181600" cy="692727"/>
          </a:xfrm>
          <a:prstGeom prst="rect">
            <a:avLst/>
          </a:prstGeom>
        </p:spPr>
        <p:txBody>
          <a:bodyPr/>
          <a:lstStyle>
            <a:lvl1pPr marL="0" indent="0" algn="r">
              <a:buNone/>
              <a:defRPr sz="1500" b="0">
                <a:solidFill>
                  <a:schemeClr val="bg1"/>
                </a:solidFill>
                <a:latin typeface="Helvetica" panose="020B0604020202020204" pitchFamily="34" charset="0"/>
                <a:cs typeface="Helvetica" panose="020B0604020202020204" pitchFamily="34" charset="0"/>
              </a:defRPr>
            </a:lvl1pPr>
            <a:lvl2pPr marL="342900" indent="0" algn="r">
              <a:buNone/>
              <a:defRPr sz="1500" b="0">
                <a:solidFill>
                  <a:schemeClr val="bg1"/>
                </a:solidFill>
                <a:latin typeface="Helvetica" panose="020B0604020202020204" pitchFamily="34" charset="0"/>
                <a:cs typeface="Helvetica" panose="020B0604020202020204" pitchFamily="34" charset="0"/>
              </a:defRPr>
            </a:lvl2pPr>
            <a:lvl3pPr marL="685800" indent="0" algn="r">
              <a:buNone/>
              <a:defRPr sz="1500" b="0">
                <a:solidFill>
                  <a:schemeClr val="bg1"/>
                </a:solidFill>
                <a:latin typeface="Helvetica" panose="020B0604020202020204" pitchFamily="34" charset="0"/>
                <a:cs typeface="Helvetica" panose="020B0604020202020204" pitchFamily="34" charset="0"/>
              </a:defRPr>
            </a:lvl3pPr>
            <a:lvl4pPr marL="1028700" indent="0" algn="r">
              <a:buNone/>
              <a:defRPr sz="1500" b="0">
                <a:solidFill>
                  <a:schemeClr val="bg1"/>
                </a:solidFill>
                <a:latin typeface="Helvetica" panose="020B0604020202020204" pitchFamily="34" charset="0"/>
                <a:cs typeface="Helvetica" panose="020B0604020202020204" pitchFamily="34" charset="0"/>
              </a:defRPr>
            </a:lvl4pPr>
            <a:lvl5pPr marL="1371600" indent="0" algn="r">
              <a:buNone/>
              <a:defRPr sz="1500" b="0">
                <a:solidFill>
                  <a:schemeClr val="bg1"/>
                </a:solidFill>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6"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05600"/>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10237297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WhiteTagline-Gray BG, Title Only Left">
    <p:spTree>
      <p:nvGrpSpPr>
        <p:cNvPr id="1" name=""/>
        <p:cNvGrpSpPr/>
        <p:nvPr/>
      </p:nvGrpSpPr>
      <p:grpSpPr>
        <a:xfrm>
          <a:off x="0" y="0"/>
          <a:ext cx="0" cy="0"/>
          <a:chOff x="0" y="0"/>
          <a:chExt cx="0" cy="0"/>
        </a:xfrm>
      </p:grpSpPr>
      <p:sp>
        <p:nvSpPr>
          <p:cNvPr id="8" name="Title background"/>
          <p:cNvSpPr/>
          <p:nvPr userDrawn="1"/>
        </p:nvSpPr>
        <p:spPr>
          <a:xfrm>
            <a:off x="0" y="3429000"/>
            <a:ext cx="5715000" cy="1752600"/>
          </a:xfrm>
          <a:prstGeom prst="rect">
            <a:avLst/>
          </a:prstGeom>
          <a:solidFill>
            <a:schemeClr val="tx1">
              <a:alpha val="4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2" name="Slide Title"/>
          <p:cNvSpPr>
            <a:spLocks noGrp="1"/>
          </p:cNvSpPr>
          <p:nvPr>
            <p:ph type="ctrTitle"/>
          </p:nvPr>
        </p:nvSpPr>
        <p:spPr>
          <a:xfrm>
            <a:off x="228600" y="3581400"/>
            <a:ext cx="5105400" cy="1371600"/>
          </a:xfrm>
          <a:prstGeom prst="rect">
            <a:avLst/>
          </a:prstGeom>
          <a:effectLst>
            <a:outerShdw blurRad="50800" dist="38100" dir="5400000" algn="t" rotWithShape="0">
              <a:prstClr val="black">
                <a:alpha val="40000"/>
              </a:prstClr>
            </a:outerShdw>
          </a:effectLst>
        </p:spPr>
        <p:txBody>
          <a:bodyPr/>
          <a:lstStyle>
            <a:lvl1pPr>
              <a:defRPr sz="2700">
                <a:solidFill>
                  <a:schemeClr val="bg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7"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5"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34025"/>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24494268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WhiteTagline-Gray BG, Title Only Right">
    <p:spTree>
      <p:nvGrpSpPr>
        <p:cNvPr id="1" name=""/>
        <p:cNvGrpSpPr/>
        <p:nvPr/>
      </p:nvGrpSpPr>
      <p:grpSpPr>
        <a:xfrm>
          <a:off x="0" y="0"/>
          <a:ext cx="0" cy="0"/>
          <a:chOff x="0" y="0"/>
          <a:chExt cx="0" cy="0"/>
        </a:xfrm>
      </p:grpSpPr>
      <p:sp>
        <p:nvSpPr>
          <p:cNvPr id="8" name="Title Background"/>
          <p:cNvSpPr/>
          <p:nvPr userDrawn="1"/>
        </p:nvSpPr>
        <p:spPr>
          <a:xfrm>
            <a:off x="3429000" y="3429000"/>
            <a:ext cx="5715000" cy="1752600"/>
          </a:xfrm>
          <a:prstGeom prst="rect">
            <a:avLst/>
          </a:prstGeom>
          <a:solidFill>
            <a:schemeClr val="tx1">
              <a:alpha val="47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2" name="Slide Title"/>
          <p:cNvSpPr>
            <a:spLocks noGrp="1"/>
          </p:cNvSpPr>
          <p:nvPr>
            <p:ph type="ctrTitle"/>
          </p:nvPr>
        </p:nvSpPr>
        <p:spPr>
          <a:xfrm>
            <a:off x="3733800" y="3581400"/>
            <a:ext cx="5181600" cy="1371600"/>
          </a:xfrm>
          <a:prstGeom prst="rect">
            <a:avLst/>
          </a:prstGeom>
          <a:effectLst>
            <a:outerShdw blurRad="50800" dist="38100" dir="5400000" algn="t" rotWithShape="0">
              <a:prstClr val="black">
                <a:alpha val="40000"/>
              </a:prstClr>
            </a:outerShdw>
          </a:effectLst>
        </p:spPr>
        <p:txBody>
          <a:bodyPr/>
          <a:lstStyle>
            <a:lvl1pPr>
              <a:defRPr sz="2700">
                <a:solidFill>
                  <a:schemeClr val="bg1"/>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6"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5"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34025"/>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2757132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WhiteTagline-SimpleTitle&amp;Subtitle">
    <p:spTree>
      <p:nvGrpSpPr>
        <p:cNvPr id="1" name=""/>
        <p:cNvGrpSpPr/>
        <p:nvPr/>
      </p:nvGrpSpPr>
      <p:grpSpPr>
        <a:xfrm>
          <a:off x="0" y="0"/>
          <a:ext cx="0" cy="0"/>
          <a:chOff x="0" y="0"/>
          <a:chExt cx="0" cy="0"/>
        </a:xfrm>
      </p:grpSpPr>
      <p:sp>
        <p:nvSpPr>
          <p:cNvPr id="2" name="Slide Title"/>
          <p:cNvSpPr>
            <a:spLocks noGrp="1"/>
          </p:cNvSpPr>
          <p:nvPr>
            <p:ph type="ctrTitle"/>
          </p:nvPr>
        </p:nvSpPr>
        <p:spPr>
          <a:xfrm>
            <a:off x="0" y="2130428"/>
            <a:ext cx="9144000" cy="1470025"/>
          </a:xfrm>
          <a:prstGeom prst="rect">
            <a:avLst/>
          </a:prstGeom>
        </p:spPr>
        <p:txBody>
          <a:bodyPr/>
          <a:lstStyle>
            <a:lvl1pPr>
              <a:defRPr sz="3600">
                <a:solidFill>
                  <a:schemeClr val="bg2"/>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Subtitle 1"/>
          <p:cNvSpPr>
            <a:spLocks noGrp="1"/>
          </p:cNvSpPr>
          <p:nvPr>
            <p:ph type="subTitle" idx="1"/>
          </p:nvPr>
        </p:nvSpPr>
        <p:spPr>
          <a:xfrm>
            <a:off x="1371600" y="3886200"/>
            <a:ext cx="6400800" cy="1752600"/>
          </a:xfrm>
          <a:prstGeom prst="rect">
            <a:avLst/>
          </a:prstGeom>
        </p:spPr>
        <p:txBody>
          <a:bodyPr/>
          <a:lstStyle>
            <a:lvl1pPr marL="0" indent="0" algn="ctr">
              <a:buNone/>
              <a:defRPr>
                <a:solidFill>
                  <a:srgbClr val="6A6A6A"/>
                </a:solidFill>
                <a:latin typeface="Helvetica" panose="020B0604020202020204" pitchFamily="34" charset="0"/>
                <a:cs typeface="Helvetica"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5"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7"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34025"/>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40467668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WhiteTagline-Text above Title">
    <p:spTree>
      <p:nvGrpSpPr>
        <p:cNvPr id="1" name=""/>
        <p:cNvGrpSpPr/>
        <p:nvPr/>
      </p:nvGrpSpPr>
      <p:grpSpPr>
        <a:xfrm>
          <a:off x="0" y="0"/>
          <a:ext cx="0" cy="0"/>
          <a:chOff x="0" y="0"/>
          <a:chExt cx="0" cy="0"/>
        </a:xfrm>
      </p:grpSpPr>
      <p:sp>
        <p:nvSpPr>
          <p:cNvPr id="2" name="Slide Title"/>
          <p:cNvSpPr>
            <a:spLocks noGrp="1"/>
          </p:cNvSpPr>
          <p:nvPr>
            <p:ph type="title"/>
          </p:nvPr>
        </p:nvSpPr>
        <p:spPr>
          <a:xfrm>
            <a:off x="685800" y="4406902"/>
            <a:ext cx="7772400" cy="1362075"/>
          </a:xfrm>
          <a:prstGeom prst="rect">
            <a:avLst/>
          </a:prstGeom>
        </p:spPr>
        <p:txBody>
          <a:bodyPr anchor="t"/>
          <a:lstStyle>
            <a:lvl1pPr algn="l">
              <a:defRPr sz="2700" b="1" cap="all">
                <a:solidFill>
                  <a:schemeClr val="bg2"/>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Text Placeholder 1"/>
          <p:cNvSpPr>
            <a:spLocks noGrp="1"/>
          </p:cNvSpPr>
          <p:nvPr>
            <p:ph type="body" idx="1"/>
          </p:nvPr>
        </p:nvSpPr>
        <p:spPr>
          <a:xfrm>
            <a:off x="685800" y="2906716"/>
            <a:ext cx="7772400" cy="1500187"/>
          </a:xfrm>
          <a:prstGeom prst="rect">
            <a:avLst/>
          </a:prstGeom>
        </p:spPr>
        <p:txBody>
          <a:bodyPr anchor="b"/>
          <a:lstStyle>
            <a:lvl1pPr marL="0" indent="0">
              <a:buNone/>
              <a:defRPr sz="1500">
                <a:solidFill>
                  <a:srgbClr val="6A6A6A"/>
                </a:solidFill>
                <a:latin typeface="Helvetica" panose="020B0604020202020204" pitchFamily="34" charset="0"/>
                <a:cs typeface="Helvetica" panose="020B0604020202020204"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5"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6"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34025"/>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9941856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iteTagline-Title above text">
    <p:spTree>
      <p:nvGrpSpPr>
        <p:cNvPr id="1" name=""/>
        <p:cNvGrpSpPr/>
        <p:nvPr/>
      </p:nvGrpSpPr>
      <p:grpSpPr>
        <a:xfrm>
          <a:off x="0" y="0"/>
          <a:ext cx="0" cy="0"/>
          <a:chOff x="0" y="0"/>
          <a:chExt cx="0" cy="0"/>
        </a:xfrm>
      </p:grpSpPr>
      <p:sp>
        <p:nvSpPr>
          <p:cNvPr id="2" name="Slide Title"/>
          <p:cNvSpPr>
            <a:spLocks noGrp="1"/>
          </p:cNvSpPr>
          <p:nvPr>
            <p:ph type="title"/>
          </p:nvPr>
        </p:nvSpPr>
        <p:spPr>
          <a:xfrm>
            <a:off x="685800" y="2775101"/>
            <a:ext cx="7772400" cy="1362075"/>
          </a:xfrm>
          <a:prstGeom prst="rect">
            <a:avLst/>
          </a:prstGeom>
        </p:spPr>
        <p:txBody>
          <a:bodyPr anchor="b" anchorCtr="0"/>
          <a:lstStyle>
            <a:lvl1pPr algn="l">
              <a:spcBef>
                <a:spcPts val="360"/>
              </a:spcBef>
              <a:defRPr sz="2700" b="1" cap="all">
                <a:solidFill>
                  <a:schemeClr val="bg2"/>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Text Placeholder 1"/>
          <p:cNvSpPr>
            <a:spLocks noGrp="1"/>
          </p:cNvSpPr>
          <p:nvPr>
            <p:ph type="body" idx="1"/>
          </p:nvPr>
        </p:nvSpPr>
        <p:spPr>
          <a:xfrm>
            <a:off x="685800" y="4138615"/>
            <a:ext cx="7772400" cy="1500187"/>
          </a:xfrm>
          <a:prstGeom prst="rect">
            <a:avLst/>
          </a:prstGeom>
        </p:spPr>
        <p:txBody>
          <a:bodyPr anchor="t" anchorCtr="0"/>
          <a:lstStyle>
            <a:lvl1pPr marL="0" indent="0">
              <a:spcBef>
                <a:spcPts val="0"/>
              </a:spcBef>
              <a:buNone/>
              <a:defRPr sz="1500">
                <a:solidFill>
                  <a:srgbClr val="6A6A6A"/>
                </a:solidFill>
                <a:latin typeface="Helvetica" panose="020B0604020202020204" pitchFamily="34" charset="0"/>
                <a:cs typeface="Helvetica" panose="020B0604020202020204"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6" name="Photo Credit"/>
          <p:cNvSpPr>
            <a:spLocks noGrp="1"/>
          </p:cNvSpPr>
          <p:nvPr>
            <p:ph type="body" sz="quarter" idx="11" hasCustomPrompt="1"/>
          </p:nvPr>
        </p:nvSpPr>
        <p:spPr>
          <a:xfrm>
            <a:off x="5486400" y="6477000"/>
            <a:ext cx="3657600" cy="152400"/>
          </a:xfrm>
          <a:prstGeom prst="rect">
            <a:avLst/>
          </a:prstGeom>
        </p:spPr>
        <p:txBody>
          <a:bodyPr wrap="none" lIns="0" tIns="0" rIns="45720" bIns="0"/>
          <a:lstStyle>
            <a:lvl1pPr marL="0" indent="0" algn="r">
              <a:buNone/>
              <a:defRPr sz="600" baseline="0">
                <a:solidFill>
                  <a:srgbClr val="6A6A6A"/>
                </a:solidFill>
              </a:defRPr>
            </a:lvl1pPr>
            <a:lvl5pPr>
              <a:defRPr/>
            </a:lvl5pPr>
          </a:lstStyle>
          <a:p>
            <a:pPr lvl="0"/>
            <a:r>
              <a:rPr lang="en-US" dirty="0"/>
              <a:t>Insert Photo Credit Here</a:t>
            </a:r>
          </a:p>
        </p:txBody>
      </p:sp>
      <p:sp>
        <p:nvSpPr>
          <p:cNvPr id="5" name="Copyright" descr="©McGraw-Hill Education. All rights reserved. Authorized only for instructor use in the classroom.  No reproduction or further distribution permitted without the prior written consent of McGraw-Hill Education.&#10;"/>
          <p:cNvSpPr txBox="1">
            <a:spLocks/>
          </p:cNvSpPr>
          <p:nvPr userDrawn="1"/>
        </p:nvSpPr>
        <p:spPr>
          <a:xfrm>
            <a:off x="0" y="6734025"/>
            <a:ext cx="9144000" cy="171750"/>
          </a:xfrm>
          <a:prstGeom prst="rect">
            <a:avLst/>
          </a:prstGeom>
        </p:spPr>
        <p:txBody>
          <a:bodyPr vert="horz" lIns="68580" tIns="34290" rIns="68580" bIns="34290" rtlCol="0">
            <a:normAutofit fontScale="3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defRPr/>
            </a:pPr>
            <a:r>
              <a:rPr lang="en-US" sz="2400" dirty="0">
                <a:solidFill>
                  <a:srgbClr val="6A6A6A"/>
                </a:solidFill>
              </a:rPr>
              <a:t>©McGraw-Hill Education. All rights reserved. Authorized only for instructor use in the classroom.  No reproduction or further distribution permitted without the prior written consent of McGraw-Hill Education.</a:t>
            </a:r>
          </a:p>
        </p:txBody>
      </p:sp>
    </p:spTree>
    <p:extLst>
      <p:ext uri="{BB962C8B-B14F-4D97-AF65-F5344CB8AC3E}">
        <p14:creationId xmlns:p14="http://schemas.microsoft.com/office/powerpoint/2010/main" val="24085449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NoBar-Title and Content-1line">
    <p:spTree>
      <p:nvGrpSpPr>
        <p:cNvPr id="1" name=""/>
        <p:cNvGrpSpPr/>
        <p:nvPr/>
      </p:nvGrpSpPr>
      <p:grpSpPr>
        <a:xfrm>
          <a:off x="0" y="0"/>
          <a:ext cx="0" cy="0"/>
          <a:chOff x="0" y="0"/>
          <a:chExt cx="0" cy="0"/>
        </a:xfrm>
      </p:grpSpPr>
      <p:sp>
        <p:nvSpPr>
          <p:cNvPr id="6" name="Slide Title"/>
          <p:cNvSpPr>
            <a:spLocks noGrp="1"/>
          </p:cNvSpPr>
          <p:nvPr>
            <p:ph type="title"/>
          </p:nvPr>
        </p:nvSpPr>
        <p:spPr>
          <a:xfrm>
            <a:off x="457200" y="228600"/>
            <a:ext cx="7467600" cy="609600"/>
          </a:xfrm>
          <a:prstGeom prst="rect">
            <a:avLst/>
          </a:prstGeom>
          <a:noFill/>
        </p:spPr>
        <p:txBody>
          <a:bodyPr/>
          <a:lstStyle>
            <a:lvl1pPr algn="l">
              <a:defRPr sz="24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Content Placeholder 1"/>
          <p:cNvSpPr>
            <a:spLocks noGrp="1"/>
          </p:cNvSpPr>
          <p:nvPr>
            <p:ph idx="1"/>
          </p:nvPr>
        </p:nvSpPr>
        <p:spPr>
          <a:xfrm>
            <a:off x="457200" y="990600"/>
            <a:ext cx="8229600" cy="539585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Jump Link"/>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9"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4" name="Text Placeholder 3">
            <a:extLst>
              <a:ext uri="{FF2B5EF4-FFF2-40B4-BE49-F238E27FC236}">
                <a16:creationId xmlns:a16="http://schemas.microsoft.com/office/drawing/2014/main" id="{A7664576-E77F-4458-944D-05BD3423AD0F}"/>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394625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NoBar-Six Content Placeholders-1line-LO">
    <p:spTree>
      <p:nvGrpSpPr>
        <p:cNvPr id="1" name=""/>
        <p:cNvGrpSpPr/>
        <p:nvPr/>
      </p:nvGrpSpPr>
      <p:grpSpPr>
        <a:xfrm>
          <a:off x="0" y="0"/>
          <a:ext cx="0" cy="0"/>
          <a:chOff x="0" y="0"/>
          <a:chExt cx="0" cy="0"/>
        </a:xfrm>
      </p:grpSpPr>
      <p:sp>
        <p:nvSpPr>
          <p:cNvPr id="2" name="Slide Title"/>
          <p:cNvSpPr>
            <a:spLocks noGrp="1"/>
          </p:cNvSpPr>
          <p:nvPr>
            <p:ph type="title"/>
          </p:nvPr>
        </p:nvSpPr>
        <p:spPr>
          <a:xfrm>
            <a:off x="533400" y="228600"/>
            <a:ext cx="7391400" cy="612648"/>
          </a:xfrm>
          <a:prstGeom prst="rect">
            <a:avLst/>
          </a:prstGeom>
          <a:noFill/>
        </p:spPr>
        <p:txBody>
          <a:bodyPr/>
          <a:lstStyle>
            <a:lvl1pPr algn="l">
              <a:defRPr lang="en-US" sz="2400" b="1" dirty="0">
                <a:solidFill>
                  <a:srgbClr val="006288"/>
                </a:solidFill>
                <a:latin typeface="Helvetica" panose="020B0604020202020204" pitchFamily="34" charset="0"/>
                <a:cs typeface="Helvetica" panose="020B0604020202020204" pitchFamily="34" charset="0"/>
              </a:defRPr>
            </a:lvl1pPr>
          </a:lstStyle>
          <a:p>
            <a:pPr lvl="0"/>
            <a:r>
              <a:rPr lang="en-US" dirty="0"/>
              <a:t>Click to edit Master title style</a:t>
            </a:r>
          </a:p>
        </p:txBody>
      </p:sp>
      <p:sp>
        <p:nvSpPr>
          <p:cNvPr id="8" name="Content Placeholder 1"/>
          <p:cNvSpPr>
            <a:spLocks noGrp="1"/>
          </p:cNvSpPr>
          <p:nvPr>
            <p:ph sz="quarter" idx="12"/>
          </p:nvPr>
        </p:nvSpPr>
        <p:spPr>
          <a:xfrm>
            <a:off x="533400" y="1066800"/>
            <a:ext cx="8153400" cy="8382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3"/>
          </p:nvPr>
        </p:nvSpPr>
        <p:spPr>
          <a:xfrm>
            <a:off x="533400" y="1981200"/>
            <a:ext cx="8153400" cy="7620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14"/>
          </p:nvPr>
        </p:nvSpPr>
        <p:spPr>
          <a:xfrm>
            <a:off x="533400" y="2849880"/>
            <a:ext cx="8153400" cy="6858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p:cNvSpPr>
            <a:spLocks noGrp="1"/>
          </p:cNvSpPr>
          <p:nvPr>
            <p:ph sz="quarter" idx="15"/>
          </p:nvPr>
        </p:nvSpPr>
        <p:spPr>
          <a:xfrm>
            <a:off x="533400" y="3642360"/>
            <a:ext cx="8153400" cy="8382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10"/>
          </p:nvPr>
        </p:nvSpPr>
        <p:spPr>
          <a:xfrm>
            <a:off x="533400" y="4587240"/>
            <a:ext cx="8153400" cy="9144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p:cNvSpPr>
            <a:spLocks noGrp="1"/>
          </p:cNvSpPr>
          <p:nvPr>
            <p:ph sz="quarter" idx="11"/>
          </p:nvPr>
        </p:nvSpPr>
        <p:spPr>
          <a:xfrm>
            <a:off x="533400" y="5654040"/>
            <a:ext cx="8153400" cy="76200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hoto Credit"/>
          <p:cNvSpPr>
            <a:spLocks noGrp="1"/>
          </p:cNvSpPr>
          <p:nvPr>
            <p:ph type="body" sz="quarter" idx="16"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17" name="Jump Link">
            <a:extLst>
              <a:ext uri="{FF2B5EF4-FFF2-40B4-BE49-F238E27FC236}">
                <a16:creationId xmlns:a16="http://schemas.microsoft.com/office/drawing/2014/main" id="{DE2E0F8C-626D-47BD-A6DF-2C607E053B44}"/>
              </a:ext>
            </a:extLst>
          </p:cNvPr>
          <p:cNvSpPr>
            <a:spLocks noGrp="1"/>
          </p:cNvSpPr>
          <p:nvPr>
            <p:ph type="body" sz="quarter" idx="20"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13" name="Text Placeholder 3">
            <a:extLst>
              <a:ext uri="{FF2B5EF4-FFF2-40B4-BE49-F238E27FC236}">
                <a16:creationId xmlns:a16="http://schemas.microsoft.com/office/drawing/2014/main" id="{4A39D46A-6E19-44CB-AE38-D8D4054A4A7E}"/>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1178063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NoBar-Two Content-1line-LO">
    <p:spTree>
      <p:nvGrpSpPr>
        <p:cNvPr id="1" name=""/>
        <p:cNvGrpSpPr/>
        <p:nvPr/>
      </p:nvGrpSpPr>
      <p:grpSpPr>
        <a:xfrm>
          <a:off x="0" y="0"/>
          <a:ext cx="0" cy="0"/>
          <a:chOff x="0" y="0"/>
          <a:chExt cx="0" cy="0"/>
        </a:xfrm>
      </p:grpSpPr>
      <p:sp>
        <p:nvSpPr>
          <p:cNvPr id="7" name="Slide Title"/>
          <p:cNvSpPr>
            <a:spLocks noGrp="1"/>
          </p:cNvSpPr>
          <p:nvPr>
            <p:ph type="title"/>
          </p:nvPr>
        </p:nvSpPr>
        <p:spPr>
          <a:xfrm>
            <a:off x="457200" y="228600"/>
            <a:ext cx="7467600" cy="609600"/>
          </a:xfrm>
          <a:prstGeom prst="rect">
            <a:avLst/>
          </a:prstGeom>
          <a:noFill/>
        </p:spPr>
        <p:txBody>
          <a:bodyPr/>
          <a:lstStyle>
            <a:lvl1pPr algn="l">
              <a:defRPr sz="24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Content Placeholder 1"/>
          <p:cNvSpPr>
            <a:spLocks noGrp="1"/>
          </p:cNvSpPr>
          <p:nvPr>
            <p:ph sz="half" idx="1"/>
          </p:nvPr>
        </p:nvSpPr>
        <p:spPr>
          <a:xfrm>
            <a:off x="457200" y="990600"/>
            <a:ext cx="4038600" cy="539585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p:cNvSpPr>
            <a:spLocks noGrp="1"/>
          </p:cNvSpPr>
          <p:nvPr>
            <p:ph sz="half" idx="2"/>
          </p:nvPr>
        </p:nvSpPr>
        <p:spPr>
          <a:xfrm>
            <a:off x="4648200" y="990600"/>
            <a:ext cx="4038600" cy="539585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12" name="Jump Link">
            <a:extLst>
              <a:ext uri="{FF2B5EF4-FFF2-40B4-BE49-F238E27FC236}">
                <a16:creationId xmlns:a16="http://schemas.microsoft.com/office/drawing/2014/main" id="{5C63720B-15D5-4C57-9E3E-C835A1BE5CEE}"/>
              </a:ext>
            </a:extLst>
          </p:cNvPr>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8" name="Text Placeholder 3">
            <a:extLst>
              <a:ext uri="{FF2B5EF4-FFF2-40B4-BE49-F238E27FC236}">
                <a16:creationId xmlns:a16="http://schemas.microsoft.com/office/drawing/2014/main" id="{74756B59-38BF-4270-8BB8-A50CED542E74}"/>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17148407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NoBar-Two-Up Comparison">
    <p:spTree>
      <p:nvGrpSpPr>
        <p:cNvPr id="1" name=""/>
        <p:cNvGrpSpPr/>
        <p:nvPr/>
      </p:nvGrpSpPr>
      <p:grpSpPr>
        <a:xfrm>
          <a:off x="0" y="0"/>
          <a:ext cx="0" cy="0"/>
          <a:chOff x="0" y="0"/>
          <a:chExt cx="0" cy="0"/>
        </a:xfrm>
      </p:grpSpPr>
      <p:sp>
        <p:nvSpPr>
          <p:cNvPr id="9" name="Slide Title"/>
          <p:cNvSpPr>
            <a:spLocks noGrp="1"/>
          </p:cNvSpPr>
          <p:nvPr>
            <p:ph type="title"/>
          </p:nvPr>
        </p:nvSpPr>
        <p:spPr>
          <a:xfrm>
            <a:off x="457202" y="228600"/>
            <a:ext cx="7467599" cy="609600"/>
          </a:xfrm>
          <a:prstGeom prst="rect">
            <a:avLst/>
          </a:prstGeom>
        </p:spPr>
        <p:txBody>
          <a:bodyPr/>
          <a:lstStyle>
            <a:lvl1pPr algn="l">
              <a:defRPr sz="24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Header 1"/>
          <p:cNvSpPr>
            <a:spLocks noGrp="1"/>
          </p:cNvSpPr>
          <p:nvPr>
            <p:ph type="body" idx="1" hasCustomPrompt="1"/>
          </p:nvPr>
        </p:nvSpPr>
        <p:spPr>
          <a:xfrm>
            <a:off x="457202" y="990600"/>
            <a:ext cx="4040188" cy="609600"/>
          </a:xfrm>
          <a:prstGeom prst="rect">
            <a:avLst/>
          </a:prstGeom>
        </p:spPr>
        <p:txBody>
          <a:bodyPr anchor="t"/>
          <a:lstStyle>
            <a:lvl1pPr marL="0" indent="0">
              <a:buNone/>
              <a:defRPr sz="1800" b="1">
                <a:latin typeface="Helvetica" panose="020B0604020202020204" pitchFamily="34" charset="0"/>
                <a:cs typeface="Helvetica"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a:t>
            </a:r>
          </a:p>
        </p:txBody>
      </p:sp>
      <p:sp>
        <p:nvSpPr>
          <p:cNvPr id="4" name="Content Placeholder 1"/>
          <p:cNvSpPr>
            <a:spLocks noGrp="1"/>
          </p:cNvSpPr>
          <p:nvPr>
            <p:ph sz="half" idx="2"/>
          </p:nvPr>
        </p:nvSpPr>
        <p:spPr>
          <a:xfrm>
            <a:off x="457202" y="1600200"/>
            <a:ext cx="4040188" cy="4912202"/>
          </a:xfrm>
          <a:prstGeom prst="rect">
            <a:avLst/>
          </a:prstGeom>
        </p:spPr>
        <p:txBody>
          <a:bodyPr/>
          <a:lstStyle>
            <a:lvl1pPr marL="257175" indent="-257175">
              <a:spcAft>
                <a:spcPts val="600"/>
              </a:spcAft>
              <a:buClr>
                <a:srgbClr val="24A8DE"/>
              </a:buClr>
              <a:buFont typeface="Arial" panose="020B0604020202020204" pitchFamily="34" charset="0"/>
              <a:buChar char="•"/>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Header 2"/>
          <p:cNvSpPr>
            <a:spLocks noGrp="1"/>
          </p:cNvSpPr>
          <p:nvPr>
            <p:ph type="body" sz="quarter" idx="3" hasCustomPrompt="1"/>
          </p:nvPr>
        </p:nvSpPr>
        <p:spPr>
          <a:xfrm>
            <a:off x="4645027" y="990600"/>
            <a:ext cx="4041775" cy="609600"/>
          </a:xfrm>
          <a:prstGeom prst="rect">
            <a:avLst/>
          </a:prstGeom>
        </p:spPr>
        <p:txBody>
          <a:bodyPr anchor="t"/>
          <a:lstStyle>
            <a:lvl1pPr marL="0" indent="0">
              <a:buNone/>
              <a:defRPr sz="1800" b="1">
                <a:latin typeface="Helvetica" panose="020B0604020202020204" pitchFamily="34" charset="0"/>
                <a:cs typeface="Helvetica"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a:t>
            </a:r>
          </a:p>
        </p:txBody>
      </p:sp>
      <p:sp>
        <p:nvSpPr>
          <p:cNvPr id="6" name="Content Placeholder 2"/>
          <p:cNvSpPr>
            <a:spLocks noGrp="1"/>
          </p:cNvSpPr>
          <p:nvPr>
            <p:ph sz="quarter" idx="4"/>
          </p:nvPr>
        </p:nvSpPr>
        <p:spPr>
          <a:xfrm>
            <a:off x="4645027" y="1600200"/>
            <a:ext cx="4041775" cy="4912202"/>
          </a:xfrm>
          <a:prstGeom prst="rect">
            <a:avLst/>
          </a:prstGeom>
        </p:spPr>
        <p:txBody>
          <a:bodyPr/>
          <a:lstStyle>
            <a:lvl1pPr marL="257175" indent="-257175">
              <a:spcAft>
                <a:spcPts val="600"/>
              </a:spcAft>
              <a:buClr>
                <a:srgbClr val="24A8DE"/>
              </a:buClr>
              <a:buFont typeface="Arial" panose="020B0604020202020204" pitchFamily="34" charset="0"/>
              <a:buChar char="•"/>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13" name="Jump Link">
            <a:extLst>
              <a:ext uri="{FF2B5EF4-FFF2-40B4-BE49-F238E27FC236}">
                <a16:creationId xmlns:a16="http://schemas.microsoft.com/office/drawing/2014/main" id="{D239E7B7-67C1-4A9F-8F5A-E8C023F50991}"/>
              </a:ext>
            </a:extLst>
          </p:cNvPr>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10" name="Text Placeholder 3">
            <a:extLst>
              <a:ext uri="{FF2B5EF4-FFF2-40B4-BE49-F238E27FC236}">
                <a16:creationId xmlns:a16="http://schemas.microsoft.com/office/drawing/2014/main" id="{42CD2E3F-68FB-4639-9132-034DCEADF303}"/>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30249966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oBar-4-up_Comparison">
    <p:spTree>
      <p:nvGrpSpPr>
        <p:cNvPr id="1" name=""/>
        <p:cNvGrpSpPr/>
        <p:nvPr/>
      </p:nvGrpSpPr>
      <p:grpSpPr>
        <a:xfrm>
          <a:off x="0" y="0"/>
          <a:ext cx="0" cy="0"/>
          <a:chOff x="0" y="0"/>
          <a:chExt cx="0" cy="0"/>
        </a:xfrm>
      </p:grpSpPr>
      <p:sp>
        <p:nvSpPr>
          <p:cNvPr id="9" name="Slide Title"/>
          <p:cNvSpPr>
            <a:spLocks noGrp="1"/>
          </p:cNvSpPr>
          <p:nvPr>
            <p:ph type="title"/>
          </p:nvPr>
        </p:nvSpPr>
        <p:spPr>
          <a:xfrm>
            <a:off x="457200" y="228600"/>
            <a:ext cx="7467601" cy="609600"/>
          </a:xfrm>
          <a:prstGeom prst="rect">
            <a:avLst/>
          </a:prstGeom>
        </p:spPr>
        <p:txBody>
          <a:bodyPr/>
          <a:lstStyle>
            <a:lvl1pPr algn="l">
              <a:defRPr sz="24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Header 1"/>
          <p:cNvSpPr>
            <a:spLocks noGrp="1"/>
          </p:cNvSpPr>
          <p:nvPr>
            <p:ph type="body" idx="1"/>
          </p:nvPr>
        </p:nvSpPr>
        <p:spPr>
          <a:xfrm>
            <a:off x="457202" y="960438"/>
            <a:ext cx="4040188" cy="639762"/>
          </a:xfrm>
          <a:prstGeom prst="rect">
            <a:avLst/>
          </a:prstGeom>
        </p:spPr>
        <p:txBody>
          <a:bodyPr anchor="b"/>
          <a:lstStyle>
            <a:lvl1pPr marL="0" indent="0">
              <a:buNone/>
              <a:defRPr sz="1500" b="1">
                <a:latin typeface="Helvetica" panose="020B0604020202020204" pitchFamily="34" charset="0"/>
                <a:cs typeface="Helvetica"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1"/>
          <p:cNvSpPr>
            <a:spLocks noGrp="1"/>
          </p:cNvSpPr>
          <p:nvPr>
            <p:ph sz="half" idx="2"/>
          </p:nvPr>
        </p:nvSpPr>
        <p:spPr>
          <a:xfrm>
            <a:off x="457202" y="1600200"/>
            <a:ext cx="4040188" cy="1752600"/>
          </a:xfrm>
          <a:prstGeom prst="rect">
            <a:avLst/>
          </a:prstGeom>
        </p:spPr>
        <p:txBody>
          <a:bodyPr/>
          <a:lstStyle>
            <a:lvl1pPr marL="257175" indent="-257175">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Header 2"/>
          <p:cNvSpPr>
            <a:spLocks noGrp="1"/>
          </p:cNvSpPr>
          <p:nvPr>
            <p:ph type="body" sz="quarter" idx="3"/>
          </p:nvPr>
        </p:nvSpPr>
        <p:spPr>
          <a:xfrm>
            <a:off x="4645027" y="960438"/>
            <a:ext cx="4041775" cy="639762"/>
          </a:xfrm>
          <a:prstGeom prst="rect">
            <a:avLst/>
          </a:prstGeom>
        </p:spPr>
        <p:txBody>
          <a:bodyPr anchor="b"/>
          <a:lstStyle>
            <a:lvl1pPr marL="0" indent="0">
              <a:buNone/>
              <a:defRPr sz="1500" b="1">
                <a:latin typeface="Helvetica" panose="020B0604020202020204" pitchFamily="34" charset="0"/>
                <a:cs typeface="Helvetica" panose="020B0604020202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2"/>
          <p:cNvSpPr>
            <a:spLocks noGrp="1"/>
          </p:cNvSpPr>
          <p:nvPr>
            <p:ph sz="quarter" idx="4"/>
          </p:nvPr>
        </p:nvSpPr>
        <p:spPr>
          <a:xfrm>
            <a:off x="4645027" y="1600200"/>
            <a:ext cx="4041775" cy="1752600"/>
          </a:xfrm>
          <a:prstGeom prst="rect">
            <a:avLst/>
          </a:prstGeom>
        </p:spPr>
        <p:txBody>
          <a:bodyPr/>
          <a:lstStyle>
            <a:lvl1pPr marL="257175" indent="-257175">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Header 3"/>
          <p:cNvSpPr>
            <a:spLocks noGrp="1"/>
          </p:cNvSpPr>
          <p:nvPr>
            <p:ph type="body" sz="quarter" idx="12"/>
          </p:nvPr>
        </p:nvSpPr>
        <p:spPr>
          <a:xfrm>
            <a:off x="457200" y="3581400"/>
            <a:ext cx="4038600" cy="609600"/>
          </a:xfrm>
          <a:prstGeom prst="rect">
            <a:avLst/>
          </a:prstGeom>
        </p:spPr>
        <p:txBody>
          <a:bodyPr anchor="b"/>
          <a:lstStyle>
            <a:lvl1pPr>
              <a:defRPr lang="en-US" sz="1500" b="1" kern="1200" dirty="0">
                <a:solidFill>
                  <a:schemeClr val="tx1"/>
                </a:solidFill>
                <a:latin typeface="Helvetica" panose="020B0604020202020204" pitchFamily="34" charset="0"/>
                <a:ea typeface="+mn-ea"/>
                <a:cs typeface="Helvetica" panose="020B0604020202020204" pitchFamily="34" charset="0"/>
              </a:defRPr>
            </a:lvl1pPr>
          </a:lstStyle>
          <a:p>
            <a:pPr marL="0" lvl="0" indent="0" algn="l" defTabSz="342900" rtl="0" eaLnBrk="1" latinLnBrk="0" hangingPunct="1">
              <a:spcBef>
                <a:spcPct val="20000"/>
              </a:spcBef>
              <a:buFont typeface="Arial"/>
              <a:buNone/>
            </a:pPr>
            <a:r>
              <a:rPr lang="en-US" dirty="0"/>
              <a:t>Click to edit Master text styles</a:t>
            </a:r>
          </a:p>
        </p:txBody>
      </p:sp>
      <p:sp>
        <p:nvSpPr>
          <p:cNvPr id="14" name="Content Placeholder 3"/>
          <p:cNvSpPr>
            <a:spLocks noGrp="1"/>
          </p:cNvSpPr>
          <p:nvPr>
            <p:ph sz="half" idx="14"/>
          </p:nvPr>
        </p:nvSpPr>
        <p:spPr>
          <a:xfrm>
            <a:off x="457200" y="4191000"/>
            <a:ext cx="4040188" cy="1752600"/>
          </a:xfrm>
          <a:prstGeom prst="rect">
            <a:avLst/>
          </a:prstGeom>
        </p:spPr>
        <p:txBody>
          <a:bodyPr/>
          <a:lstStyle>
            <a:lvl1pPr marL="257175" indent="-257175">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Header 4"/>
          <p:cNvSpPr>
            <a:spLocks noGrp="1"/>
          </p:cNvSpPr>
          <p:nvPr>
            <p:ph type="body" sz="quarter" idx="13"/>
          </p:nvPr>
        </p:nvSpPr>
        <p:spPr>
          <a:xfrm>
            <a:off x="4648200" y="3581400"/>
            <a:ext cx="4038600" cy="609600"/>
          </a:xfrm>
          <a:prstGeom prst="rect">
            <a:avLst/>
          </a:prstGeom>
        </p:spPr>
        <p:txBody>
          <a:bodyPr anchor="b"/>
          <a:lstStyle>
            <a:lvl1pPr>
              <a:defRPr lang="en-US" sz="1500" b="1" kern="1200" dirty="0">
                <a:solidFill>
                  <a:schemeClr val="tx1"/>
                </a:solidFill>
                <a:latin typeface="Helvetica" panose="020B0604020202020204" pitchFamily="34" charset="0"/>
                <a:ea typeface="+mn-ea"/>
                <a:cs typeface="Helvetica" panose="020B0604020202020204" pitchFamily="34" charset="0"/>
              </a:defRPr>
            </a:lvl1pPr>
          </a:lstStyle>
          <a:p>
            <a:pPr marL="0" lvl="0" indent="0" algn="l" defTabSz="342900" rtl="0" eaLnBrk="1" latinLnBrk="0" hangingPunct="1">
              <a:spcBef>
                <a:spcPct val="20000"/>
              </a:spcBef>
              <a:buFont typeface="Arial"/>
              <a:buNone/>
            </a:pPr>
            <a:r>
              <a:rPr lang="en-US" dirty="0"/>
              <a:t>Click to edit Master text styles</a:t>
            </a:r>
          </a:p>
        </p:txBody>
      </p:sp>
      <p:sp>
        <p:nvSpPr>
          <p:cNvPr id="15" name="Content Placeholder 4"/>
          <p:cNvSpPr>
            <a:spLocks noGrp="1"/>
          </p:cNvSpPr>
          <p:nvPr>
            <p:ph sz="quarter" idx="15"/>
          </p:nvPr>
        </p:nvSpPr>
        <p:spPr>
          <a:xfrm>
            <a:off x="4645026" y="4191000"/>
            <a:ext cx="4041775" cy="1752600"/>
          </a:xfrm>
          <a:prstGeom prst="rect">
            <a:avLst/>
          </a:prstGeom>
        </p:spPr>
        <p:txBody>
          <a:bodyPr/>
          <a:lstStyle>
            <a:lvl1pPr marL="257175" indent="-257175">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050">
                <a:latin typeface="Helvetica" panose="020B0604020202020204" pitchFamily="34" charset="0"/>
                <a:cs typeface="Helvetica" panose="020B0604020202020204" pitchFamily="34" charset="0"/>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Arial" panose="020B0604020202020204" pitchFamily="34" charset="0"/>
                <a:cs typeface="Arial" panose="020B0604020202020204" pitchFamily="34" charset="0"/>
              </a:defRPr>
            </a:lvl1pPr>
            <a:lvl5pPr>
              <a:defRPr/>
            </a:lvl5pPr>
          </a:lstStyle>
          <a:p>
            <a:pPr lvl="0"/>
            <a:r>
              <a:rPr lang="en-US" dirty="0"/>
              <a:t>Insert Photo Credit Here</a:t>
            </a:r>
          </a:p>
        </p:txBody>
      </p:sp>
      <p:sp>
        <p:nvSpPr>
          <p:cNvPr id="17" name="Jump Link">
            <a:extLst>
              <a:ext uri="{FF2B5EF4-FFF2-40B4-BE49-F238E27FC236}">
                <a16:creationId xmlns:a16="http://schemas.microsoft.com/office/drawing/2014/main" id="{0E71FAFA-96D6-4571-B803-BF382B77590B}"/>
              </a:ext>
            </a:extLst>
          </p:cNvPr>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19" name="Text Placeholder 3">
            <a:extLst>
              <a:ext uri="{FF2B5EF4-FFF2-40B4-BE49-F238E27FC236}">
                <a16:creationId xmlns:a16="http://schemas.microsoft.com/office/drawing/2014/main" id="{4C535B1A-24CE-4C86-9ADC-79AC76D3A7BB}"/>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11116535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Polling Q">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2EE2E4-E434-45F2-B651-0D91A772CE37}"/>
              </a:ext>
            </a:extLst>
          </p:cNvPr>
          <p:cNvSpPr/>
          <p:nvPr userDrawn="1"/>
        </p:nvSpPr>
        <p:spPr>
          <a:xfrm>
            <a:off x="0" y="6705600"/>
            <a:ext cx="9144000" cy="152400"/>
          </a:xfrm>
          <a:prstGeom prst="rect">
            <a:avLst/>
          </a:prstGeom>
          <a:solidFill>
            <a:srgbClr val="006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6" name="Slide Title"/>
          <p:cNvSpPr>
            <a:spLocks noGrp="1"/>
          </p:cNvSpPr>
          <p:nvPr>
            <p:ph type="title"/>
          </p:nvPr>
        </p:nvSpPr>
        <p:spPr>
          <a:xfrm>
            <a:off x="1504950" y="228600"/>
            <a:ext cx="7181850" cy="609600"/>
          </a:xfrm>
          <a:prstGeom prst="rect">
            <a:avLst/>
          </a:prstGeom>
          <a:noFill/>
        </p:spPr>
        <p:txBody>
          <a:bodyPr/>
          <a:lstStyle>
            <a:lvl1pPr algn="l">
              <a:defRPr sz="21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Content Placeholder 1"/>
          <p:cNvSpPr>
            <a:spLocks noGrp="1"/>
          </p:cNvSpPr>
          <p:nvPr>
            <p:ph idx="1" hasCustomPrompt="1"/>
          </p:nvPr>
        </p:nvSpPr>
        <p:spPr>
          <a:xfrm>
            <a:off x="1504950" y="990600"/>
            <a:ext cx="7181850" cy="5395850"/>
          </a:xfrm>
          <a:prstGeom prst="rect">
            <a:avLst/>
          </a:prstGeom>
        </p:spPr>
        <p:txBody>
          <a:bodyPr/>
          <a:lstStyle>
            <a:lvl1pPr marL="342900" indent="-342900">
              <a:spcAft>
                <a:spcPts val="600"/>
              </a:spcAft>
              <a:buClr>
                <a:srgbClr val="24A8DE"/>
              </a:buClr>
              <a:buFont typeface="+mj-lt"/>
              <a:buAutoNum type="alphaUcPeriod"/>
              <a:defRPr sz="1800">
                <a:latin typeface="Helvetica" panose="020B0604020202020204" pitchFamily="34" charset="0"/>
                <a:cs typeface="Helvetica" panose="020B0604020202020204" pitchFamily="34" charset="0"/>
              </a:defRPr>
            </a:lvl1pPr>
            <a:lvl2pPr marL="557213" indent="-214313">
              <a:spcAft>
                <a:spcPts val="600"/>
              </a:spcAft>
              <a:buClr>
                <a:srgbClr val="6F84BD"/>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6F84BD"/>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6F84BD"/>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6F84BD"/>
              </a:buClr>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p:txBody>
      </p:sp>
      <p:sp>
        <p:nvSpPr>
          <p:cNvPr id="10" name="Copyright" descr="©McGraw-Hill Education">
            <a:extLst>
              <a:ext uri="{FF2B5EF4-FFF2-40B4-BE49-F238E27FC236}">
                <a16:creationId xmlns:a16="http://schemas.microsoft.com/office/drawing/2014/main" id="{0801471B-AEB5-45B2-B90E-9B58B3093CA8}"/>
              </a:ext>
            </a:extLst>
          </p:cNvPr>
          <p:cNvSpPr txBox="1">
            <a:spLocks/>
          </p:cNvSpPr>
          <p:nvPr userDrawn="1"/>
        </p:nvSpPr>
        <p:spPr>
          <a:xfrm>
            <a:off x="0" y="6705600"/>
            <a:ext cx="1371600" cy="152400"/>
          </a:xfrm>
          <a:prstGeom prst="rect">
            <a:avLst/>
          </a:prstGeom>
        </p:spPr>
        <p:txBody>
          <a:bodyPr vert="horz" lIns="68580" tIns="34290" rIns="68580" bIns="3429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pPr>
            <a:r>
              <a:rPr lang="en-US" sz="2400" dirty="0">
                <a:solidFill>
                  <a:prstClr val="white"/>
                </a:solidFill>
              </a:rPr>
              <a:t>©McGraw-Hill Education.</a:t>
            </a:r>
          </a:p>
        </p:txBody>
      </p:sp>
      <p:sp>
        <p:nvSpPr>
          <p:cNvPr id="5" name="Rectangle: Single Corner Rounded 4">
            <a:extLst>
              <a:ext uri="{FF2B5EF4-FFF2-40B4-BE49-F238E27FC236}">
                <a16:creationId xmlns:a16="http://schemas.microsoft.com/office/drawing/2014/main" id="{408189E7-31E8-40AC-B81B-B8B24F239F70}"/>
              </a:ext>
            </a:extLst>
          </p:cNvPr>
          <p:cNvSpPr/>
          <p:nvPr userDrawn="1"/>
        </p:nvSpPr>
        <p:spPr>
          <a:xfrm flipV="1">
            <a:off x="0" y="0"/>
            <a:ext cx="1371600" cy="6396100"/>
          </a:xfrm>
          <a:prstGeom prst="round1Rect">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19" name="Rectangle: Single Corner Rounded 18">
            <a:extLst>
              <a:ext uri="{FF2B5EF4-FFF2-40B4-BE49-F238E27FC236}">
                <a16:creationId xmlns:a16="http://schemas.microsoft.com/office/drawing/2014/main" id="{9444AB89-4690-4747-8A25-DFA9612915EF}"/>
              </a:ext>
            </a:extLst>
          </p:cNvPr>
          <p:cNvSpPr/>
          <p:nvPr userDrawn="1"/>
        </p:nvSpPr>
        <p:spPr>
          <a:xfrm flipV="1">
            <a:off x="-2380" y="0"/>
            <a:ext cx="1221581" cy="6248400"/>
          </a:xfrm>
          <a:prstGeom prst="round1Rect">
            <a:avLst/>
          </a:prstGeom>
          <a:solidFill>
            <a:srgbClr val="D6E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20" name="Rectangle: Single Corner Rounded 19">
            <a:extLst>
              <a:ext uri="{FF2B5EF4-FFF2-40B4-BE49-F238E27FC236}">
                <a16:creationId xmlns:a16="http://schemas.microsoft.com/office/drawing/2014/main" id="{A24BA6BB-303C-479B-91D9-0729FD3B4F32}"/>
              </a:ext>
            </a:extLst>
          </p:cNvPr>
          <p:cNvSpPr/>
          <p:nvPr userDrawn="1"/>
        </p:nvSpPr>
        <p:spPr>
          <a:xfrm flipV="1">
            <a:off x="-2381" y="0"/>
            <a:ext cx="1069182" cy="6096000"/>
          </a:xfrm>
          <a:prstGeom prst="round1Rect">
            <a:avLst/>
          </a:prstGeom>
          <a:solidFill>
            <a:srgbClr val="9EC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21" name="Rectangle: Single Corner Rounded 20">
            <a:extLst>
              <a:ext uri="{FF2B5EF4-FFF2-40B4-BE49-F238E27FC236}">
                <a16:creationId xmlns:a16="http://schemas.microsoft.com/office/drawing/2014/main" id="{FDA24676-95A3-4160-A920-040BE0995A8B}"/>
              </a:ext>
            </a:extLst>
          </p:cNvPr>
          <p:cNvSpPr/>
          <p:nvPr userDrawn="1"/>
        </p:nvSpPr>
        <p:spPr>
          <a:xfrm flipV="1">
            <a:off x="-2380" y="0"/>
            <a:ext cx="916781" cy="5943600"/>
          </a:xfrm>
          <a:prstGeom prst="round1Rect">
            <a:avLst/>
          </a:prstGeom>
          <a:solidFill>
            <a:srgbClr val="24A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4" name="Text Placeholder 3">
            <a:extLst>
              <a:ext uri="{FF2B5EF4-FFF2-40B4-BE49-F238E27FC236}">
                <a16:creationId xmlns:a16="http://schemas.microsoft.com/office/drawing/2014/main" id="{A7664576-E77F-4458-944D-05BD3423AD0F}"/>
              </a:ext>
            </a:extLst>
          </p:cNvPr>
          <p:cNvSpPr>
            <a:spLocks noGrp="1"/>
          </p:cNvSpPr>
          <p:nvPr>
            <p:ph type="body" sz="quarter" idx="17" hasCustomPrompt="1"/>
          </p:nvPr>
        </p:nvSpPr>
        <p:spPr>
          <a:xfrm>
            <a:off x="133350" y="533400"/>
            <a:ext cx="590550" cy="4302950"/>
          </a:xfrm>
          <a:prstGeom prst="rect">
            <a:avLst/>
          </a:prstGeom>
          <a:noFill/>
        </p:spPr>
        <p:txBody>
          <a:bodyPr vert="vert270" anchor="ctr"/>
          <a:lstStyle>
            <a:lvl1pPr marL="0" indent="0" algn="r">
              <a:buNone/>
              <a:defRPr sz="2400" b="1">
                <a:solidFill>
                  <a:schemeClr val="bg1"/>
                </a:solidFill>
                <a:latin typeface="Helvetica" panose="020B0604020202020204" pitchFamily="34" charset="0"/>
                <a:cs typeface="Helvetica" panose="020B0604020202020204" pitchFamily="34" charset="0"/>
              </a:defRPr>
            </a:lvl1pPr>
          </a:lstStyle>
          <a:p>
            <a:pPr lvl="0"/>
            <a:r>
              <a:rPr lang="en-US" dirty="0"/>
              <a:t>POLLING QUESTION</a:t>
            </a:r>
          </a:p>
        </p:txBody>
      </p:sp>
    </p:spTree>
    <p:extLst>
      <p:ext uri="{BB962C8B-B14F-4D97-AF65-F5344CB8AC3E}">
        <p14:creationId xmlns:p14="http://schemas.microsoft.com/office/powerpoint/2010/main" val="3237920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ppendix">
    <p:spTree>
      <p:nvGrpSpPr>
        <p:cNvPr id="1" name=""/>
        <p:cNvGrpSpPr/>
        <p:nvPr/>
      </p:nvGrpSpPr>
      <p:grpSpPr>
        <a:xfrm>
          <a:off x="0" y="0"/>
          <a:ext cx="0" cy="0"/>
          <a:chOff x="0" y="0"/>
          <a:chExt cx="0" cy="0"/>
        </a:xfrm>
      </p:grpSpPr>
      <p:sp>
        <p:nvSpPr>
          <p:cNvPr id="6" name="Slide Title"/>
          <p:cNvSpPr>
            <a:spLocks noGrp="1"/>
          </p:cNvSpPr>
          <p:nvPr>
            <p:ph type="title"/>
          </p:nvPr>
        </p:nvSpPr>
        <p:spPr>
          <a:xfrm>
            <a:off x="457200" y="228600"/>
            <a:ext cx="8229600" cy="609600"/>
          </a:xfrm>
          <a:prstGeom prst="rect">
            <a:avLst/>
          </a:prstGeom>
          <a:noFill/>
        </p:spPr>
        <p:txBody>
          <a:bodyPr/>
          <a:lstStyle>
            <a:lvl1pPr algn="l">
              <a:defRPr sz="2400" b="1">
                <a:solidFill>
                  <a:srgbClr val="C00000"/>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3" name="Content Placeholder 1"/>
          <p:cNvSpPr>
            <a:spLocks noGrp="1"/>
          </p:cNvSpPr>
          <p:nvPr>
            <p:ph idx="1"/>
          </p:nvPr>
        </p:nvSpPr>
        <p:spPr>
          <a:xfrm>
            <a:off x="457200" y="990600"/>
            <a:ext cx="8229600" cy="5395850"/>
          </a:xfrm>
          <a:prstGeom prst="rect">
            <a:avLst/>
          </a:prstGeom>
        </p:spPr>
        <p:txBody>
          <a:bodyPr/>
          <a:lstStyle>
            <a:lvl1pPr marL="0" indent="0">
              <a:spcAft>
                <a:spcPts val="600"/>
              </a:spcAft>
              <a:buNone/>
              <a:defRPr sz="1800">
                <a:latin typeface="Helvetica" panose="020B0604020202020204" pitchFamily="34" charset="0"/>
                <a:cs typeface="Helvetica" panose="020B0604020202020204" pitchFamily="34" charset="0"/>
              </a:defRPr>
            </a:lvl1pPr>
            <a:lvl2pPr marL="557213" indent="-214313">
              <a:spcAft>
                <a:spcPts val="600"/>
              </a:spcAft>
              <a:buClrTx/>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Tx/>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Tx/>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Tx/>
              <a:buFont typeface="Arial" panose="020B0604020202020204" pitchFamily="34" charset="0"/>
              <a:buChar char="•"/>
              <a:defRPr sz="1200">
                <a:latin typeface="Helvetica" panose="020B0604020202020204" pitchFamily="34" charset="0"/>
                <a:cs typeface="Helvetica"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Jump Link"/>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8" name="Copyright" descr="©McGraw-Hill Education">
            <a:extLst>
              <a:ext uri="{FF2B5EF4-FFF2-40B4-BE49-F238E27FC236}">
                <a16:creationId xmlns:a16="http://schemas.microsoft.com/office/drawing/2014/main" id="{A9851C6A-F810-4DBA-9696-C68DC90D1800}"/>
              </a:ext>
            </a:extLst>
          </p:cNvPr>
          <p:cNvSpPr txBox="1">
            <a:spLocks/>
          </p:cNvSpPr>
          <p:nvPr userDrawn="1"/>
        </p:nvSpPr>
        <p:spPr>
          <a:xfrm>
            <a:off x="0" y="6705600"/>
            <a:ext cx="1371600" cy="152400"/>
          </a:xfrm>
          <a:prstGeom prst="rect">
            <a:avLst/>
          </a:prstGeom>
        </p:spPr>
        <p:txBody>
          <a:bodyPr vert="horz" lIns="68580" tIns="34290" rIns="68580" bIns="3429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pPr>
            <a:r>
              <a:rPr lang="en-US" sz="2400" dirty="0">
                <a:solidFill>
                  <a:prstClr val="white">
                    <a:lumMod val="50000"/>
                  </a:prstClr>
                </a:solidFill>
              </a:rPr>
              <a:t>©McGraw-Hill Education.</a:t>
            </a:r>
          </a:p>
        </p:txBody>
      </p:sp>
    </p:spTree>
    <p:extLst>
      <p:ext uri="{BB962C8B-B14F-4D97-AF65-F5344CB8AC3E}">
        <p14:creationId xmlns:p14="http://schemas.microsoft.com/office/powerpoint/2010/main" val="208390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NoBar-Content with Left Side-Caption">
    <p:spTree>
      <p:nvGrpSpPr>
        <p:cNvPr id="1" name=""/>
        <p:cNvGrpSpPr/>
        <p:nvPr/>
      </p:nvGrpSpPr>
      <p:grpSpPr>
        <a:xfrm>
          <a:off x="0" y="0"/>
          <a:ext cx="0" cy="0"/>
          <a:chOff x="0" y="0"/>
          <a:chExt cx="0" cy="0"/>
        </a:xfrm>
      </p:grpSpPr>
      <p:sp>
        <p:nvSpPr>
          <p:cNvPr id="2" name="Slide Title"/>
          <p:cNvSpPr>
            <a:spLocks noGrp="1"/>
          </p:cNvSpPr>
          <p:nvPr>
            <p:ph type="title"/>
          </p:nvPr>
        </p:nvSpPr>
        <p:spPr>
          <a:xfrm>
            <a:off x="457202" y="304800"/>
            <a:ext cx="3008313" cy="838200"/>
          </a:xfrm>
          <a:prstGeom prst="rect">
            <a:avLst/>
          </a:prstGeom>
        </p:spPr>
        <p:txBody>
          <a:bodyPr anchor="b"/>
          <a:lstStyle>
            <a:lvl1pPr algn="l">
              <a:defRPr sz="135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Text Placeholder 1"/>
          <p:cNvSpPr>
            <a:spLocks noGrp="1"/>
          </p:cNvSpPr>
          <p:nvPr>
            <p:ph type="body" sz="half" idx="2"/>
          </p:nvPr>
        </p:nvSpPr>
        <p:spPr>
          <a:xfrm>
            <a:off x="457202" y="1143000"/>
            <a:ext cx="3008313" cy="5243450"/>
          </a:xfrm>
          <a:prstGeom prst="rect">
            <a:avLst/>
          </a:prstGeom>
        </p:spPr>
        <p:txBody>
          <a:bodyPr/>
          <a:lstStyle>
            <a:lvl1pPr marL="0" indent="0">
              <a:buNone/>
              <a:defRPr sz="1050">
                <a:latin typeface="Helvetica" panose="020B0604020202020204" pitchFamily="34" charset="0"/>
                <a:cs typeface="Helvetica" panose="020B0604020202020204" pitchFamily="34"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3" name="Content Placeholder 1"/>
          <p:cNvSpPr>
            <a:spLocks noGrp="1"/>
          </p:cNvSpPr>
          <p:nvPr>
            <p:ph idx="1"/>
          </p:nvPr>
        </p:nvSpPr>
        <p:spPr>
          <a:xfrm>
            <a:off x="3575051" y="304801"/>
            <a:ext cx="5111751" cy="6074910"/>
          </a:xfrm>
          <a:prstGeom prst="rect">
            <a:avLst/>
          </a:prstGeom>
        </p:spPr>
        <p:txBody>
          <a:bodyPr/>
          <a:lstStyle>
            <a:lvl1pPr marL="0" indent="0">
              <a:spcAft>
                <a:spcPts val="600"/>
              </a:spcAft>
              <a:buFont typeface="Arial" panose="020B0604020202020204" pitchFamily="34" charset="0"/>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9" name="Jump Link">
            <a:extLst>
              <a:ext uri="{FF2B5EF4-FFF2-40B4-BE49-F238E27FC236}">
                <a16:creationId xmlns:a16="http://schemas.microsoft.com/office/drawing/2014/main" id="{23D469B0-AE7D-4332-9A1E-D2EA9D57A2C4}"/>
              </a:ext>
            </a:extLst>
          </p:cNvPr>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11" name="Text Placeholder 3">
            <a:extLst>
              <a:ext uri="{FF2B5EF4-FFF2-40B4-BE49-F238E27FC236}">
                <a16:creationId xmlns:a16="http://schemas.microsoft.com/office/drawing/2014/main" id="{54CCCF12-55F1-408A-B401-F5D5DA3542CB}"/>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3782978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NoBar-Content with Right Side-Caption">
    <p:spTree>
      <p:nvGrpSpPr>
        <p:cNvPr id="1" name=""/>
        <p:cNvGrpSpPr/>
        <p:nvPr/>
      </p:nvGrpSpPr>
      <p:grpSpPr>
        <a:xfrm>
          <a:off x="0" y="0"/>
          <a:ext cx="0" cy="0"/>
          <a:chOff x="0" y="0"/>
          <a:chExt cx="0" cy="0"/>
        </a:xfrm>
      </p:grpSpPr>
      <p:sp>
        <p:nvSpPr>
          <p:cNvPr id="2" name="Slide Title"/>
          <p:cNvSpPr>
            <a:spLocks noGrp="1"/>
          </p:cNvSpPr>
          <p:nvPr>
            <p:ph type="title"/>
          </p:nvPr>
        </p:nvSpPr>
        <p:spPr>
          <a:xfrm>
            <a:off x="5678488" y="304800"/>
            <a:ext cx="3008313" cy="838200"/>
          </a:xfrm>
          <a:prstGeom prst="rect">
            <a:avLst/>
          </a:prstGeom>
        </p:spPr>
        <p:txBody>
          <a:bodyPr anchor="b"/>
          <a:lstStyle>
            <a:lvl1pPr algn="l">
              <a:defRPr sz="135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Text Placeholder 1"/>
          <p:cNvSpPr>
            <a:spLocks noGrp="1"/>
          </p:cNvSpPr>
          <p:nvPr>
            <p:ph type="body" sz="half" idx="2"/>
          </p:nvPr>
        </p:nvSpPr>
        <p:spPr>
          <a:xfrm>
            <a:off x="5678488" y="1143000"/>
            <a:ext cx="3008313" cy="5243450"/>
          </a:xfrm>
          <a:prstGeom prst="rect">
            <a:avLst/>
          </a:prstGeom>
        </p:spPr>
        <p:txBody>
          <a:bodyPr/>
          <a:lstStyle>
            <a:lvl1pPr marL="0" indent="0">
              <a:buNone/>
              <a:defRPr sz="1050">
                <a:latin typeface="Helvetica" panose="020B0604020202020204" pitchFamily="34" charset="0"/>
                <a:cs typeface="Helvetica" panose="020B0604020202020204" pitchFamily="34"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3" name="Content Placeholder 1"/>
          <p:cNvSpPr>
            <a:spLocks noGrp="1"/>
          </p:cNvSpPr>
          <p:nvPr>
            <p:ph idx="1"/>
          </p:nvPr>
        </p:nvSpPr>
        <p:spPr>
          <a:xfrm>
            <a:off x="457201" y="304801"/>
            <a:ext cx="5111751" cy="6074910"/>
          </a:xfrm>
          <a:prstGeom prst="rect">
            <a:avLst/>
          </a:prstGeom>
        </p:spPr>
        <p:txBody>
          <a:bodyPr/>
          <a:lstStyle>
            <a:lvl1pPr marL="0" indent="0">
              <a:spcAft>
                <a:spcPts val="600"/>
              </a:spcAft>
              <a:buFont typeface="Arial" panose="020B0604020202020204" pitchFamily="34" charset="0"/>
              <a:buNone/>
              <a:defRPr sz="1800">
                <a:latin typeface="Helvetica" panose="020B0604020202020204" pitchFamily="34" charset="0"/>
                <a:cs typeface="Helvetica" panose="020B0604020202020204" pitchFamily="34" charset="0"/>
              </a:defRPr>
            </a:lvl1pPr>
            <a:lvl2pPr marL="557213" indent="-214313">
              <a:spcAft>
                <a:spcPts val="600"/>
              </a:spcAft>
              <a:buClr>
                <a:srgbClr val="24A8DE"/>
              </a:buClr>
              <a:buFont typeface="Arial" panose="020B0604020202020204" pitchFamily="34" charset="0"/>
              <a:buChar char="•"/>
              <a:defRPr sz="1500">
                <a:latin typeface="Helvetica" panose="020B0604020202020204" pitchFamily="34" charset="0"/>
                <a:cs typeface="Helvetica" panose="020B0604020202020204" pitchFamily="34" charset="0"/>
              </a:defRPr>
            </a:lvl2pPr>
            <a:lvl3pPr marL="857250" indent="-171450">
              <a:spcAft>
                <a:spcPts val="600"/>
              </a:spcAft>
              <a:buClr>
                <a:srgbClr val="24A8DE"/>
              </a:buClr>
              <a:buFont typeface="Arial" panose="020B0604020202020204" pitchFamily="34" charset="0"/>
              <a:buChar char="•"/>
              <a:defRPr sz="1350">
                <a:latin typeface="Helvetica" panose="020B0604020202020204" pitchFamily="34" charset="0"/>
                <a:cs typeface="Helvetica" panose="020B0604020202020204" pitchFamily="34" charset="0"/>
              </a:defRPr>
            </a:lvl3pPr>
            <a:lvl4pPr marL="12001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4pPr>
            <a:lvl5pPr marL="1543050" indent="-171450">
              <a:spcAft>
                <a:spcPts val="600"/>
              </a:spcAft>
              <a:buClr>
                <a:srgbClr val="24A8DE"/>
              </a:buClr>
              <a:buFont typeface="Arial" panose="020B0604020202020204" pitchFamily="34" charset="0"/>
              <a:buChar char="•"/>
              <a:defRPr sz="1200">
                <a:latin typeface="Helvetica" panose="020B0604020202020204" pitchFamily="34" charset="0"/>
                <a:cs typeface="Helvetica" panose="020B0604020202020204" pitchFamily="34" charset="0"/>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
        <p:nvSpPr>
          <p:cNvPr id="8" name="Jump Link">
            <a:extLst>
              <a:ext uri="{FF2B5EF4-FFF2-40B4-BE49-F238E27FC236}">
                <a16:creationId xmlns:a16="http://schemas.microsoft.com/office/drawing/2014/main" id="{BCFF01FC-09AC-4013-BDD7-B94F2B0A56A5}"/>
              </a:ext>
            </a:extLst>
          </p:cNvPr>
          <p:cNvSpPr>
            <a:spLocks noGrp="1"/>
          </p:cNvSpPr>
          <p:nvPr>
            <p:ph type="body" sz="quarter" idx="16" hasCustomPrompt="1"/>
          </p:nvPr>
        </p:nvSpPr>
        <p:spPr>
          <a:xfrm>
            <a:off x="3886200" y="639610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11" name="Text Placeholder 3">
            <a:extLst>
              <a:ext uri="{FF2B5EF4-FFF2-40B4-BE49-F238E27FC236}">
                <a16:creationId xmlns:a16="http://schemas.microsoft.com/office/drawing/2014/main" id="{7C70ECA2-80A6-4E4D-91B3-0AF7122E9D45}"/>
              </a:ext>
            </a:extLst>
          </p:cNvPr>
          <p:cNvSpPr>
            <a:spLocks noGrp="1"/>
          </p:cNvSpPr>
          <p:nvPr>
            <p:ph type="body" sz="quarter" idx="17" hasCustomPrompt="1"/>
          </p:nvPr>
        </p:nvSpPr>
        <p:spPr>
          <a:xfrm>
            <a:off x="7696200" y="6234050"/>
            <a:ext cx="1371600" cy="319150"/>
          </a:xfrm>
          <a:prstGeom prst="rect">
            <a:avLst/>
          </a:prstGeom>
        </p:spPr>
        <p:txBody>
          <a:bodyPr/>
          <a:lstStyle>
            <a:lvl1pPr marL="0" indent="0" algn="r">
              <a:buNone/>
              <a:defRPr sz="1500" b="1">
                <a:solidFill>
                  <a:srgbClr val="24A8DE"/>
                </a:solidFill>
                <a:latin typeface="Helvetica" panose="020B0604020202020204" pitchFamily="34" charset="0"/>
                <a:cs typeface="Helvetica" panose="020B0604020202020204" pitchFamily="34" charset="0"/>
              </a:defRPr>
            </a:lvl1pPr>
          </a:lstStyle>
          <a:p>
            <a:pPr lvl="0"/>
            <a:r>
              <a:rPr lang="en-US" dirty="0"/>
              <a:t>LO 20-10</a:t>
            </a:r>
          </a:p>
        </p:txBody>
      </p:sp>
    </p:spTree>
    <p:extLst>
      <p:ext uri="{BB962C8B-B14F-4D97-AF65-F5344CB8AC3E}">
        <p14:creationId xmlns:p14="http://schemas.microsoft.com/office/powerpoint/2010/main" val="26527629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NoBar-Picture with Caption">
    <p:spTree>
      <p:nvGrpSpPr>
        <p:cNvPr id="1" name=""/>
        <p:cNvGrpSpPr/>
        <p:nvPr/>
      </p:nvGrpSpPr>
      <p:grpSpPr>
        <a:xfrm>
          <a:off x="0" y="0"/>
          <a:ext cx="0" cy="0"/>
          <a:chOff x="0" y="0"/>
          <a:chExt cx="0" cy="0"/>
        </a:xfrm>
      </p:grpSpPr>
      <p:sp>
        <p:nvSpPr>
          <p:cNvPr id="2" name="Slide Title"/>
          <p:cNvSpPr>
            <a:spLocks noGrp="1"/>
          </p:cNvSpPr>
          <p:nvPr>
            <p:ph type="title"/>
          </p:nvPr>
        </p:nvSpPr>
        <p:spPr>
          <a:xfrm>
            <a:off x="1828800" y="5253037"/>
            <a:ext cx="5486400" cy="566738"/>
          </a:xfrm>
          <a:prstGeom prst="rect">
            <a:avLst/>
          </a:prstGeom>
        </p:spPr>
        <p:txBody>
          <a:bodyPr anchor="b"/>
          <a:lstStyle>
            <a:lvl1pPr algn="l">
              <a:defRPr sz="18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4" name="Text Placeholder 1"/>
          <p:cNvSpPr>
            <a:spLocks noGrp="1"/>
          </p:cNvSpPr>
          <p:nvPr>
            <p:ph type="body" sz="half" idx="2"/>
          </p:nvPr>
        </p:nvSpPr>
        <p:spPr>
          <a:xfrm>
            <a:off x="1828800" y="5895975"/>
            <a:ext cx="5486400" cy="609600"/>
          </a:xfrm>
          <a:prstGeom prst="rect">
            <a:avLst/>
          </a:prstGeom>
        </p:spPr>
        <p:txBody>
          <a:bodyPr/>
          <a:lstStyle>
            <a:lvl1pPr marL="0" indent="0">
              <a:buNone/>
              <a:defRPr sz="1050">
                <a:latin typeface="Helvetica" panose="020B0604020202020204" pitchFamily="34" charset="0"/>
                <a:cs typeface="Helvetica" panose="020B0604020202020204" pitchFamily="34"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Picture Placeholder 1"/>
          <p:cNvSpPr>
            <a:spLocks noGrp="1"/>
          </p:cNvSpPr>
          <p:nvPr>
            <p:ph type="pic" idx="1"/>
          </p:nvPr>
        </p:nvSpPr>
        <p:spPr>
          <a:xfrm>
            <a:off x="1028700" y="128652"/>
            <a:ext cx="7086600" cy="4944623"/>
          </a:xfrm>
          <a:prstGeom prst="rect">
            <a:avLst/>
          </a:prstGeom>
        </p:spPr>
        <p:txBody>
          <a:bodyPr/>
          <a:lstStyle>
            <a:lvl1pPr marL="0" indent="0">
              <a:buNone/>
              <a:defRPr sz="2400">
                <a:latin typeface="Helvetica" panose="020B0604020202020204" pitchFamily="34" charset="0"/>
                <a:cs typeface="Helvetica"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7" name="Jump Link"/>
          <p:cNvSpPr>
            <a:spLocks noGrp="1"/>
          </p:cNvSpPr>
          <p:nvPr>
            <p:ph type="body" sz="quarter" idx="16" hasCustomPrompt="1"/>
          </p:nvPr>
        </p:nvSpPr>
        <p:spPr>
          <a:xfrm>
            <a:off x="3886200" y="5081650"/>
            <a:ext cx="1371600" cy="99950"/>
          </a:xfrm>
          <a:prstGeom prst="rect">
            <a:avLst/>
          </a:prstGeom>
        </p:spPr>
        <p:txBody>
          <a:bodyPr lIns="0" tIns="0" rIns="0" bIns="0"/>
          <a:lstStyle>
            <a:lvl1pPr marL="0" indent="0" algn="ctr">
              <a:buNone/>
              <a:defRPr sz="600">
                <a:latin typeface="Helvetica" panose="020B0604020202020204" pitchFamily="34" charset="0"/>
                <a:cs typeface="Helvetica" panose="020B0604020202020204" pitchFamily="34" charset="0"/>
              </a:defRPr>
            </a:lvl1pPr>
          </a:lstStyle>
          <a:p>
            <a:pPr lvl="0"/>
            <a:r>
              <a:rPr lang="en-US" dirty="0"/>
              <a:t>Jump to long image description</a:t>
            </a:r>
          </a:p>
        </p:txBody>
      </p:sp>
      <p:sp>
        <p:nvSpPr>
          <p:cNvPr id="9" name="Photo Credit"/>
          <p:cNvSpPr>
            <a:spLocks noGrp="1"/>
          </p:cNvSpPr>
          <p:nvPr>
            <p:ph type="body" sz="quarter" idx="11"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Photo Credit Here</a:t>
            </a:r>
          </a:p>
        </p:txBody>
      </p:sp>
    </p:spTree>
    <p:extLst>
      <p:ext uri="{BB962C8B-B14F-4D97-AF65-F5344CB8AC3E}">
        <p14:creationId xmlns:p14="http://schemas.microsoft.com/office/powerpoint/2010/main" val="6260649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NoBar-Title and Video">
    <p:spTree>
      <p:nvGrpSpPr>
        <p:cNvPr id="1" name=""/>
        <p:cNvGrpSpPr/>
        <p:nvPr/>
      </p:nvGrpSpPr>
      <p:grpSpPr>
        <a:xfrm>
          <a:off x="0" y="0"/>
          <a:ext cx="0" cy="0"/>
          <a:chOff x="0" y="0"/>
          <a:chExt cx="0" cy="0"/>
        </a:xfrm>
      </p:grpSpPr>
      <p:sp>
        <p:nvSpPr>
          <p:cNvPr id="2" name="Slide Title"/>
          <p:cNvSpPr>
            <a:spLocks noGrp="1"/>
          </p:cNvSpPr>
          <p:nvPr>
            <p:ph type="title"/>
          </p:nvPr>
        </p:nvSpPr>
        <p:spPr>
          <a:xfrm>
            <a:off x="-2251" y="228600"/>
            <a:ext cx="9172252" cy="609600"/>
          </a:xfrm>
          <a:prstGeom prst="rect">
            <a:avLst/>
          </a:prstGeom>
        </p:spPr>
        <p:txBody>
          <a:bodyPr/>
          <a:lstStyle>
            <a:lvl1pPr>
              <a:defRPr sz="2400" b="1">
                <a:solidFill>
                  <a:srgbClr val="006288"/>
                </a:solidFill>
                <a:latin typeface="Helvetica" panose="020B0604020202020204" pitchFamily="34" charset="0"/>
                <a:cs typeface="Helvetica" panose="020B0604020202020204" pitchFamily="34" charset="0"/>
              </a:defRPr>
            </a:lvl1pPr>
          </a:lstStyle>
          <a:p>
            <a:r>
              <a:rPr lang="en-US" dirty="0"/>
              <a:t>Click to edit Master title style</a:t>
            </a:r>
          </a:p>
        </p:txBody>
      </p:sp>
      <p:sp>
        <p:nvSpPr>
          <p:cNvPr id="6" name="Media Placeholder 1"/>
          <p:cNvSpPr>
            <a:spLocks noGrp="1"/>
          </p:cNvSpPr>
          <p:nvPr>
            <p:ph type="media" sz="quarter" idx="11"/>
          </p:nvPr>
        </p:nvSpPr>
        <p:spPr>
          <a:xfrm>
            <a:off x="0" y="1066799"/>
            <a:ext cx="9144000" cy="5315957"/>
          </a:xfrm>
          <a:prstGeom prst="rect">
            <a:avLst/>
          </a:prstGeom>
        </p:spPr>
        <p:txBody>
          <a:bodyPr/>
          <a:lstStyle>
            <a:lvl1pPr>
              <a:defRPr>
                <a:latin typeface="Helvetica" panose="020B0604020202020204" pitchFamily="34" charset="0"/>
                <a:cs typeface="Helvetica" panose="020B0604020202020204" pitchFamily="34" charset="0"/>
              </a:defRPr>
            </a:lvl1pPr>
          </a:lstStyle>
          <a:p>
            <a:endParaRPr lang="en-US" dirty="0"/>
          </a:p>
        </p:txBody>
      </p:sp>
      <p:sp>
        <p:nvSpPr>
          <p:cNvPr id="5" name="Video Credit"/>
          <p:cNvSpPr>
            <a:spLocks noGrp="1"/>
          </p:cNvSpPr>
          <p:nvPr>
            <p:ph type="body" sz="quarter" idx="12" hasCustomPrompt="1"/>
          </p:nvPr>
        </p:nvSpPr>
        <p:spPr>
          <a:xfrm>
            <a:off x="5486400" y="6705600"/>
            <a:ext cx="3657600" cy="152400"/>
          </a:xfrm>
          <a:prstGeom prst="rect">
            <a:avLst/>
          </a:prstGeom>
        </p:spPr>
        <p:txBody>
          <a:bodyPr wrap="none" lIns="0" tIns="0" rIns="45720" bIns="0"/>
          <a:lstStyle>
            <a:lvl1pPr marL="0" indent="0" algn="r">
              <a:buNone/>
              <a:defRPr sz="600" baseline="0">
                <a:solidFill>
                  <a:schemeClr val="bg1"/>
                </a:solidFill>
                <a:latin typeface="Helvetica" panose="020B0604020202020204" pitchFamily="34" charset="0"/>
                <a:cs typeface="Helvetica" panose="020B0604020202020204" pitchFamily="34" charset="0"/>
              </a:defRPr>
            </a:lvl1pPr>
            <a:lvl5pPr>
              <a:defRPr/>
            </a:lvl5pPr>
          </a:lstStyle>
          <a:p>
            <a:pPr lvl="0"/>
            <a:r>
              <a:rPr lang="en-US" dirty="0"/>
              <a:t>Insert Video Credit Here</a:t>
            </a:r>
          </a:p>
        </p:txBody>
      </p:sp>
    </p:spTree>
    <p:extLst>
      <p:ext uri="{BB962C8B-B14F-4D97-AF65-F5344CB8AC3E}">
        <p14:creationId xmlns:p14="http://schemas.microsoft.com/office/powerpoint/2010/main" val="191979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96" userDrawn="1">
          <p15:clr>
            <a:srgbClr val="FBAE40"/>
          </p15:clr>
        </p15:guide>
        <p15:guide id="3" pos="385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6.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8.jp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3.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4.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6.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60.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5" Type="http://schemas.openxmlformats.org/officeDocument/2006/relationships/slideLayout" Target="../slideLayouts/slideLayout62.xml"/><Relationship Id="rId10" Type="http://schemas.openxmlformats.org/officeDocument/2006/relationships/image" Target="../media/image10.gif"/><Relationship Id="rId4" Type="http://schemas.openxmlformats.org/officeDocument/2006/relationships/slideLayout" Target="../slideLayouts/slideLayout61.xml"/><Relationship Id="rId9" Type="http://schemas.openxmlformats.org/officeDocument/2006/relationships/image" Target="../media/image9.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8.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D4897-D806-461C-95DA-1CC32F1F7FF4}" type="datetimeFigureOut">
              <a:rPr lang="en-US" smtClean="0"/>
              <a:t>8/5/2021</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52FE68-7D37-40EC-8CAE-D172C344E2E5}" type="slidenum">
              <a:rPr lang="en-US" smtClean="0"/>
              <a:t>‹#›</a:t>
            </a:fld>
            <a:endParaRPr lang="en-US"/>
          </a:p>
        </p:txBody>
      </p:sp>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2376"/>
            <a:ext cx="9144000" cy="6853247"/>
          </a:xfrm>
          <a:prstGeom prst="rect">
            <a:avLst/>
          </a:prstGeom>
        </p:spPr>
      </p:pic>
      <p:pic>
        <p:nvPicPr>
          <p:cNvPr id="9" name="Picture 8"/>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71675" y="6311899"/>
            <a:ext cx="2819400" cy="361950"/>
          </a:xfrm>
          <a:prstGeom prst="rect">
            <a:avLst/>
          </a:prstGeom>
        </p:spPr>
      </p:pic>
      <p:sp>
        <p:nvSpPr>
          <p:cNvPr id="10" name="TextBox 9"/>
          <p:cNvSpPr txBox="1"/>
          <p:nvPr userDrawn="1"/>
        </p:nvSpPr>
        <p:spPr>
          <a:xfrm>
            <a:off x="0" y="6587680"/>
            <a:ext cx="9144000" cy="215444"/>
          </a:xfrm>
          <a:prstGeom prst="rect">
            <a:avLst/>
          </a:prstGeom>
          <a:noFill/>
        </p:spPr>
        <p:txBody>
          <a:bodyPr wrap="square" rtlCol="0">
            <a:spAutoFit/>
          </a:bodyPr>
          <a:lstStyle/>
          <a:p>
            <a:pPr algn="ctr"/>
            <a:r>
              <a:rPr lang="en-US" sz="800" b="1" dirty="0">
                <a:latin typeface="+mn-lt"/>
              </a:rPr>
              <a:t>©McGraw-Hill Education.</a:t>
            </a:r>
            <a:r>
              <a:rPr lang="en-US" sz="800" b="1" baseline="0" dirty="0">
                <a:latin typeface="+mn-lt"/>
              </a:rPr>
              <a:t> All rights reserved. Authorized only for instructor use in the classroom. No reproduction or further distribution permitted without the prior written consent of McGraw-Hill Education.</a:t>
            </a:r>
            <a:endParaRPr lang="en-US" sz="800" b="1" dirty="0">
              <a:latin typeface="+mn-lt"/>
            </a:endParaRPr>
          </a:p>
        </p:txBody>
      </p:sp>
      <p:sp>
        <p:nvSpPr>
          <p:cNvPr id="11" name="Title 1"/>
          <p:cNvSpPr txBox="1">
            <a:spLocks/>
          </p:cNvSpPr>
          <p:nvPr userDrawn="1"/>
        </p:nvSpPr>
        <p:spPr>
          <a:xfrm>
            <a:off x="103319" y="4756037"/>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500" b="1" dirty="0">
              <a:solidFill>
                <a:srgbClr val="006699"/>
              </a:solidFill>
            </a:endParaRPr>
          </a:p>
        </p:txBody>
      </p:sp>
      <p:pic>
        <p:nvPicPr>
          <p:cNvPr id="12" name="MGH logo">
            <a:extLst>
              <a:ext uri="{FF2B5EF4-FFF2-40B4-BE49-F238E27FC236}">
                <a16:creationId xmlns:a16="http://schemas.microsoft.com/office/drawing/2014/main" id="{42AA304A-6112-4130-808C-21B89B185AA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0"/>
            <a:ext cx="776400" cy="776400"/>
          </a:xfrm>
          <a:prstGeom prst="rect">
            <a:avLst/>
          </a:prstGeom>
        </p:spPr>
      </p:pic>
    </p:spTree>
    <p:extLst>
      <p:ext uri="{BB962C8B-B14F-4D97-AF65-F5344CB8AC3E}">
        <p14:creationId xmlns:p14="http://schemas.microsoft.com/office/powerpoint/2010/main" val="1702456666"/>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5" r:id="rId9"/>
    <p:sldLayoutId id="2147483972" r:id="rId10"/>
    <p:sldLayoutId id="2147483973" r:id="rId11"/>
    <p:sldLayoutId id="214748397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620"/>
            <a:ext cx="9144000" cy="950520"/>
          </a:xfrm>
          <a:prstGeom prst="rect">
            <a:avLst/>
          </a:prstGeom>
        </p:spPr>
      </p:pic>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6795143"/>
            <a:ext cx="9144000" cy="66536"/>
          </a:xfrm>
          <a:prstGeom prst="rect">
            <a:avLst/>
          </a:prstGeom>
        </p:spPr>
      </p:pic>
      <p:pic>
        <p:nvPicPr>
          <p:cNvPr id="9" name="Picture 8"/>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71675" y="6311899"/>
            <a:ext cx="2819400" cy="361950"/>
          </a:xfrm>
          <a:prstGeom prst="rect">
            <a:avLst/>
          </a:prstGeom>
        </p:spPr>
      </p:pic>
      <p:sp>
        <p:nvSpPr>
          <p:cNvPr id="10" name="TextBox 9"/>
          <p:cNvSpPr txBox="1"/>
          <p:nvPr userDrawn="1"/>
        </p:nvSpPr>
        <p:spPr>
          <a:xfrm>
            <a:off x="0" y="6587680"/>
            <a:ext cx="9144000" cy="184666"/>
          </a:xfrm>
          <a:prstGeom prst="rect">
            <a:avLst/>
          </a:prstGeom>
          <a:noFill/>
        </p:spPr>
        <p:txBody>
          <a:bodyPr wrap="square" rtlCol="0">
            <a:spAutoFit/>
          </a:bodyPr>
          <a:lstStyle/>
          <a:p>
            <a:pPr algn="ctr"/>
            <a:r>
              <a:rPr lang="en-US" sz="600" b="1" dirty="0">
                <a:latin typeface="+mn-lt"/>
              </a:rPr>
              <a:t>©McGraw-Hill Education.</a:t>
            </a:r>
            <a:r>
              <a:rPr lang="en-US" sz="600" b="1" baseline="0" dirty="0">
                <a:latin typeface="+mn-lt"/>
              </a:rPr>
              <a:t> All rights reserved. Authorized only for instructor use in the classroom. No reproduction or further distribution permitted without the prior written consent of McGraw-Hill Education.</a:t>
            </a:r>
            <a:endParaRPr lang="en-US" sz="600" b="1" dirty="0">
              <a:latin typeface="+mn-lt"/>
            </a:endParaRPr>
          </a:p>
        </p:txBody>
      </p:sp>
      <p:pic>
        <p:nvPicPr>
          <p:cNvPr id="11" name="MGH logo">
            <a:extLst>
              <a:ext uri="{FF2B5EF4-FFF2-40B4-BE49-F238E27FC236}">
                <a16:creationId xmlns:a16="http://schemas.microsoft.com/office/drawing/2014/main" id="{62CA8E57-B25A-48C0-8996-BBF9781DB65E}"/>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0"/>
            <a:ext cx="776400" cy="776400"/>
          </a:xfrm>
          <a:prstGeom prst="rect">
            <a:avLst/>
          </a:prstGeom>
        </p:spPr>
      </p:pic>
    </p:spTree>
    <p:extLst>
      <p:ext uri="{BB962C8B-B14F-4D97-AF65-F5344CB8AC3E}">
        <p14:creationId xmlns:p14="http://schemas.microsoft.com/office/powerpoint/2010/main" val="4099338822"/>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xStyles>
    <p:titleStyle>
      <a:lvl1pPr algn="l" defTabSz="685800" rtl="0" eaLnBrk="1" latinLnBrk="0" hangingPunct="1">
        <a:lnSpc>
          <a:spcPct val="90000"/>
        </a:lnSpc>
        <a:spcBef>
          <a:spcPct val="0"/>
        </a:spcBef>
        <a:buNone/>
        <a:defRPr sz="2625" b="1" kern="1200">
          <a:solidFill>
            <a:srgbClr val="990000"/>
          </a:solidFill>
          <a:latin typeface="+mn-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875" kern="1200">
          <a:solidFill>
            <a:srgbClr val="990000"/>
          </a:solidFill>
          <a:latin typeface="+mn-lt"/>
          <a:ea typeface="+mn-ea"/>
          <a:cs typeface="+mn-cs"/>
        </a:defRPr>
      </a:lvl1pPr>
      <a:lvl2pPr marL="169069" indent="173831" algn="l" defTabSz="685800" rtl="0" eaLnBrk="1" latinLnBrk="0" hangingPunct="1">
        <a:lnSpc>
          <a:spcPct val="90000"/>
        </a:lnSpc>
        <a:spcBef>
          <a:spcPts val="375"/>
        </a:spcBef>
        <a:buFont typeface="Arial" panose="020B0604020202020204" pitchFamily="34" charset="0"/>
        <a:buChar char="•"/>
        <a:defRPr sz="1350" kern="1200">
          <a:solidFill>
            <a:srgbClr val="006699"/>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56" userDrawn="1">
          <p15:clr>
            <a:srgbClr val="F26B43"/>
          </p15:clr>
        </p15:guide>
        <p15:guide id="2" pos="5307" userDrawn="1">
          <p15:clr>
            <a:srgbClr val="F26B43"/>
          </p15:clr>
        </p15:guide>
        <p15:guide id="3" orient="horz" pos="731" userDrawn="1">
          <p15:clr>
            <a:srgbClr val="F26B43"/>
          </p15:clr>
        </p15:guide>
        <p15:guide id="4" orient="horz" pos="3912" userDrawn="1">
          <p15:clr>
            <a:srgbClr val="F26B43"/>
          </p15:clr>
        </p15:guide>
        <p15:guide id="5" orient="horz" pos="132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2290" name="MH Logo" descr="Logo: McGraw-Hill Education"/>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MH Tagline" descr="Tag line: Because learning changes everythi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257925"/>
            <a:ext cx="33718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Background"/>
          <p:cNvSpPr/>
          <p:nvPr userDrawn="1"/>
        </p:nvSpPr>
        <p:spPr>
          <a:xfrm>
            <a:off x="0" y="3276600"/>
            <a:ext cx="5715000" cy="1752600"/>
          </a:xfrm>
          <a:prstGeom prst="rect">
            <a:avLst/>
          </a:prstGeom>
          <a:solidFill>
            <a:schemeClr val="tx1">
              <a:alpha val="47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000000"/>
              </a:solidFill>
            </a:endParaRPr>
          </a:p>
        </p:txBody>
      </p:sp>
    </p:spTree>
    <p:extLst>
      <p:ext uri="{BB962C8B-B14F-4D97-AF65-F5344CB8AC3E}">
        <p14:creationId xmlns:p14="http://schemas.microsoft.com/office/powerpoint/2010/main" val="87906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42900" rtl="0" fontAlgn="base">
        <a:spcBef>
          <a:spcPct val="0"/>
        </a:spcBef>
        <a:spcAft>
          <a:spcPct val="0"/>
        </a:spcAft>
        <a:defRPr sz="3300" kern="1200">
          <a:solidFill>
            <a:schemeClr val="tx1"/>
          </a:solidFill>
          <a:latin typeface="+mj-lt"/>
          <a:ea typeface="+mj-ea"/>
          <a:cs typeface="+mj-cs"/>
        </a:defRPr>
      </a:lvl1pPr>
      <a:lvl2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2pPr>
      <a:lvl3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3pPr>
      <a:lvl4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4pPr>
      <a:lvl5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5pPr>
      <a:lvl6pPr marL="3429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6pPr>
      <a:lvl7pPr marL="6858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7pPr>
      <a:lvl8pPr marL="10287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8pPr>
      <a:lvl9pPr marL="13716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9pPr>
    </p:titleStyle>
    <p:bodyStyle>
      <a:lvl1pPr marL="257175" indent="-257175" algn="l" defTabSz="3429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fontAlgn="base">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Copyright" descr="©McGraw-Hill Education"/>
          <p:cNvSpPr txBox="1">
            <a:spLocks/>
          </p:cNvSpPr>
          <p:nvPr/>
        </p:nvSpPr>
        <p:spPr>
          <a:xfrm>
            <a:off x="0" y="6705600"/>
            <a:ext cx="1371600" cy="152400"/>
          </a:xfrm>
          <a:prstGeom prst="rect">
            <a:avLst/>
          </a:prstGeom>
        </p:spPr>
        <p:txBody>
          <a:bodyPr vert="horz" lIns="68580" tIns="34290" rIns="68580" bIns="3429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pPr>
            <a:r>
              <a:rPr lang="en-US" sz="2400" dirty="0">
                <a:solidFill>
                  <a:srgbClr val="6A6A6A"/>
                </a:solidFill>
              </a:rPr>
              <a:t>©McGraw-Hill Education.</a:t>
            </a:r>
          </a:p>
        </p:txBody>
      </p:sp>
    </p:spTree>
    <p:extLst>
      <p:ext uri="{BB962C8B-B14F-4D97-AF65-F5344CB8AC3E}">
        <p14:creationId xmlns:p14="http://schemas.microsoft.com/office/powerpoint/2010/main" val="3062701910"/>
      </p:ext>
    </p:extLst>
  </p:cSld>
  <p:clrMap bg1="lt1" tx1="dk1" bg2="lt2" tx2="dk2" accent1="accent1" accent2="accent2" accent3="accent3" accent4="accent4" accent5="accent5" accent6="accent6" hlink="hlink" folHlink="folHlink"/>
  <p:sldLayoutIdLst>
    <p:sldLayoutId id="2147483673" r:id="rId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Copyright" descr="©McGraw-Hill Education"/>
          <p:cNvSpPr txBox="1">
            <a:spLocks/>
          </p:cNvSpPr>
          <p:nvPr userDrawn="1"/>
        </p:nvSpPr>
        <p:spPr>
          <a:xfrm>
            <a:off x="0" y="6705600"/>
            <a:ext cx="1371600" cy="152400"/>
          </a:xfrm>
          <a:prstGeom prst="rect">
            <a:avLst/>
          </a:prstGeom>
        </p:spPr>
        <p:txBody>
          <a:bodyPr>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defRPr/>
            </a:pPr>
            <a:r>
              <a:rPr lang="en-US" sz="2400" dirty="0">
                <a:solidFill>
                  <a:srgbClr val="FFFFFF"/>
                </a:solidFill>
              </a:rPr>
              <a:t>©McGraw-Hill Education.</a:t>
            </a:r>
          </a:p>
        </p:txBody>
      </p:sp>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7175" y="1589050"/>
            <a:ext cx="1114425" cy="4067175"/>
          </a:xfrm>
          <a:prstGeom prst="rect">
            <a:avLst/>
          </a:prstGeom>
        </p:spPr>
      </p:pic>
      <p:pic>
        <p:nvPicPr>
          <p:cNvPr id="11" name="Picture 10"/>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4620"/>
            <a:ext cx="9144000" cy="950520"/>
          </a:xfrm>
          <a:prstGeom prst="rect">
            <a:avLst/>
          </a:prstGeom>
        </p:spPr>
      </p:pic>
      <p:pic>
        <p:nvPicPr>
          <p:cNvPr id="5" name="MGH logo">
            <a:extLst>
              <a:ext uri="{FF2B5EF4-FFF2-40B4-BE49-F238E27FC236}">
                <a16:creationId xmlns:a16="http://schemas.microsoft.com/office/drawing/2014/main" id="{6BC68430-E118-4587-8403-1FC459FDB44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776400" cy="776400"/>
          </a:xfrm>
          <a:prstGeom prst="rect">
            <a:avLst/>
          </a:prstGeom>
        </p:spPr>
      </p:pic>
    </p:spTree>
    <p:extLst>
      <p:ext uri="{BB962C8B-B14F-4D97-AF65-F5344CB8AC3E}">
        <p14:creationId xmlns:p14="http://schemas.microsoft.com/office/powerpoint/2010/main" val="399509317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ransition spd="med">
    <p:fade/>
  </p:transition>
  <p:txStyles>
    <p:titleStyle>
      <a:lvl1pPr algn="ctr" defTabSz="342900" rtl="0" fontAlgn="base">
        <a:spcBef>
          <a:spcPct val="0"/>
        </a:spcBef>
        <a:spcAft>
          <a:spcPct val="0"/>
        </a:spcAft>
        <a:defRPr sz="3300" kern="1200">
          <a:solidFill>
            <a:schemeClr val="tx1"/>
          </a:solidFill>
          <a:latin typeface="+mj-lt"/>
          <a:ea typeface="+mj-ea"/>
          <a:cs typeface="+mj-cs"/>
        </a:defRPr>
      </a:lvl1pPr>
      <a:lvl2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2pPr>
      <a:lvl3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3pPr>
      <a:lvl4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4pPr>
      <a:lvl5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5pPr>
      <a:lvl6pPr marL="3429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6pPr>
      <a:lvl7pPr marL="6858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7pPr>
      <a:lvl8pPr marL="10287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8pPr>
      <a:lvl9pPr marL="13716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9pPr>
    </p:titleStyle>
    <p:bodyStyle>
      <a:lvl1pPr marL="257175" indent="-257175" algn="l" defTabSz="3429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fontAlgn="base">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20" userDrawn="1">
          <p15:clr>
            <a:srgbClr val="F26B43"/>
          </p15:clr>
        </p15:guide>
        <p15:guide id="2" orient="horz" pos="3912" userDrawn="1">
          <p15:clr>
            <a:srgbClr val="F26B43"/>
          </p15:clr>
        </p15:guide>
        <p15:guide id="3" pos="5304" userDrawn="1">
          <p15:clr>
            <a:srgbClr val="F26B43"/>
          </p15:clr>
        </p15:guide>
        <p15:guide id="4" pos="456"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7"/>
          <p:cNvSpPr/>
          <p:nvPr userDrawn="1"/>
        </p:nvSpPr>
        <p:spPr>
          <a:xfrm>
            <a:off x="0" y="6705600"/>
            <a:ext cx="9144000" cy="152400"/>
          </a:xfrm>
          <a:prstGeom prst="rect">
            <a:avLst/>
          </a:prstGeom>
          <a:solidFill>
            <a:srgbClr val="00628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342900" fontAlgn="base">
              <a:spcBef>
                <a:spcPct val="0"/>
              </a:spcBef>
              <a:spcAft>
                <a:spcPct val="0"/>
              </a:spcAft>
              <a:defRPr/>
            </a:pPr>
            <a:endParaRPr lang="en-US" sz="1800" dirty="0">
              <a:solidFill>
                <a:srgbClr val="FFFFFF"/>
              </a:solidFill>
            </a:endParaRPr>
          </a:p>
        </p:txBody>
      </p:sp>
      <p:sp>
        <p:nvSpPr>
          <p:cNvPr id="10" name="Copyright" descr="©McGraw-Hill Education"/>
          <p:cNvSpPr txBox="1">
            <a:spLocks/>
          </p:cNvSpPr>
          <p:nvPr userDrawn="1"/>
        </p:nvSpPr>
        <p:spPr>
          <a:xfrm>
            <a:off x="0" y="6705600"/>
            <a:ext cx="1371600" cy="152400"/>
          </a:xfrm>
          <a:prstGeom prst="rect">
            <a:avLst/>
          </a:prstGeom>
        </p:spPr>
        <p:txBody>
          <a:bodyPr>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defRPr/>
            </a:pPr>
            <a:r>
              <a:rPr lang="en-US" sz="2400" dirty="0">
                <a:solidFill>
                  <a:srgbClr val="FFFFFF"/>
                </a:solidFill>
              </a:rPr>
              <a:t>©McGraw-Hill Education.</a:t>
            </a:r>
          </a:p>
        </p:txBody>
      </p:sp>
      <p:sp>
        <p:nvSpPr>
          <p:cNvPr id="16" name="Rectangle: Single Corner Rounded 4"/>
          <p:cNvSpPr/>
          <p:nvPr userDrawn="1"/>
        </p:nvSpPr>
        <p:spPr>
          <a:xfrm flipV="1">
            <a:off x="0" y="0"/>
            <a:ext cx="1371600" cy="6396038"/>
          </a:xfrm>
          <a:prstGeom prst="round1Rect">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900" fontAlgn="base">
              <a:spcBef>
                <a:spcPct val="0"/>
              </a:spcBef>
              <a:spcAft>
                <a:spcPct val="0"/>
              </a:spcAft>
              <a:defRPr/>
            </a:pPr>
            <a:endParaRPr lang="en-US" sz="1800" dirty="0">
              <a:solidFill>
                <a:srgbClr val="FFFFFF"/>
              </a:solidFill>
            </a:endParaRPr>
          </a:p>
        </p:txBody>
      </p:sp>
      <p:sp>
        <p:nvSpPr>
          <p:cNvPr id="17" name="Rectangle: Single Corner Rounded 18"/>
          <p:cNvSpPr/>
          <p:nvPr userDrawn="1"/>
        </p:nvSpPr>
        <p:spPr>
          <a:xfrm flipV="1">
            <a:off x="-1588" y="0"/>
            <a:ext cx="1220788" cy="6248400"/>
          </a:xfrm>
          <a:prstGeom prst="round1Rect">
            <a:avLst/>
          </a:prstGeom>
          <a:solidFill>
            <a:srgbClr val="D6E9F8"/>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900" fontAlgn="base">
              <a:spcBef>
                <a:spcPct val="0"/>
              </a:spcBef>
              <a:spcAft>
                <a:spcPct val="0"/>
              </a:spcAft>
              <a:defRPr/>
            </a:pPr>
            <a:endParaRPr lang="en-US" sz="1800" dirty="0">
              <a:solidFill>
                <a:srgbClr val="FFFFFF"/>
              </a:solidFill>
            </a:endParaRPr>
          </a:p>
        </p:txBody>
      </p:sp>
      <p:sp>
        <p:nvSpPr>
          <p:cNvPr id="18" name="Rectangle: Single Corner Rounded 19"/>
          <p:cNvSpPr/>
          <p:nvPr userDrawn="1"/>
        </p:nvSpPr>
        <p:spPr>
          <a:xfrm flipV="1">
            <a:off x="-1588" y="0"/>
            <a:ext cx="1068388" cy="6096000"/>
          </a:xfrm>
          <a:prstGeom prst="round1Rect">
            <a:avLst/>
          </a:prstGeom>
          <a:solidFill>
            <a:srgbClr val="9ECDE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900" fontAlgn="base">
              <a:spcBef>
                <a:spcPct val="0"/>
              </a:spcBef>
              <a:spcAft>
                <a:spcPct val="0"/>
              </a:spcAft>
              <a:defRPr/>
            </a:pPr>
            <a:endParaRPr lang="en-US" sz="1800" dirty="0">
              <a:solidFill>
                <a:srgbClr val="FFFFFF"/>
              </a:solidFill>
            </a:endParaRPr>
          </a:p>
        </p:txBody>
      </p:sp>
      <p:sp>
        <p:nvSpPr>
          <p:cNvPr id="19" name="Rectangle: Single Corner Rounded 20"/>
          <p:cNvSpPr/>
          <p:nvPr userDrawn="1"/>
        </p:nvSpPr>
        <p:spPr>
          <a:xfrm flipV="1">
            <a:off x="-1588" y="0"/>
            <a:ext cx="915988" cy="5943600"/>
          </a:xfrm>
          <a:prstGeom prst="round1Rect">
            <a:avLst/>
          </a:prstGeom>
          <a:solidFill>
            <a:srgbClr val="24A8D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900" fontAlgn="base">
              <a:spcBef>
                <a:spcPct val="0"/>
              </a:spcBef>
              <a:spcAft>
                <a:spcPct val="0"/>
              </a:spcAft>
              <a:defRPr/>
            </a:pPr>
            <a:endParaRPr lang="en-US" sz="1800" dirty="0">
              <a:solidFill>
                <a:srgbClr val="FFFFFF"/>
              </a:solidFill>
            </a:endParaRPr>
          </a:p>
        </p:txBody>
      </p:sp>
    </p:spTree>
    <p:extLst>
      <p:ext uri="{BB962C8B-B14F-4D97-AF65-F5344CB8AC3E}">
        <p14:creationId xmlns:p14="http://schemas.microsoft.com/office/powerpoint/2010/main" val="73351128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ransition spd="med">
    <p:fade/>
  </p:transition>
  <p:txStyles>
    <p:titleStyle>
      <a:lvl1pPr algn="ctr" defTabSz="342900" rtl="0" fontAlgn="base">
        <a:spcBef>
          <a:spcPct val="0"/>
        </a:spcBef>
        <a:spcAft>
          <a:spcPct val="0"/>
        </a:spcAft>
        <a:defRPr sz="3300" kern="1200">
          <a:solidFill>
            <a:schemeClr val="tx1"/>
          </a:solidFill>
          <a:latin typeface="+mj-lt"/>
          <a:ea typeface="+mj-ea"/>
          <a:cs typeface="+mj-cs"/>
        </a:defRPr>
      </a:lvl1pPr>
      <a:lvl2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2pPr>
      <a:lvl3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3pPr>
      <a:lvl4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4pPr>
      <a:lvl5pPr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5pPr>
      <a:lvl6pPr marL="3429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6pPr>
      <a:lvl7pPr marL="6858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7pPr>
      <a:lvl8pPr marL="10287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8pPr>
      <a:lvl9pPr marL="1371600" algn="ctr" defTabSz="342900" rtl="0" fontAlgn="base">
        <a:spcBef>
          <a:spcPct val="0"/>
        </a:spcBef>
        <a:spcAft>
          <a:spcPct val="0"/>
        </a:spcAft>
        <a:defRPr sz="3300">
          <a:solidFill>
            <a:schemeClr val="tx1"/>
          </a:solidFill>
          <a:latin typeface="Calibri" panose="020F0502020204030204" pitchFamily="34" charset="0"/>
          <a:cs typeface="Arial" panose="020B0604020202020204" pitchFamily="34" charset="0"/>
        </a:defRPr>
      </a:lvl9pPr>
    </p:titleStyle>
    <p:bodyStyle>
      <a:lvl1pPr marL="257175" indent="-257175" algn="l" defTabSz="3429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3429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342900" rtl="0" fontAlgn="base">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3429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MH Logo" descr="Logo: McGraw-Hill Education"/>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0" y="0"/>
            <a:ext cx="762000" cy="762000"/>
          </a:xfrm>
          <a:prstGeom prst="rect">
            <a:avLst/>
          </a:prstGeom>
        </p:spPr>
      </p:pic>
      <p:pic>
        <p:nvPicPr>
          <p:cNvPr id="2" name="MH Tagline" descr="Tag line: Because learning changes everything™"/>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0" y="6257775"/>
            <a:ext cx="3371850" cy="476250"/>
          </a:xfrm>
          <a:prstGeom prst="rect">
            <a:avLst/>
          </a:prstGeom>
        </p:spPr>
      </p:pic>
    </p:spTree>
    <p:extLst>
      <p:ext uri="{BB962C8B-B14F-4D97-AF65-F5344CB8AC3E}">
        <p14:creationId xmlns:p14="http://schemas.microsoft.com/office/powerpoint/2010/main" val="368721210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61C9BBB-0ED1-4734-BE02-3FB672444898}"/>
              </a:ext>
            </a:extLst>
          </p:cNvPr>
          <p:cNvSpPr/>
          <p:nvPr userDrawn="1"/>
        </p:nvSpPr>
        <p:spPr>
          <a:xfrm>
            <a:off x="0" y="6705600"/>
            <a:ext cx="9144000" cy="152400"/>
          </a:xfrm>
          <a:prstGeom prst="rect">
            <a:avLst/>
          </a:prstGeom>
          <a:solidFill>
            <a:srgbClr val="006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white"/>
              </a:solidFill>
            </a:endParaRPr>
          </a:p>
        </p:txBody>
      </p:sp>
      <p:sp>
        <p:nvSpPr>
          <p:cNvPr id="11" name="Copyright" descr="©McGraw-Hill Education"/>
          <p:cNvSpPr txBox="1">
            <a:spLocks/>
          </p:cNvSpPr>
          <p:nvPr/>
        </p:nvSpPr>
        <p:spPr>
          <a:xfrm>
            <a:off x="0" y="6705600"/>
            <a:ext cx="1371600" cy="152400"/>
          </a:xfrm>
          <a:prstGeom prst="rect">
            <a:avLst/>
          </a:prstGeom>
        </p:spPr>
        <p:txBody>
          <a:bodyPr vert="horz" lIns="68580" tIns="34290" rIns="68580" bIns="3429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base">
              <a:spcAft>
                <a:spcPct val="0"/>
              </a:spcAft>
              <a:buFont typeface="Arial"/>
              <a:buNone/>
            </a:pPr>
            <a:r>
              <a:rPr lang="en-US" sz="2400" dirty="0">
                <a:solidFill>
                  <a:prstClr val="white"/>
                </a:solidFill>
              </a:rPr>
              <a:t>©McGraw-Hill Education.</a:t>
            </a:r>
          </a:p>
        </p:txBody>
      </p:sp>
      <p:grpSp>
        <p:nvGrpSpPr>
          <p:cNvPr id="9" name="Group 8">
            <a:extLst>
              <a:ext uri="{FF2B5EF4-FFF2-40B4-BE49-F238E27FC236}">
                <a16:creationId xmlns:a16="http://schemas.microsoft.com/office/drawing/2014/main" id="{EC831BF9-B236-4CCB-BB5E-21E48194F757}"/>
              </a:ext>
            </a:extLst>
          </p:cNvPr>
          <p:cNvGrpSpPr/>
          <p:nvPr userDrawn="1"/>
        </p:nvGrpSpPr>
        <p:grpSpPr>
          <a:xfrm>
            <a:off x="7877175" y="-1266825"/>
            <a:ext cx="2533650" cy="2533650"/>
            <a:chOff x="1570616" y="3372857"/>
            <a:chExt cx="2533650" cy="2533650"/>
          </a:xfrm>
        </p:grpSpPr>
        <p:sp>
          <p:nvSpPr>
            <p:cNvPr id="12" name="Partial Circle 11">
              <a:extLst>
                <a:ext uri="{FF2B5EF4-FFF2-40B4-BE49-F238E27FC236}">
                  <a16:creationId xmlns:a16="http://schemas.microsoft.com/office/drawing/2014/main" id="{D431AA45-5DB5-493E-9E74-D30E52698531}"/>
                </a:ext>
              </a:extLst>
            </p:cNvPr>
            <p:cNvSpPr/>
            <p:nvPr userDrawn="1"/>
          </p:nvSpPr>
          <p:spPr>
            <a:xfrm rot="5400000">
              <a:off x="1570616" y="3372857"/>
              <a:ext cx="2533650" cy="2533650"/>
            </a:xfrm>
            <a:prstGeom prst="pie">
              <a:avLst>
                <a:gd name="adj1" fmla="val 0"/>
                <a:gd name="adj2" fmla="val 5387784"/>
              </a:avLst>
            </a:prstGeom>
            <a:solidFill>
              <a:srgbClr val="EA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13" name="Partial Circle 12">
              <a:extLst>
                <a:ext uri="{FF2B5EF4-FFF2-40B4-BE49-F238E27FC236}">
                  <a16:creationId xmlns:a16="http://schemas.microsoft.com/office/drawing/2014/main" id="{AE7DDDC9-9604-4632-A8AA-208424EAB657}"/>
                </a:ext>
              </a:extLst>
            </p:cNvPr>
            <p:cNvSpPr/>
            <p:nvPr userDrawn="1"/>
          </p:nvSpPr>
          <p:spPr>
            <a:xfrm rot="5400000">
              <a:off x="1853788" y="3656030"/>
              <a:ext cx="1967305" cy="1967305"/>
            </a:xfrm>
            <a:prstGeom prst="pie">
              <a:avLst>
                <a:gd name="adj1" fmla="val 0"/>
                <a:gd name="adj2" fmla="val 5387784"/>
              </a:avLst>
            </a:prstGeom>
            <a:solidFill>
              <a:srgbClr val="D6E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14" name="Partial Circle 13">
              <a:extLst>
                <a:ext uri="{FF2B5EF4-FFF2-40B4-BE49-F238E27FC236}">
                  <a16:creationId xmlns:a16="http://schemas.microsoft.com/office/drawing/2014/main" id="{AC0C7161-FAC6-4DCA-B49A-91E5ECB1B249}"/>
                </a:ext>
              </a:extLst>
            </p:cNvPr>
            <p:cNvSpPr/>
            <p:nvPr userDrawn="1"/>
          </p:nvSpPr>
          <p:spPr>
            <a:xfrm rot="5400000">
              <a:off x="2122058" y="3924300"/>
              <a:ext cx="1430767" cy="1430767"/>
            </a:xfrm>
            <a:prstGeom prst="pie">
              <a:avLst>
                <a:gd name="adj1" fmla="val 0"/>
                <a:gd name="adj2" fmla="val 5387784"/>
              </a:avLst>
            </a:prstGeom>
            <a:solidFill>
              <a:srgbClr val="9EC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sp>
          <p:nvSpPr>
            <p:cNvPr id="15" name="Partial Circle 14">
              <a:extLst>
                <a:ext uri="{FF2B5EF4-FFF2-40B4-BE49-F238E27FC236}">
                  <a16:creationId xmlns:a16="http://schemas.microsoft.com/office/drawing/2014/main" id="{E8B96169-EA6B-4055-A0A4-9D674AE44693}"/>
                </a:ext>
              </a:extLst>
            </p:cNvPr>
            <p:cNvSpPr/>
            <p:nvPr userDrawn="1"/>
          </p:nvSpPr>
          <p:spPr>
            <a:xfrm rot="5400000">
              <a:off x="2397778" y="4200020"/>
              <a:ext cx="879326" cy="879326"/>
            </a:xfrm>
            <a:prstGeom prst="pie">
              <a:avLst>
                <a:gd name="adj1" fmla="val 0"/>
                <a:gd name="adj2" fmla="val 5387784"/>
              </a:avLst>
            </a:prstGeom>
            <a:solidFill>
              <a:srgbClr val="24A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342900" fontAlgn="base">
                <a:spcBef>
                  <a:spcPct val="0"/>
                </a:spcBef>
                <a:spcAft>
                  <a:spcPct val="0"/>
                </a:spcAft>
              </a:pPr>
              <a:endParaRPr lang="en-US" sz="1800" dirty="0">
                <a:solidFill>
                  <a:prstClr val="black"/>
                </a:solidFill>
              </a:endParaRPr>
            </a:p>
          </p:txBody>
        </p:sp>
      </p:grpSp>
    </p:spTree>
    <p:extLst>
      <p:ext uri="{BB962C8B-B14F-4D97-AF65-F5344CB8AC3E}">
        <p14:creationId xmlns:p14="http://schemas.microsoft.com/office/powerpoint/2010/main" val="4076797403"/>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5.xml"/><Relationship Id="rId1" Type="http://schemas.openxmlformats.org/officeDocument/2006/relationships/slideLayout" Target="../slideLayouts/slideLayout14.xml"/><Relationship Id="rId6" Type="http://schemas.openxmlformats.org/officeDocument/2006/relationships/slide" Target="slide24.xml"/><Relationship Id="rId5" Type="http://schemas.openxmlformats.org/officeDocument/2006/relationships/slide" Target="slide19.xml"/><Relationship Id="rId4" Type="http://schemas.openxmlformats.org/officeDocument/2006/relationships/slide" Target="slide15.xml"/></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slide" Target="slide13.xml"/><Relationship Id="rId5" Type="http://schemas.openxmlformats.org/officeDocument/2006/relationships/slide" Target="slide10.xml"/><Relationship Id="rId4" Type="http://schemas.openxmlformats.org/officeDocument/2006/relationships/slide" Target="slide9.xml"/></Relationships>
</file>

<file path=ppt/slides/_rels/slide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16.xml"/><Relationship Id="rId1" Type="http://schemas.openxmlformats.org/officeDocument/2006/relationships/slideLayout" Target="../slideLayouts/slideLayout14.xml"/><Relationship Id="rId6" Type="http://schemas.openxmlformats.org/officeDocument/2006/relationships/slide" Target="slide27.xml"/><Relationship Id="rId5" Type="http://schemas.openxmlformats.org/officeDocument/2006/relationships/slide" Target="slide21.xml"/><Relationship Id="rId4" Type="http://schemas.openxmlformats.org/officeDocument/2006/relationships/slide" Target="slide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5341914" cy="1655762"/>
          </a:xfrm>
        </p:spPr>
        <p:txBody>
          <a:bodyPr>
            <a:noAutofit/>
          </a:bodyPr>
          <a:lstStyle/>
          <a:p>
            <a:pPr algn="l"/>
            <a:endParaRPr lang="en-US" sz="3500" b="1" dirty="0">
              <a:solidFill>
                <a:srgbClr val="006699"/>
              </a:solidFill>
            </a:endParaRPr>
          </a:p>
          <a:p>
            <a:pPr algn="l"/>
            <a:r>
              <a:rPr lang="en-US" sz="3500" b="1" dirty="0">
                <a:solidFill>
                  <a:srgbClr val="006699"/>
                </a:solidFill>
              </a:rPr>
              <a:t>Fundamentals of the Business World</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6795" y="2858133"/>
            <a:ext cx="2675965" cy="3424185"/>
          </a:xfrm>
          <a:prstGeom prst="rect">
            <a:avLst/>
          </a:prstGeom>
        </p:spPr>
      </p:pic>
    </p:spTree>
    <p:extLst>
      <p:ext uri="{BB962C8B-B14F-4D97-AF65-F5344CB8AC3E}">
        <p14:creationId xmlns:p14="http://schemas.microsoft.com/office/powerpoint/2010/main" val="3685239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915" y="980348"/>
            <a:ext cx="7886700" cy="749397"/>
          </a:xfrm>
        </p:spPr>
        <p:txBody>
          <a:bodyPr>
            <a:normAutofit/>
          </a:bodyPr>
          <a:lstStyle/>
          <a:p>
            <a:r>
              <a:rPr lang="en-US" sz="3500" dirty="0">
                <a:solidFill>
                  <a:srgbClr val="8B0304"/>
                </a:solidFill>
              </a:rPr>
              <a:t>Module Contents</a:t>
            </a:r>
          </a:p>
        </p:txBody>
      </p:sp>
      <p:sp>
        <p:nvSpPr>
          <p:cNvPr id="3" name="Content Placeholder 2"/>
          <p:cNvSpPr>
            <a:spLocks noGrp="1"/>
          </p:cNvSpPr>
          <p:nvPr>
            <p:ph idx="1"/>
          </p:nvPr>
        </p:nvSpPr>
        <p:spPr>
          <a:xfrm>
            <a:off x="615916" y="2002551"/>
            <a:ext cx="7886700" cy="1872317"/>
          </a:xfrm>
        </p:spPr>
        <p:txBody>
          <a:bodyPr>
            <a:noAutofit/>
          </a:bodyPr>
          <a:lstStyle/>
          <a:p>
            <a:r>
              <a:rPr lang="en-US" altLang="en-US" sz="2500" dirty="0">
                <a:solidFill>
                  <a:srgbClr val="006699"/>
                </a:solidFill>
                <a:latin typeface="Calibri" panose="020F0502020204030204" pitchFamily="34" charset="0"/>
                <a:hlinkClick r:id="rId2" action="ppaction://hlinksldjump"/>
              </a:rPr>
              <a:t>Business and Profits</a:t>
            </a:r>
            <a:endParaRPr lang="en-US" altLang="en-US" sz="2500" dirty="0">
              <a:solidFill>
                <a:srgbClr val="006699"/>
              </a:solidFill>
              <a:latin typeface="Calibri" panose="020F0502020204030204" pitchFamily="34" charset="0"/>
            </a:endParaRPr>
          </a:p>
          <a:p>
            <a:r>
              <a:rPr lang="en-US" altLang="en-US" sz="2500" dirty="0">
                <a:solidFill>
                  <a:srgbClr val="006699"/>
                </a:solidFill>
                <a:latin typeface="Calibri" panose="020F0502020204030204" pitchFamily="34" charset="0"/>
                <a:hlinkClick r:id="rId3" action="ppaction://hlinksldjump"/>
              </a:rPr>
              <a:t>The Role Business Plays in Society</a:t>
            </a:r>
            <a:endParaRPr lang="en-US" altLang="en-US" sz="2500" dirty="0">
              <a:solidFill>
                <a:srgbClr val="006699"/>
              </a:solidFill>
              <a:latin typeface="Calibri" panose="020F0502020204030204" pitchFamily="34" charset="0"/>
            </a:endParaRPr>
          </a:p>
          <a:p>
            <a:r>
              <a:rPr lang="en-US" altLang="en-US" sz="2500" dirty="0">
                <a:solidFill>
                  <a:srgbClr val="006699"/>
                </a:solidFill>
                <a:latin typeface="Calibri" panose="020F0502020204030204" pitchFamily="34" charset="0"/>
                <a:hlinkClick r:id="rId4" action="ppaction://hlinksldjump"/>
              </a:rPr>
              <a:t>Entrepreneurial Risk and Factors of Production</a:t>
            </a:r>
            <a:endParaRPr lang="en-US" altLang="en-US" sz="2500" dirty="0">
              <a:solidFill>
                <a:srgbClr val="006699"/>
              </a:solidFill>
              <a:latin typeface="Calibri" panose="020F0502020204030204" pitchFamily="34" charset="0"/>
            </a:endParaRPr>
          </a:p>
          <a:p>
            <a:r>
              <a:rPr lang="en-US" altLang="en-US" sz="2500" dirty="0">
                <a:solidFill>
                  <a:srgbClr val="006699"/>
                </a:solidFill>
                <a:latin typeface="Calibri" panose="020F0502020204030204" pitchFamily="34" charset="0"/>
                <a:hlinkClick r:id="rId5" action="ppaction://hlinksldjump"/>
              </a:rPr>
              <a:t>The Forces of the Business Environment</a:t>
            </a:r>
            <a:endParaRPr lang="en-US" altLang="en-US" sz="2500" dirty="0">
              <a:solidFill>
                <a:srgbClr val="006699"/>
              </a:solidFill>
              <a:latin typeface="Calibri" panose="020F0502020204030204" pitchFamily="34" charset="0"/>
            </a:endParaRPr>
          </a:p>
          <a:p>
            <a:r>
              <a:rPr lang="en-US" altLang="en-US" sz="2500" dirty="0">
                <a:solidFill>
                  <a:srgbClr val="006699"/>
                </a:solidFill>
                <a:latin typeface="Calibri" panose="020F0502020204030204" pitchFamily="34" charset="0"/>
                <a:hlinkClick r:id="rId6" action="ppaction://hlinksldjump"/>
              </a:rPr>
              <a:t>Stakeholders and Succeeding in Business</a:t>
            </a:r>
            <a:endParaRPr lang="en-US" altLang="en-US" sz="2500" dirty="0">
              <a:solidFill>
                <a:srgbClr val="006699"/>
              </a:solidFill>
              <a:latin typeface="Calibri" panose="020F0502020204030204" pitchFamily="34" charset="0"/>
            </a:endParaRPr>
          </a:p>
        </p:txBody>
      </p:sp>
    </p:spTree>
    <p:extLst>
      <p:ext uri="{BB962C8B-B14F-4D97-AF65-F5344CB8AC3E}">
        <p14:creationId xmlns:p14="http://schemas.microsoft.com/office/powerpoint/2010/main" val="3388951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060" y="978965"/>
            <a:ext cx="7886700" cy="749397"/>
          </a:xfrm>
        </p:spPr>
        <p:txBody>
          <a:bodyPr>
            <a:normAutofit/>
          </a:bodyPr>
          <a:lstStyle/>
          <a:p>
            <a:r>
              <a:rPr lang="en-US" sz="3500" dirty="0">
                <a:solidFill>
                  <a:srgbClr val="8B0304"/>
                </a:solidFill>
                <a:latin typeface="Calibri" panose="020F0502020204030204" pitchFamily="34" charset="0"/>
              </a:rPr>
              <a:t>Learning Objectives </a:t>
            </a:r>
            <a:r>
              <a:rPr lang="en-US" sz="2500" dirty="0">
                <a:solidFill>
                  <a:srgbClr val="8B0304"/>
                </a:solidFill>
                <a:latin typeface="Calibri" panose="020F0502020204030204" pitchFamily="34" charset="0"/>
              </a:rPr>
              <a:t>1 of 2</a:t>
            </a:r>
          </a:p>
        </p:txBody>
      </p:sp>
      <p:sp>
        <p:nvSpPr>
          <p:cNvPr id="3" name="Content Placeholder 2"/>
          <p:cNvSpPr>
            <a:spLocks noGrp="1"/>
          </p:cNvSpPr>
          <p:nvPr>
            <p:ph idx="1"/>
          </p:nvPr>
        </p:nvSpPr>
        <p:spPr>
          <a:xfrm>
            <a:off x="615916" y="2007624"/>
            <a:ext cx="7886700" cy="3539753"/>
          </a:xfrm>
        </p:spPr>
        <p:txBody>
          <a:bodyPr>
            <a:normAutofit fontScale="92500" lnSpcReduction="10000"/>
          </a:bodyPr>
          <a:lstStyle/>
          <a:p>
            <a:r>
              <a:rPr lang="en-US" sz="2800" dirty="0">
                <a:hlinkClick r:id="rId3" action="ppaction://hlinksldjump"/>
              </a:rPr>
              <a:t>Classify businesses as for-profit or nonprofit.</a:t>
            </a:r>
            <a:endParaRPr lang="en-US" sz="2800" dirty="0"/>
          </a:p>
          <a:p>
            <a:r>
              <a:rPr lang="en-US" sz="2800" dirty="0">
                <a:hlinkClick r:id="rId3" action="ppaction://hlinksldjump"/>
              </a:rPr>
              <a:t>Outline key facets of a business.</a:t>
            </a:r>
            <a:endParaRPr lang="en-US" sz="2800" dirty="0"/>
          </a:p>
          <a:p>
            <a:pPr marL="857250" indent="-857250"/>
            <a:r>
              <a:rPr lang="en-US" sz="2800" dirty="0">
                <a:hlinkClick r:id="rId4" action="ppaction://hlinksldjump"/>
              </a:rPr>
              <a:t>Classify business offerings as goods or services.</a:t>
            </a:r>
            <a:endParaRPr lang="en-US" sz="2800" dirty="0"/>
          </a:p>
          <a:p>
            <a:pPr marL="857250" indent="-857250"/>
            <a:r>
              <a:rPr lang="en-US" sz="2800" dirty="0">
                <a:hlinkClick r:id="rId5" action="ppaction://hlinksldjump"/>
              </a:rPr>
              <a:t>Summarize how the American economy has evolved over time.</a:t>
            </a:r>
            <a:endParaRPr lang="en-US" sz="2800" dirty="0"/>
          </a:p>
          <a:p>
            <a:pPr marL="857250" indent="-857250"/>
            <a:r>
              <a:rPr lang="en-US" sz="2800" dirty="0">
                <a:hlinkClick r:id="rId6" action="ppaction://hlinksldjump"/>
              </a:rPr>
              <a:t>Provide examples of the ways business can impact quality of life.</a:t>
            </a:r>
            <a:endParaRPr lang="en-US" sz="2800" dirty="0"/>
          </a:p>
          <a:p>
            <a:pPr marL="857250" indent="-857250"/>
            <a:r>
              <a:rPr lang="en-US" sz="2800" dirty="0">
                <a:hlinkClick r:id="rId7" action="ppaction://hlinksldjump"/>
              </a:rPr>
              <a:t>Provide examples of the four ways business can advance the interests of society.</a:t>
            </a:r>
            <a:endParaRPr lang="en-US" sz="2800" dirty="0"/>
          </a:p>
        </p:txBody>
      </p:sp>
    </p:spTree>
    <p:extLst>
      <p:ext uri="{BB962C8B-B14F-4D97-AF65-F5344CB8AC3E}">
        <p14:creationId xmlns:p14="http://schemas.microsoft.com/office/powerpoint/2010/main" val="2812895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96" y="966971"/>
            <a:ext cx="7886700" cy="749397"/>
          </a:xfrm>
        </p:spPr>
        <p:txBody>
          <a:bodyPr>
            <a:normAutofit/>
          </a:bodyPr>
          <a:lstStyle/>
          <a:p>
            <a:r>
              <a:rPr lang="en-US" sz="3500" dirty="0">
                <a:solidFill>
                  <a:srgbClr val="8B0304"/>
                </a:solidFill>
                <a:latin typeface="Calibri" panose="020F0502020204030204" pitchFamily="34" charset="0"/>
              </a:rPr>
              <a:t>Learning Objectives </a:t>
            </a:r>
            <a:r>
              <a:rPr lang="en-US" sz="2500" dirty="0">
                <a:solidFill>
                  <a:srgbClr val="8B0304"/>
                </a:solidFill>
                <a:latin typeface="Calibri" panose="020F0502020204030204" pitchFamily="34" charset="0"/>
              </a:rPr>
              <a:t>2 of 2</a:t>
            </a:r>
          </a:p>
        </p:txBody>
      </p:sp>
      <p:sp>
        <p:nvSpPr>
          <p:cNvPr id="3" name="Content Placeholder 2"/>
          <p:cNvSpPr>
            <a:spLocks noGrp="1"/>
          </p:cNvSpPr>
          <p:nvPr>
            <p:ph idx="1"/>
          </p:nvPr>
        </p:nvSpPr>
        <p:spPr>
          <a:xfrm>
            <a:off x="615916" y="2002551"/>
            <a:ext cx="7886700" cy="3674223"/>
          </a:xfrm>
        </p:spPr>
        <p:txBody>
          <a:bodyPr>
            <a:noAutofit/>
          </a:bodyPr>
          <a:lstStyle/>
          <a:p>
            <a:pPr marL="775097" indent="-775097"/>
            <a:r>
              <a:rPr lang="en-US" sz="2600" dirty="0">
                <a:hlinkClick r:id="rId2" action="ppaction://hlinksldjump"/>
              </a:rPr>
              <a:t>Explain why entrepreneurs are important to an economy.</a:t>
            </a:r>
            <a:endParaRPr lang="en-US" sz="2600" dirty="0"/>
          </a:p>
          <a:p>
            <a:pPr marL="775097" indent="-775097"/>
            <a:r>
              <a:rPr lang="en-US" sz="2600" dirty="0">
                <a:hlinkClick r:id="rId3" action="ppaction://hlinksldjump"/>
              </a:rPr>
              <a:t>Apply the factors of production to a business setting.</a:t>
            </a:r>
            <a:endParaRPr lang="en-US" sz="2600" dirty="0"/>
          </a:p>
          <a:p>
            <a:pPr marL="775097" indent="-775097"/>
            <a:r>
              <a:rPr lang="en-US" sz="2600" dirty="0">
                <a:hlinkClick r:id="rId4" action="ppaction://hlinksldjump"/>
              </a:rPr>
              <a:t>Summarize the importance of the business environment.</a:t>
            </a:r>
            <a:endParaRPr lang="en-US" sz="2600" dirty="0"/>
          </a:p>
          <a:p>
            <a:pPr marL="775097" indent="-775097"/>
            <a:r>
              <a:rPr lang="en-US" sz="2600" dirty="0">
                <a:hlinkClick r:id="rId5" action="ppaction://hlinksldjump"/>
              </a:rPr>
              <a:t>Classify examples of the impacts of economic, political/legal/regulatory, technological, competitive, global, and social forces on businesses. </a:t>
            </a:r>
            <a:endParaRPr lang="en-US" sz="2600" dirty="0"/>
          </a:p>
          <a:p>
            <a:pPr marL="775097" indent="-775097"/>
            <a:r>
              <a:rPr lang="en-US" sz="2600" dirty="0">
                <a:hlinkClick r:id="rId6" action="ppaction://hlinksldjump"/>
              </a:rPr>
              <a:t>Recall the types of stakeholders that businesses must recognize and satisfy.</a:t>
            </a:r>
            <a:endParaRPr lang="en-US" sz="2800" dirty="0"/>
          </a:p>
          <a:p>
            <a:pPr marL="775097" indent="-775097"/>
            <a:endParaRPr lang="en-US" sz="2800" dirty="0"/>
          </a:p>
        </p:txBody>
      </p:sp>
    </p:spTree>
    <p:extLst>
      <p:ext uri="{BB962C8B-B14F-4D97-AF65-F5344CB8AC3E}">
        <p14:creationId xmlns:p14="http://schemas.microsoft.com/office/powerpoint/2010/main" val="221162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6858000" cy="1655762"/>
          </a:xfrm>
        </p:spPr>
        <p:txBody>
          <a:bodyPr>
            <a:noAutofit/>
          </a:bodyPr>
          <a:lstStyle/>
          <a:p>
            <a:pPr algn="l"/>
            <a:r>
              <a:rPr lang="en-US" sz="3500" b="1" dirty="0">
                <a:solidFill>
                  <a:srgbClr val="006699"/>
                </a:solidFill>
              </a:rPr>
              <a:t>Business and Profits</a:t>
            </a:r>
          </a:p>
        </p:txBody>
      </p:sp>
    </p:spTree>
    <p:extLst>
      <p:ext uri="{BB962C8B-B14F-4D97-AF65-F5344CB8AC3E}">
        <p14:creationId xmlns:p14="http://schemas.microsoft.com/office/powerpoint/2010/main" val="3383718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614" y="942384"/>
            <a:ext cx="7886700" cy="789738"/>
          </a:xfrm>
        </p:spPr>
        <p:txBody>
          <a:bodyPr>
            <a:normAutofit/>
          </a:body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1 of 6</a:t>
            </a:r>
            <a:endParaRPr lang="en-US" sz="2500" dirty="0">
              <a:solidFill>
                <a:srgbClr val="8B0304"/>
              </a:solidFill>
            </a:endParaRPr>
          </a:p>
        </p:txBody>
      </p:sp>
      <p:sp>
        <p:nvSpPr>
          <p:cNvPr id="3" name="Content Placeholder 2"/>
          <p:cNvSpPr>
            <a:spLocks noGrp="1"/>
          </p:cNvSpPr>
          <p:nvPr>
            <p:ph idx="1"/>
          </p:nvPr>
        </p:nvSpPr>
        <p:spPr>
          <a:xfrm>
            <a:off x="628650" y="1960115"/>
            <a:ext cx="7886700" cy="2029999"/>
          </a:xfrm>
        </p:spPr>
        <p:txBody>
          <a:bodyPr>
            <a:normAutofit/>
          </a:bodyPr>
          <a:lstStyle/>
          <a:p>
            <a:pPr>
              <a:lnSpc>
                <a:spcPct val="100000"/>
              </a:lnSpc>
            </a:pPr>
            <a:r>
              <a:rPr lang="en-IN" sz="2500" dirty="0">
                <a:latin typeface="Calibri" panose="020F0502020204030204" pitchFamily="34" charset="0"/>
              </a:rPr>
              <a:t>What is a Business Organization?</a:t>
            </a:r>
          </a:p>
          <a:p>
            <a:pPr marL="285750" indent="-285750">
              <a:lnSpc>
                <a:spcPct val="100000"/>
              </a:lnSpc>
              <a:buFont typeface="Wingdings" panose="05000000000000000000" pitchFamily="2" charset="2"/>
              <a:buChar char="§"/>
            </a:pPr>
            <a:r>
              <a:rPr lang="en-IN" sz="1800" b="1" dirty="0">
                <a:solidFill>
                  <a:srgbClr val="006699"/>
                </a:solidFill>
                <a:latin typeface="Calibri" panose="020F0502020204030204" pitchFamily="34" charset="0"/>
              </a:rPr>
              <a:t>Business</a:t>
            </a:r>
            <a:r>
              <a:rPr lang="en-IN" sz="1800" dirty="0">
                <a:solidFill>
                  <a:srgbClr val="006699"/>
                </a:solidFill>
                <a:latin typeface="Calibri" panose="020F0502020204030204" pitchFamily="34" charset="0"/>
              </a:rPr>
              <a:t> is any activity that seeks to make a profit by satisfying needs through selling goods or services and generating revenue.</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An</a:t>
            </a:r>
            <a:r>
              <a:rPr lang="en-IN" sz="1800" b="1" dirty="0">
                <a:solidFill>
                  <a:srgbClr val="006699"/>
                </a:solidFill>
                <a:latin typeface="Calibri" panose="020F0502020204030204" pitchFamily="34" charset="0"/>
              </a:rPr>
              <a:t> organization </a:t>
            </a:r>
            <a:r>
              <a:rPr lang="en-IN" sz="1800" dirty="0">
                <a:solidFill>
                  <a:srgbClr val="006699"/>
                </a:solidFill>
                <a:latin typeface="Calibri" panose="020F0502020204030204" pitchFamily="34" charset="0"/>
              </a:rPr>
              <a:t>is a group of people who work together to accomplish a specific purpose.</a:t>
            </a:r>
          </a:p>
          <a:p>
            <a:pPr>
              <a:lnSpc>
                <a:spcPct val="100000"/>
              </a:lnSpc>
              <a:spcBef>
                <a:spcPts val="0"/>
              </a:spcBef>
            </a:pPr>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a:p>
            <a:pPr marL="285750" indent="-285750">
              <a:buFont typeface="Wingdings" panose="05000000000000000000" pitchFamily="2" charset="2"/>
              <a:buChar char="§"/>
            </a:pPr>
            <a:endParaRPr lang="en-US" sz="1800" dirty="0">
              <a:solidFill>
                <a:srgbClr val="006699"/>
              </a:solidFill>
              <a:ea typeface="+mj-ea"/>
              <a:cs typeface="+mj-cs"/>
            </a:endParaRPr>
          </a:p>
          <a:p>
            <a:endParaRPr lang="en-US" sz="2500" dirty="0">
              <a:solidFill>
                <a:srgbClr val="006699"/>
              </a:solidFill>
            </a:endParaRPr>
          </a:p>
        </p:txBody>
      </p:sp>
    </p:spTree>
    <p:extLst>
      <p:ext uri="{BB962C8B-B14F-4D97-AF65-F5344CB8AC3E}">
        <p14:creationId xmlns:p14="http://schemas.microsoft.com/office/powerpoint/2010/main" val="1106126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614" y="942384"/>
            <a:ext cx="7886700" cy="789738"/>
          </a:xfrm>
        </p:spPr>
        <p:txBody>
          <a:bodyPr>
            <a:normAutofit/>
          </a:body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2 of 6</a:t>
            </a:r>
            <a:endParaRPr lang="en-US" sz="2500" dirty="0">
              <a:solidFill>
                <a:srgbClr val="8B0304"/>
              </a:solidFill>
            </a:endParaRPr>
          </a:p>
        </p:txBody>
      </p:sp>
      <p:sp>
        <p:nvSpPr>
          <p:cNvPr id="3" name="Content Placeholder 2"/>
          <p:cNvSpPr>
            <a:spLocks noGrp="1"/>
          </p:cNvSpPr>
          <p:nvPr>
            <p:ph idx="1"/>
          </p:nvPr>
        </p:nvSpPr>
        <p:spPr>
          <a:xfrm>
            <a:off x="628650" y="2043245"/>
            <a:ext cx="7886700" cy="2916685"/>
          </a:xfrm>
        </p:spPr>
        <p:txBody>
          <a:bodyPr>
            <a:normAutofit fontScale="70000" lnSpcReduction="20000"/>
          </a:bodyPr>
          <a:lstStyle/>
          <a:p>
            <a:r>
              <a:rPr lang="en-IN" sz="2800" dirty="0">
                <a:solidFill>
                  <a:srgbClr val="006699"/>
                </a:solidFill>
                <a:latin typeface="Calibri" panose="020F0502020204030204" pitchFamily="34" charset="0"/>
              </a:rPr>
              <a:t>There are two types of organizations:</a:t>
            </a:r>
          </a:p>
          <a:p>
            <a:r>
              <a:rPr lang="en-IN" sz="2800" dirty="0">
                <a:solidFill>
                  <a:srgbClr val="006699"/>
                </a:solidFill>
                <a:latin typeface="Calibri" panose="020F0502020204030204" pitchFamily="34" charset="0"/>
              </a:rPr>
              <a:t>1. </a:t>
            </a:r>
            <a:r>
              <a:rPr lang="en-IN" sz="2800" b="1" dirty="0">
                <a:solidFill>
                  <a:srgbClr val="006699"/>
                </a:solidFill>
                <a:latin typeface="Calibri" panose="020F0502020204030204" pitchFamily="34" charset="0"/>
              </a:rPr>
              <a:t>For-Profit Organizations</a:t>
            </a:r>
            <a:r>
              <a:rPr lang="en-IN" sz="2800" dirty="0">
                <a:solidFill>
                  <a:srgbClr val="006699"/>
                </a:solidFill>
                <a:latin typeface="Calibri" panose="020F0502020204030204" pitchFamily="34" charset="0"/>
              </a:rPr>
              <a:t>:</a:t>
            </a:r>
          </a:p>
          <a:p>
            <a:pPr marL="285750" indent="-285750">
              <a:buFont typeface="Wingdings" panose="05000000000000000000" pitchFamily="2" charset="2"/>
              <a:buChar char="§"/>
            </a:pPr>
            <a:r>
              <a:rPr lang="en-IN" sz="2800" dirty="0">
                <a:solidFill>
                  <a:srgbClr val="006699"/>
                </a:solidFill>
                <a:latin typeface="Calibri" panose="020F0502020204030204" pitchFamily="34" charset="0"/>
              </a:rPr>
              <a:t>For-profit organizations are formed to make money, or profits, by selling goods or services.</a:t>
            </a:r>
          </a:p>
          <a:p>
            <a:pPr marL="285750" indent="-285750">
              <a:buFont typeface="Wingdings" panose="05000000000000000000" pitchFamily="2" charset="2"/>
              <a:buChar char="§"/>
            </a:pPr>
            <a:r>
              <a:rPr lang="en-IN" sz="2800" dirty="0">
                <a:solidFill>
                  <a:srgbClr val="006699"/>
                </a:solidFill>
                <a:latin typeface="Calibri" panose="020F0502020204030204" pitchFamily="34" charset="0"/>
              </a:rPr>
              <a:t>Their measure of accomplishment is generally profit (or loss).</a:t>
            </a:r>
          </a:p>
          <a:p>
            <a:r>
              <a:rPr lang="en-IN" sz="2800" dirty="0">
                <a:solidFill>
                  <a:srgbClr val="006699"/>
                </a:solidFill>
                <a:latin typeface="Calibri" panose="020F0502020204030204" pitchFamily="34" charset="0"/>
              </a:rPr>
              <a:t>2. </a:t>
            </a:r>
            <a:r>
              <a:rPr lang="en-IN" sz="2800" b="1" dirty="0" err="1">
                <a:solidFill>
                  <a:srgbClr val="006699"/>
                </a:solidFill>
                <a:latin typeface="Calibri" panose="020F0502020204030204" pitchFamily="34" charset="0"/>
              </a:rPr>
              <a:t>Nonprofit</a:t>
            </a:r>
            <a:r>
              <a:rPr lang="en-IN" sz="2800" b="1" dirty="0">
                <a:solidFill>
                  <a:srgbClr val="006699"/>
                </a:solidFill>
                <a:latin typeface="Calibri" panose="020F0502020204030204" pitchFamily="34" charset="0"/>
              </a:rPr>
              <a:t> Organizations</a:t>
            </a:r>
            <a:r>
              <a:rPr lang="en-IN" sz="2800" dirty="0">
                <a:solidFill>
                  <a:srgbClr val="006699"/>
                </a:solidFill>
                <a:latin typeface="Calibri" panose="020F0502020204030204" pitchFamily="34" charset="0"/>
              </a:rPr>
              <a:t>:</a:t>
            </a:r>
          </a:p>
          <a:p>
            <a:pPr marL="285750" indent="-285750">
              <a:buFont typeface="Wingdings" panose="05000000000000000000" pitchFamily="2" charset="2"/>
              <a:buChar char="§"/>
            </a:pPr>
            <a:r>
              <a:rPr lang="en-IN" sz="2800" dirty="0">
                <a:solidFill>
                  <a:srgbClr val="006699"/>
                </a:solidFill>
                <a:latin typeface="Calibri" panose="020F0502020204030204" pitchFamily="34" charset="0"/>
              </a:rPr>
              <a:t>Their purpose is to earn enough profit to cover expenses and further their goals.</a:t>
            </a:r>
          </a:p>
          <a:p>
            <a:pPr marL="285750" indent="-285750">
              <a:buFont typeface="Wingdings" panose="05000000000000000000" pitchFamily="2" charset="2"/>
              <a:buChar char="§"/>
            </a:pPr>
            <a:r>
              <a:rPr lang="en-IN" sz="2800" dirty="0">
                <a:solidFill>
                  <a:srgbClr val="006699"/>
                </a:solidFill>
                <a:latin typeface="Calibri" panose="020F0502020204030204" pitchFamily="34" charset="0"/>
              </a:rPr>
              <a:t>Money and expenses are important, but success is measured by how effectively services are delivered, or by other criteria.</a:t>
            </a:r>
            <a:endParaRPr lang="en-IN" sz="2800" b="1"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a:p>
            <a:pPr marL="285750" indent="-285750">
              <a:buFont typeface="Wingdings" panose="05000000000000000000" pitchFamily="2" charset="2"/>
              <a:buChar char="§"/>
            </a:pPr>
            <a:endParaRPr lang="en-US" sz="1800" dirty="0">
              <a:solidFill>
                <a:srgbClr val="006699"/>
              </a:solidFill>
              <a:ea typeface="+mj-ea"/>
              <a:cs typeface="+mj-cs"/>
            </a:endParaRPr>
          </a:p>
          <a:p>
            <a:endParaRPr lang="en-US" sz="2500" dirty="0">
              <a:solidFill>
                <a:srgbClr val="006699"/>
              </a:solidFill>
            </a:endParaRPr>
          </a:p>
        </p:txBody>
      </p:sp>
    </p:spTree>
    <p:extLst>
      <p:ext uri="{BB962C8B-B14F-4D97-AF65-F5344CB8AC3E}">
        <p14:creationId xmlns:p14="http://schemas.microsoft.com/office/powerpoint/2010/main" val="54178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86999"/>
            <a:ext cx="7886700" cy="2410199"/>
          </a:xfrm>
        </p:spPr>
        <p:txBody>
          <a:bodyPr>
            <a:normAutofit/>
          </a:bodyPr>
          <a:lstStyle/>
          <a:p>
            <a:r>
              <a:rPr lang="en-IN" sz="2500" dirty="0">
                <a:latin typeface="Calibri" panose="020F0502020204030204" pitchFamily="34" charset="0"/>
              </a:rPr>
              <a:t>What is the Lifeblood of Business? Profit!</a:t>
            </a:r>
          </a:p>
          <a:p>
            <a:pPr>
              <a:spcBef>
                <a:spcPts val="1200"/>
              </a:spcBef>
            </a:pPr>
            <a:r>
              <a:rPr lang="en-IN" sz="1800" b="1" dirty="0">
                <a:solidFill>
                  <a:srgbClr val="006699"/>
                </a:solidFill>
                <a:latin typeface="Calibri" panose="020F0502020204030204" pitchFamily="34" charset="0"/>
              </a:rPr>
              <a:t>Selling</a:t>
            </a:r>
            <a:r>
              <a:rPr lang="en-IN" sz="1800" dirty="0">
                <a:solidFill>
                  <a:srgbClr val="006699"/>
                </a:solidFill>
                <a:latin typeface="Calibri" panose="020F0502020204030204" pitchFamily="34" charset="0"/>
              </a:rPr>
              <a:t> is the exchange of goods or services for an agreed sum of money. The measure generally is profit (or loss).</a:t>
            </a:r>
          </a:p>
          <a:p>
            <a:pPr>
              <a:spcBef>
                <a:spcPts val="1200"/>
              </a:spcBef>
            </a:pPr>
            <a:r>
              <a:rPr lang="en-IN" sz="1800" b="1" dirty="0">
                <a:solidFill>
                  <a:srgbClr val="006699"/>
                </a:solidFill>
                <a:latin typeface="Calibri" panose="020F0502020204030204" pitchFamily="34" charset="0"/>
              </a:rPr>
              <a:t>Revenue </a:t>
            </a:r>
            <a:r>
              <a:rPr lang="en-IN" sz="1800" dirty="0">
                <a:solidFill>
                  <a:srgbClr val="006699"/>
                </a:solidFill>
                <a:latin typeface="Calibri" panose="020F0502020204030204" pitchFamily="34" charset="0"/>
              </a:rPr>
              <a:t>is the total amount of money that the selling of goods or services produces during a defined period of time.</a:t>
            </a:r>
          </a:p>
          <a:p>
            <a:pPr>
              <a:spcBef>
                <a:spcPts val="1200"/>
              </a:spcBef>
            </a:pPr>
            <a:r>
              <a:rPr lang="en-IN" sz="1800" b="1" dirty="0">
                <a:solidFill>
                  <a:srgbClr val="006699"/>
                </a:solidFill>
                <a:latin typeface="Calibri" panose="020F0502020204030204" pitchFamily="34" charset="0"/>
              </a:rPr>
              <a:t>Expenses </a:t>
            </a:r>
            <a:r>
              <a:rPr lang="en-IN" sz="1800" dirty="0">
                <a:solidFill>
                  <a:srgbClr val="006699"/>
                </a:solidFill>
                <a:latin typeface="Calibri" panose="020F0502020204030204" pitchFamily="34" charset="0"/>
              </a:rPr>
              <a:t>are the costs incurred in running the business, such as salaries and rents.</a:t>
            </a:r>
            <a:endParaRPr lang="en-US" sz="1800" dirty="0">
              <a:solidFill>
                <a:srgbClr val="006699"/>
              </a:solidFill>
              <a:latin typeface="Calibri" panose="020F0502020204030204" pitchFamily="34" charset="0"/>
              <a:ea typeface="+mj-ea"/>
              <a:cs typeface="Helvetica" panose="020B0604020202020204" pitchFamily="34" charset="0"/>
            </a:endParaRPr>
          </a:p>
        </p:txBody>
      </p:sp>
      <p:sp>
        <p:nvSpPr>
          <p:cNvPr id="4" name="Rounded Rectangle 3"/>
          <p:cNvSpPr/>
          <p:nvPr/>
        </p:nvSpPr>
        <p:spPr>
          <a:xfrm>
            <a:off x="1650978" y="5056656"/>
            <a:ext cx="1451779" cy="540327"/>
          </a:xfrm>
          <a:prstGeom prst="roundRect">
            <a:avLst/>
          </a:prstGeom>
          <a:solidFill>
            <a:schemeClr val="accent2">
              <a:lumMod val="50000"/>
            </a:schemeClr>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atin typeface="Calibri" panose="020F0502020204030204" pitchFamily="34" charset="0"/>
              </a:rPr>
              <a:t>Revenue</a:t>
            </a:r>
          </a:p>
        </p:txBody>
      </p:sp>
      <p:sp>
        <p:nvSpPr>
          <p:cNvPr id="5" name="Minus 4"/>
          <p:cNvSpPr/>
          <p:nvPr/>
        </p:nvSpPr>
        <p:spPr>
          <a:xfrm>
            <a:off x="3331514" y="5281099"/>
            <a:ext cx="274320" cy="91440"/>
          </a:xfrm>
          <a:prstGeom prst="mathMin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350"/>
          </a:p>
        </p:txBody>
      </p:sp>
      <p:sp>
        <p:nvSpPr>
          <p:cNvPr id="6" name="Rounded Rectangle 5"/>
          <p:cNvSpPr/>
          <p:nvPr/>
        </p:nvSpPr>
        <p:spPr>
          <a:xfrm>
            <a:off x="3834591" y="5056656"/>
            <a:ext cx="1474817" cy="540327"/>
          </a:xfrm>
          <a:prstGeom prst="round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atin typeface="Calibri" panose="020F0502020204030204" pitchFamily="34" charset="0"/>
              </a:rPr>
              <a:t>Expenses</a:t>
            </a:r>
          </a:p>
        </p:txBody>
      </p:sp>
      <p:sp>
        <p:nvSpPr>
          <p:cNvPr id="7" name="Equal 6"/>
          <p:cNvSpPr/>
          <p:nvPr/>
        </p:nvSpPr>
        <p:spPr>
          <a:xfrm>
            <a:off x="5383497" y="5085340"/>
            <a:ext cx="365760" cy="574397"/>
          </a:xfrm>
          <a:prstGeom prst="mathEqual">
            <a:avLst>
              <a:gd name="adj1" fmla="val 5468"/>
              <a:gd name="adj2" fmla="val 11760"/>
            </a:avLst>
          </a:prstGeom>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350">
              <a:solidFill>
                <a:schemeClr val="tx1"/>
              </a:solidFill>
            </a:endParaRPr>
          </a:p>
        </p:txBody>
      </p:sp>
      <p:sp>
        <p:nvSpPr>
          <p:cNvPr id="9" name="Rounded Rectangle 8"/>
          <p:cNvSpPr/>
          <p:nvPr/>
        </p:nvSpPr>
        <p:spPr>
          <a:xfrm>
            <a:off x="5858362" y="5082322"/>
            <a:ext cx="1404504" cy="540327"/>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atin typeface="Calibri" panose="020F0502020204030204" pitchFamily="34" charset="0"/>
              </a:rPr>
              <a:t>Profit</a:t>
            </a:r>
          </a:p>
        </p:txBody>
      </p:sp>
      <p:sp>
        <p:nvSpPr>
          <p:cNvPr id="11" name="Title 1"/>
          <p:cNvSpPr>
            <a:spLocks noGrp="1"/>
          </p:cNvSpPr>
          <p:nvPr>
            <p:ph type="title"/>
          </p:nvPr>
        </p:nvSpPr>
        <p:spPr>
          <a:xfrm>
            <a:off x="610615" y="942370"/>
            <a:ext cx="7886700" cy="789738"/>
          </a:xfrm>
        </p:spPr>
        <p:txBody>
          <a:bodyPr>
            <a:normAutofit/>
          </a:body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3 of 6</a:t>
            </a:r>
            <a:endParaRPr lang="en-US" sz="2500" dirty="0">
              <a:solidFill>
                <a:srgbClr val="8B0304"/>
              </a:solidFill>
            </a:endParaRPr>
          </a:p>
        </p:txBody>
      </p:sp>
    </p:spTree>
    <p:extLst>
      <p:ext uri="{BB962C8B-B14F-4D97-AF65-F5344CB8AC3E}">
        <p14:creationId xmlns:p14="http://schemas.microsoft.com/office/powerpoint/2010/main" val="347762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2001265"/>
            <a:ext cx="7886700" cy="4351338"/>
          </a:xfrm>
        </p:spPr>
        <p:txBody>
          <a:bodyPr/>
          <a:lstStyle/>
          <a:p>
            <a:r>
              <a:rPr lang="en-IN" sz="2500" dirty="0">
                <a:latin typeface="Calibri" panose="020F0502020204030204" pitchFamily="34" charset="0"/>
              </a:rPr>
              <a:t>What Do Businesses Sell?</a:t>
            </a:r>
            <a:endParaRPr lang="en-IN" sz="2500" dirty="0">
              <a:solidFill>
                <a:srgbClr val="8B0304"/>
              </a:solidFill>
              <a:latin typeface="Calibri" panose="020F0502020204030204" pitchFamily="34" charset="0"/>
            </a:endParaRPr>
          </a:p>
          <a:p>
            <a:pPr marL="285750" indent="-285750">
              <a:spcBef>
                <a:spcPts val="600"/>
              </a:spcBef>
              <a:buFont typeface="Wingdings" panose="05000000000000000000" pitchFamily="2" charset="2"/>
              <a:buChar char="§"/>
            </a:pPr>
            <a:r>
              <a:rPr lang="en-IN" sz="1800" b="1" dirty="0">
                <a:solidFill>
                  <a:srgbClr val="006699"/>
                </a:solidFill>
                <a:latin typeface="Calibri" panose="020F0502020204030204" pitchFamily="34" charset="0"/>
              </a:rPr>
              <a:t>Goods</a:t>
            </a:r>
          </a:p>
          <a:p>
            <a:pPr marL="290513" lvl="1" indent="0">
              <a:spcBef>
                <a:spcPts val="600"/>
              </a:spcBef>
              <a:buNone/>
            </a:pPr>
            <a:r>
              <a:rPr lang="en-US" sz="1800" dirty="0"/>
              <a:t>Tangible products—things you can touch—such as food, clothing, appliances, gasoline, and books.</a:t>
            </a:r>
          </a:p>
          <a:p>
            <a:pPr marL="285750" indent="-285750">
              <a:spcBef>
                <a:spcPts val="600"/>
              </a:spcBef>
              <a:buFont typeface="Wingdings" panose="05000000000000000000" pitchFamily="2" charset="2"/>
              <a:buChar char="§"/>
            </a:pPr>
            <a:r>
              <a:rPr lang="en-IN" sz="1800" b="1" dirty="0">
                <a:solidFill>
                  <a:srgbClr val="006699"/>
                </a:solidFill>
                <a:latin typeface="Calibri" panose="020F0502020204030204" pitchFamily="34" charset="0"/>
              </a:rPr>
              <a:t>Services</a:t>
            </a:r>
          </a:p>
          <a:p>
            <a:pPr marL="290513" lvl="1" indent="0">
              <a:spcBef>
                <a:spcPts val="600"/>
              </a:spcBef>
              <a:buNone/>
            </a:pPr>
            <a:r>
              <a:rPr lang="en-US" sz="1800" dirty="0"/>
              <a:t>Intangible products—things you can’t touch—such as education, recreation, or health care. Think of a service as a task that is performed for you, such as house cleaning or tax preparation.</a:t>
            </a:r>
            <a:endParaRPr lang="en-IN" sz="1800" dirty="0">
              <a:latin typeface="Calibri" panose="020F0502020204030204" pitchFamily="34" charset="0"/>
            </a:endParaRPr>
          </a:p>
        </p:txBody>
      </p:sp>
      <p:sp>
        <p:nvSpPr>
          <p:cNvPr id="8" name="Title 1"/>
          <p:cNvSpPr>
            <a:spLocks noGrp="1"/>
          </p:cNvSpPr>
          <p:nvPr>
            <p:ph type="title"/>
          </p:nvPr>
        </p:nvSpPr>
        <p:spPr>
          <a:xfrm>
            <a:off x="610617" y="942380"/>
            <a:ext cx="7886700" cy="789738"/>
          </a:xfrm>
        </p:spPr>
        <p:txBody>
          <a:bodyPr>
            <a:normAutofit/>
          </a:body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4 of 6</a:t>
            </a:r>
            <a:endParaRPr lang="en-US" sz="2500" dirty="0">
              <a:solidFill>
                <a:srgbClr val="8B0304"/>
              </a:solidFill>
            </a:endParaRPr>
          </a:p>
        </p:txBody>
      </p:sp>
    </p:spTree>
    <p:extLst>
      <p:ext uri="{BB962C8B-B14F-4D97-AF65-F5344CB8AC3E}">
        <p14:creationId xmlns:p14="http://schemas.microsoft.com/office/powerpoint/2010/main" val="1149635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2001265"/>
            <a:ext cx="7886700" cy="4351338"/>
          </a:xfrm>
        </p:spPr>
        <p:txBody>
          <a:bodyPr/>
          <a:lstStyle/>
          <a:p>
            <a:r>
              <a:rPr lang="en-IN" sz="2500" dirty="0">
                <a:solidFill>
                  <a:srgbClr val="8B0304"/>
                </a:solidFill>
                <a:latin typeface="Calibri" panose="020F0502020204030204" pitchFamily="34" charset="0"/>
              </a:rPr>
              <a:t>Evolution of U.S. Economy</a:t>
            </a:r>
            <a:endParaRPr lang="en-IN" sz="2100" dirty="0">
              <a:solidFill>
                <a:srgbClr val="8B0304"/>
              </a:solidFill>
              <a:latin typeface="Calibri" panose="020F0502020204030204" pitchFamily="34" charset="0"/>
            </a:endParaRPr>
          </a:p>
          <a:p>
            <a:r>
              <a:rPr lang="en-IN" sz="1800" b="1" dirty="0">
                <a:solidFill>
                  <a:srgbClr val="006699"/>
                </a:solidFill>
                <a:latin typeface="Calibri" panose="020F0502020204030204" pitchFamily="34" charset="0"/>
              </a:rPr>
              <a:t>Evolution of US Economy</a:t>
            </a:r>
          </a:p>
          <a:p>
            <a:pPr>
              <a:spcBef>
                <a:spcPts val="600"/>
              </a:spcBef>
            </a:pPr>
            <a:r>
              <a:rPr lang="en-IN" sz="1800" dirty="0">
                <a:solidFill>
                  <a:srgbClr val="006699"/>
                </a:solidFill>
                <a:latin typeface="Calibri" panose="020F0502020204030204" pitchFamily="34" charset="0"/>
              </a:rPr>
              <a:t>From an economic standpoint, most American jobs today involve the provision of services. But the dominance of service-based jobs is relatively recent. </a:t>
            </a:r>
          </a:p>
          <a:p>
            <a:pPr marL="285750" indent="-285750">
              <a:spcBef>
                <a:spcPts val="600"/>
              </a:spcBef>
              <a:buFont typeface="Wingdings" panose="05000000000000000000" pitchFamily="2" charset="2"/>
              <a:buChar char="§"/>
            </a:pPr>
            <a:r>
              <a:rPr lang="en-IN" sz="1800" b="1" dirty="0">
                <a:solidFill>
                  <a:srgbClr val="006699"/>
                </a:solidFill>
                <a:latin typeface="Calibri" panose="020F0502020204030204" pitchFamily="34" charset="0"/>
              </a:rPr>
              <a:t>18th Century: The Agricultural Economy </a:t>
            </a:r>
          </a:p>
          <a:p>
            <a:pPr marL="290513" lvl="1" indent="0">
              <a:spcBef>
                <a:spcPts val="600"/>
              </a:spcBef>
              <a:buNone/>
            </a:pPr>
            <a:r>
              <a:rPr lang="en-IN" sz="1800" dirty="0">
                <a:latin typeface="Calibri" panose="020F0502020204030204" pitchFamily="34" charset="0"/>
              </a:rPr>
              <a:t>Majority of the workforce was employed </a:t>
            </a:r>
            <a:r>
              <a:rPr lang="en-IN" sz="1000"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in agriculture and producing and selling goods made on farms and ranches, </a:t>
            </a:r>
            <a:r>
              <a:rPr lang="en-US" sz="1800" dirty="0"/>
              <a:t>such as food, cotton, and leather.</a:t>
            </a:r>
            <a:endParaRPr lang="en-IN" sz="1800" dirty="0">
              <a:solidFill>
                <a:srgbClr val="006699"/>
              </a:solidFill>
              <a:latin typeface="Calibri" panose="020F0502020204030204" pitchFamily="34" charset="0"/>
            </a:endParaRPr>
          </a:p>
          <a:p>
            <a:pPr marL="285750" indent="-285750">
              <a:spcBef>
                <a:spcPts val="600"/>
              </a:spcBef>
              <a:buFont typeface="Wingdings" panose="05000000000000000000" pitchFamily="2" charset="2"/>
              <a:buChar char="§"/>
            </a:pPr>
            <a:r>
              <a:rPr lang="en-IN" sz="1800" b="1" dirty="0">
                <a:solidFill>
                  <a:srgbClr val="006699"/>
                </a:solidFill>
                <a:latin typeface="Calibri" panose="020F0502020204030204" pitchFamily="34" charset="0"/>
              </a:rPr>
              <a:t>Late 19th – Early 20th Century: The Industrial Economy</a:t>
            </a:r>
          </a:p>
          <a:p>
            <a:pPr marL="290513" lvl="1" indent="0">
              <a:spcBef>
                <a:spcPts val="600"/>
              </a:spcBef>
              <a:buNone/>
            </a:pPr>
            <a:r>
              <a:rPr lang="en-IN" sz="1800" dirty="0">
                <a:latin typeface="Calibri" panose="020F0502020204030204" pitchFamily="34" charset="0"/>
              </a:rPr>
              <a:t>The United States evolved from an agricultural nation into an industrial one, selling manufactured goods: steel, tools, and machines—</a:t>
            </a:r>
            <a:r>
              <a:rPr lang="en-US" sz="1800" dirty="0"/>
              <a:t>everything from ships, locomotives, automobiles, to toasters.</a:t>
            </a:r>
            <a:endParaRPr lang="en-IN" sz="1800" dirty="0">
              <a:latin typeface="Calibri" panose="020F0502020204030204" pitchFamily="34" charset="0"/>
            </a:endParaRPr>
          </a:p>
        </p:txBody>
      </p:sp>
      <p:sp>
        <p:nvSpPr>
          <p:cNvPr id="8" name="Title 1"/>
          <p:cNvSpPr>
            <a:spLocks noGrp="1"/>
          </p:cNvSpPr>
          <p:nvPr>
            <p:ph type="title"/>
          </p:nvPr>
        </p:nvSpPr>
        <p:spPr>
          <a:xfrm>
            <a:off x="610617" y="942380"/>
            <a:ext cx="7886700" cy="789738"/>
          </a:xfrm>
        </p:spPr>
        <p:txBody>
          <a:bodyPr>
            <a:normAutofit/>
          </a:body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5 of 6</a:t>
            </a:r>
            <a:endParaRPr lang="en-US" sz="2500" dirty="0">
              <a:solidFill>
                <a:srgbClr val="8B0304"/>
              </a:solidFill>
            </a:endParaRPr>
          </a:p>
        </p:txBody>
      </p:sp>
    </p:spTree>
    <p:extLst>
      <p:ext uri="{BB962C8B-B14F-4D97-AF65-F5344CB8AC3E}">
        <p14:creationId xmlns:p14="http://schemas.microsoft.com/office/powerpoint/2010/main" val="317912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87404"/>
            <a:ext cx="7886700" cy="3122894"/>
          </a:xfrm>
        </p:spPr>
        <p:txBody>
          <a:bodyPr/>
          <a:lstStyle/>
          <a:p>
            <a:r>
              <a:rPr lang="en-IN" sz="2500" dirty="0">
                <a:solidFill>
                  <a:srgbClr val="8B0304"/>
                </a:solidFill>
                <a:latin typeface="Calibri" panose="020F0502020204030204" pitchFamily="34" charset="0"/>
              </a:rPr>
              <a:t>Evolution of U.S. Economy</a:t>
            </a:r>
            <a:endParaRPr lang="en-IN" sz="2100" dirty="0">
              <a:solidFill>
                <a:srgbClr val="8B0304"/>
              </a:solidFill>
              <a:latin typeface="Calibri" panose="020F0502020204030204" pitchFamily="34" charset="0"/>
            </a:endParaRPr>
          </a:p>
          <a:p>
            <a:pPr marL="285750" indent="-285750">
              <a:buFont typeface="Wingdings" panose="05000000000000000000" pitchFamily="2" charset="2"/>
              <a:buChar char="§"/>
            </a:pPr>
            <a:r>
              <a:rPr lang="en-IN" sz="1800" b="1" dirty="0">
                <a:solidFill>
                  <a:srgbClr val="006699"/>
                </a:solidFill>
                <a:latin typeface="Calibri" panose="020F0502020204030204" pitchFamily="34" charset="0"/>
              </a:rPr>
              <a:t>Late 20th Century: The Service Economy</a:t>
            </a:r>
          </a:p>
          <a:p>
            <a:pPr marL="568325" lvl="1" indent="-277813">
              <a:buFont typeface="Calibri" panose="020F0502020204030204" pitchFamily="34" charset="0"/>
              <a:buChar char="–"/>
            </a:pPr>
            <a:r>
              <a:rPr lang="en-IN" sz="1800" dirty="0">
                <a:latin typeface="Calibri" panose="020F0502020204030204" pitchFamily="34" charset="0"/>
              </a:rPr>
              <a:t>The United States has evolved into the service economy today. </a:t>
            </a:r>
          </a:p>
          <a:p>
            <a:pPr marL="568325" lvl="1" indent="-277813">
              <a:buFont typeface="Calibri" panose="020F0502020204030204" pitchFamily="34" charset="0"/>
              <a:buChar char="–"/>
            </a:pPr>
            <a:r>
              <a:rPr lang="en-IN" sz="1800" dirty="0">
                <a:latin typeface="Calibri" panose="020F0502020204030204" pitchFamily="34" charset="0"/>
              </a:rPr>
              <a:t>Jobs involving manufacturing of goods have declined mainly because of global outsourcing or offshoring.</a:t>
            </a:r>
          </a:p>
          <a:p>
            <a:pPr marL="568325" lvl="1" indent="-277813">
              <a:buFont typeface="Calibri" panose="020F0502020204030204" pitchFamily="34" charset="0"/>
              <a:buChar char="–"/>
            </a:pPr>
            <a:r>
              <a:rPr lang="en-IN" sz="1800" dirty="0">
                <a:latin typeface="Calibri" panose="020F0502020204030204" pitchFamily="34" charset="0"/>
              </a:rPr>
              <a:t>Many of the goods formerly produced in the United States are now produced overseas.</a:t>
            </a:r>
          </a:p>
          <a:p>
            <a:pPr marL="568325" lvl="1" indent="-277813">
              <a:buFont typeface="Calibri" panose="020F0502020204030204" pitchFamily="34" charset="0"/>
              <a:buChar char="–"/>
            </a:pPr>
            <a:r>
              <a:rPr lang="en-IN" sz="1800" dirty="0">
                <a:latin typeface="Calibri" panose="020F0502020204030204" pitchFamily="34" charset="0"/>
              </a:rPr>
              <a:t>In the last 25 years, most new jobs can be attributed to the growth in services: entertainment, health, legal, financial, educational, personal care, repair, janitorial, and other services. </a:t>
            </a:r>
          </a:p>
          <a:p>
            <a:endParaRPr lang="en-IN" sz="1800" b="1" dirty="0">
              <a:latin typeface="Calibri" panose="020F0502020204030204" pitchFamily="34" charset="0"/>
            </a:endParaRPr>
          </a:p>
        </p:txBody>
      </p:sp>
      <p:sp>
        <p:nvSpPr>
          <p:cNvPr id="5" name="Rectangle 4"/>
          <p:cNvSpPr/>
          <p:nvPr/>
        </p:nvSpPr>
        <p:spPr>
          <a:xfrm>
            <a:off x="7751762" y="5948544"/>
            <a:ext cx="844270" cy="369332"/>
          </a:xfrm>
          <a:prstGeom prst="rect">
            <a:avLst/>
          </a:prstGeom>
        </p:spPr>
        <p:txBody>
          <a:bodyPr wrap="none">
            <a:spAutoFit/>
          </a:bodyPr>
          <a:lstStyle/>
          <a:p>
            <a:r>
              <a:rPr lang="en-US" altLang="en-US" dirty="0">
                <a:solidFill>
                  <a:srgbClr val="006699"/>
                </a:solidFill>
                <a:latin typeface="Calibri" panose="020F0502020204030204" pitchFamily="34" charset="0"/>
              </a:rPr>
              <a:t>LO 1-3 </a:t>
            </a:r>
            <a:endParaRPr lang="en-IN" dirty="0">
              <a:solidFill>
                <a:srgbClr val="006699"/>
              </a:solidFill>
              <a:latin typeface="Calibri" panose="020F0502020204030204" pitchFamily="34" charset="0"/>
            </a:endParaRPr>
          </a:p>
        </p:txBody>
      </p:sp>
      <p:sp>
        <p:nvSpPr>
          <p:cNvPr id="8" name="Title 1"/>
          <p:cNvSpPr txBox="1">
            <a:spLocks/>
          </p:cNvSpPr>
          <p:nvPr/>
        </p:nvSpPr>
        <p:spPr>
          <a:xfrm>
            <a:off x="610613" y="942367"/>
            <a:ext cx="7886700" cy="789738"/>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2625" b="1" kern="1200">
                <a:solidFill>
                  <a:srgbClr val="990000"/>
                </a:solidFill>
                <a:latin typeface="+mn-lt"/>
                <a:ea typeface="+mj-ea"/>
                <a:cs typeface="+mj-cs"/>
              </a:defRPr>
            </a:lvl1pPr>
          </a:lstStyle>
          <a:p>
            <a:r>
              <a:rPr lang="en-IN" sz="3500" dirty="0">
                <a:solidFill>
                  <a:srgbClr val="8B0304"/>
                </a:solidFill>
                <a:latin typeface="Calibri" panose="020F0502020204030204" pitchFamily="34" charset="0"/>
              </a:rPr>
              <a:t>Business and Profits </a:t>
            </a:r>
            <a:r>
              <a:rPr lang="en-IN" sz="2500" dirty="0">
                <a:solidFill>
                  <a:srgbClr val="8B0304"/>
                </a:solidFill>
                <a:latin typeface="Calibri" panose="020F0502020204030204" pitchFamily="34" charset="0"/>
              </a:rPr>
              <a:t>6 of 6</a:t>
            </a:r>
            <a:endParaRPr lang="en-US" sz="2500" dirty="0">
              <a:solidFill>
                <a:srgbClr val="8B0304"/>
              </a:solidFill>
            </a:endParaRPr>
          </a:p>
        </p:txBody>
      </p:sp>
    </p:spTree>
    <p:extLst>
      <p:ext uri="{BB962C8B-B14F-4D97-AF65-F5344CB8AC3E}">
        <p14:creationId xmlns:p14="http://schemas.microsoft.com/office/powerpoint/2010/main" val="1549630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6858000" cy="889280"/>
          </a:xfrm>
        </p:spPr>
        <p:txBody>
          <a:bodyPr>
            <a:noAutofit/>
          </a:bodyPr>
          <a:lstStyle/>
          <a:p>
            <a:pPr algn="l"/>
            <a:r>
              <a:rPr lang="en-IN" sz="3600" b="1" dirty="0">
                <a:solidFill>
                  <a:srgbClr val="006699"/>
                </a:solidFill>
                <a:latin typeface="Calibri" panose="020F0502020204030204" pitchFamily="34" charset="0"/>
              </a:rPr>
              <a:t>Role Business Plays in Society</a:t>
            </a:r>
            <a:endParaRPr lang="en-US" sz="3500" b="1" dirty="0">
              <a:solidFill>
                <a:srgbClr val="006699"/>
              </a:solidFill>
            </a:endParaRPr>
          </a:p>
        </p:txBody>
      </p:sp>
    </p:spTree>
    <p:extLst>
      <p:ext uri="{BB962C8B-B14F-4D97-AF65-F5344CB8AC3E}">
        <p14:creationId xmlns:p14="http://schemas.microsoft.com/office/powerpoint/2010/main" val="3942642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203" y="1958881"/>
            <a:ext cx="7886700" cy="5151154"/>
          </a:xfrm>
        </p:spPr>
        <p:txBody>
          <a:bodyPr>
            <a:normAutofit/>
          </a:bodyPr>
          <a:lstStyle/>
          <a:p>
            <a:pPr>
              <a:lnSpc>
                <a:spcPct val="100000"/>
              </a:lnSpc>
              <a:spcBef>
                <a:spcPts val="1200"/>
              </a:spcBef>
            </a:pPr>
            <a:r>
              <a:rPr lang="en-IN" sz="2500" dirty="0">
                <a:latin typeface="Calibri" panose="020F0502020204030204" pitchFamily="34" charset="0"/>
              </a:rPr>
              <a:t>How Does Business Improve a Society’s Standard of Living?</a:t>
            </a:r>
          </a:p>
          <a:p>
            <a:pPr marL="342900" indent="-342900">
              <a:lnSpc>
                <a:spcPct val="100000"/>
              </a:lnSpc>
              <a:spcBef>
                <a:spcPts val="1200"/>
              </a:spcBef>
              <a:buFont typeface="Wingdings" panose="05000000000000000000" pitchFamily="2" charset="2"/>
              <a:buChar char="§"/>
            </a:pPr>
            <a:r>
              <a:rPr lang="en-US" sz="1800" b="1" dirty="0">
                <a:solidFill>
                  <a:srgbClr val="006699"/>
                </a:solidFill>
                <a:latin typeface="Calibri" panose="020F0502020204030204" pitchFamily="34" charset="0"/>
              </a:rPr>
              <a:t>How Does Business Improve a Society’s Standard of Living?</a:t>
            </a:r>
          </a:p>
          <a:p>
            <a:pPr lvl="0" defTabSz="914400">
              <a:lnSpc>
                <a:spcPct val="100000"/>
              </a:lnSpc>
              <a:spcBef>
                <a:spcPts val="0"/>
              </a:spcBef>
              <a:defRPr/>
            </a:pPr>
            <a:r>
              <a:rPr lang="en-US" sz="1800" dirty="0">
                <a:solidFill>
                  <a:srgbClr val="006699"/>
                </a:solidFill>
                <a:latin typeface="Calibri" panose="020F0502020204030204" pitchFamily="34" charset="0"/>
              </a:rPr>
              <a:t>      Business can raise people’s standard of living, enabling them to live</a:t>
            </a:r>
          </a:p>
          <a:p>
            <a:pPr lvl="0" defTabSz="914400">
              <a:lnSpc>
                <a:spcPct val="100000"/>
              </a:lnSpc>
              <a:spcBef>
                <a:spcPts val="0"/>
              </a:spcBef>
              <a:defRPr/>
            </a:pPr>
            <a:r>
              <a:rPr lang="en-US" sz="1800" dirty="0">
                <a:solidFill>
                  <a:srgbClr val="006699"/>
                </a:solidFill>
                <a:latin typeface="Calibri" panose="020F0502020204030204" pitchFamily="34" charset="0"/>
              </a:rPr>
              <a:t>      longer and healthier lives. It can also contribute to human knowledge.</a:t>
            </a:r>
          </a:p>
          <a:p>
            <a:pPr marL="342900" lvl="0" indent="-342900" defTabSz="914400">
              <a:lnSpc>
                <a:spcPct val="100000"/>
              </a:lnSpc>
              <a:spcBef>
                <a:spcPts val="0"/>
              </a:spcBef>
              <a:buFont typeface="Wingdings" panose="05000000000000000000" pitchFamily="2" charset="2"/>
              <a:buChar char="§"/>
              <a:defRPr/>
            </a:pPr>
            <a:endParaRPr lang="en-US" sz="1800" b="1" i="1" dirty="0">
              <a:solidFill>
                <a:srgbClr val="006699"/>
              </a:solidFill>
              <a:latin typeface="Calibri" panose="020F0502020204030204" pitchFamily="34" charset="0"/>
            </a:endParaRPr>
          </a:p>
          <a:p>
            <a:pPr marL="342900" lvl="0" indent="-342900" defTabSz="914400">
              <a:lnSpc>
                <a:spcPct val="100000"/>
              </a:lnSpc>
              <a:spcBef>
                <a:spcPts val="0"/>
              </a:spcBef>
              <a:buFont typeface="Wingdings" panose="05000000000000000000" pitchFamily="2" charset="2"/>
              <a:buChar char="§"/>
              <a:defRPr/>
            </a:pPr>
            <a:r>
              <a:rPr lang="en-US" sz="1800" b="1" i="1" dirty="0">
                <a:solidFill>
                  <a:srgbClr val="006699"/>
                </a:solidFill>
                <a:latin typeface="Calibri" panose="020F0502020204030204" pitchFamily="34" charset="0"/>
              </a:rPr>
              <a:t>Quality of life</a:t>
            </a:r>
            <a:r>
              <a:rPr lang="en-US" sz="1800" dirty="0">
                <a:solidFill>
                  <a:srgbClr val="006699"/>
                </a:solidFill>
                <a:latin typeface="Calibri" panose="020F0502020204030204" pitchFamily="34" charset="0"/>
              </a:rPr>
              <a:t> refers to a society’s general well-being as measured by standard of living, health care, educational opportunities, freedom, happiness, and environmental health. A synonym for quality of life is </a:t>
            </a:r>
            <a:r>
              <a:rPr lang="en-US" sz="1800" i="1" dirty="0">
                <a:solidFill>
                  <a:srgbClr val="006699"/>
                </a:solidFill>
                <a:latin typeface="Calibri" panose="020F0502020204030204" pitchFamily="34" charset="0"/>
              </a:rPr>
              <a:t>human development</a:t>
            </a:r>
            <a:r>
              <a:rPr lang="en-US" sz="1800" dirty="0">
                <a:solidFill>
                  <a:srgbClr val="006699"/>
                </a:solidFill>
                <a:latin typeface="Calibri" panose="020F0502020204030204" pitchFamily="34" charset="0"/>
              </a:rPr>
              <a:t>.</a:t>
            </a:r>
          </a:p>
          <a:p>
            <a:pPr marL="342900" lvl="0" indent="-342900" defTabSz="914400">
              <a:lnSpc>
                <a:spcPct val="100000"/>
              </a:lnSpc>
              <a:spcBef>
                <a:spcPts val="0"/>
              </a:spcBef>
              <a:buFont typeface="Wingdings" panose="05000000000000000000" pitchFamily="2" charset="2"/>
              <a:buChar char="§"/>
              <a:defRPr/>
            </a:pPr>
            <a:endParaRPr lang="en-US" sz="1800" dirty="0">
              <a:solidFill>
                <a:srgbClr val="006699"/>
              </a:solidFill>
              <a:latin typeface="Calibri" panose="020F0502020204030204" pitchFamily="34" charset="0"/>
            </a:endParaRPr>
          </a:p>
          <a:p>
            <a:pPr marL="342900" lvl="0" indent="-342900" defTabSz="914400">
              <a:lnSpc>
                <a:spcPct val="100000"/>
              </a:lnSpc>
              <a:spcBef>
                <a:spcPts val="0"/>
              </a:spcBef>
              <a:buFont typeface="Wingdings" panose="05000000000000000000" pitchFamily="2" charset="2"/>
              <a:buChar char="§"/>
              <a:defRPr/>
            </a:pPr>
            <a:r>
              <a:rPr lang="en-US" sz="1800" dirty="0">
                <a:solidFill>
                  <a:srgbClr val="006699"/>
                </a:solidFill>
                <a:latin typeface="Calibri" panose="020F0502020204030204" pitchFamily="34" charset="0"/>
              </a:rPr>
              <a:t>A large part of an enhanced quality of life results from an improved </a:t>
            </a:r>
            <a:r>
              <a:rPr lang="en-US" sz="1800" b="1" i="1" dirty="0">
                <a:solidFill>
                  <a:srgbClr val="006699"/>
                </a:solidFill>
                <a:latin typeface="Calibri" panose="020F0502020204030204" pitchFamily="34" charset="0"/>
              </a:rPr>
              <a:t>standard of living</a:t>
            </a:r>
            <a:r>
              <a:rPr lang="en-US" sz="1800" i="1" dirty="0">
                <a:solidFill>
                  <a:srgbClr val="006699"/>
                </a:solidFill>
                <a:latin typeface="Calibri" panose="020F0502020204030204" pitchFamily="34" charset="0"/>
              </a:rPr>
              <a:t>,</a:t>
            </a:r>
            <a:r>
              <a:rPr lang="en-US" sz="1800" dirty="0">
                <a:solidFill>
                  <a:srgbClr val="006699"/>
                </a:solidFill>
                <a:latin typeface="Calibri" panose="020F0502020204030204" pitchFamily="34" charset="0"/>
              </a:rPr>
              <a:t> which is defined by how many goods and services people can buy with the money they have.</a:t>
            </a:r>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a:p>
            <a:pPr marL="457200" lvl="1" indent="0">
              <a:buNone/>
            </a:pPr>
            <a:r>
              <a:rPr lang="en-IN" sz="1800" dirty="0">
                <a:latin typeface="Calibri" panose="020F0502020204030204" pitchFamily="34" charset="0"/>
              </a:rPr>
              <a:t>               </a:t>
            </a:r>
          </a:p>
          <a:p>
            <a:endParaRPr lang="en-IN" sz="2500" dirty="0">
              <a:latin typeface="Calibri" panose="020F0502020204030204" pitchFamily="34" charset="0"/>
            </a:endParaRPr>
          </a:p>
        </p:txBody>
      </p:sp>
      <p:sp>
        <p:nvSpPr>
          <p:cNvPr id="9" name="Title 1"/>
          <p:cNvSpPr>
            <a:spLocks noGrp="1"/>
          </p:cNvSpPr>
          <p:nvPr>
            <p:ph type="title"/>
          </p:nvPr>
        </p:nvSpPr>
        <p:spPr>
          <a:xfrm>
            <a:off x="613162" y="946205"/>
            <a:ext cx="7886700" cy="772058"/>
          </a:xfrm>
        </p:spPr>
        <p:txBody>
          <a:bodyPr>
            <a:normAutofit/>
          </a:bodyPr>
          <a:lstStyle/>
          <a:p>
            <a:r>
              <a:rPr lang="en-IN" sz="3500" dirty="0">
                <a:solidFill>
                  <a:srgbClr val="8B0304"/>
                </a:solidFill>
                <a:latin typeface="Calibri" panose="020F0502020204030204" pitchFamily="34" charset="0"/>
              </a:rPr>
              <a:t>Role Business Plays in Society</a:t>
            </a:r>
            <a:endParaRPr lang="en-US" sz="2500" dirty="0">
              <a:solidFill>
                <a:srgbClr val="8B0304"/>
              </a:solidFill>
              <a:latin typeface="Calibri" panose="020F0502020204030204" pitchFamily="34" charset="0"/>
            </a:endParaRPr>
          </a:p>
        </p:txBody>
      </p:sp>
    </p:spTree>
    <p:extLst>
      <p:ext uri="{BB962C8B-B14F-4D97-AF65-F5344CB8AC3E}">
        <p14:creationId xmlns:p14="http://schemas.microsoft.com/office/powerpoint/2010/main" val="332919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203" y="1958890"/>
            <a:ext cx="7886700" cy="5151154"/>
          </a:xfrm>
        </p:spPr>
        <p:txBody>
          <a:bodyPr>
            <a:normAutofit/>
          </a:bodyPr>
          <a:lstStyle/>
          <a:p>
            <a:pPr>
              <a:lnSpc>
                <a:spcPct val="100000"/>
              </a:lnSpc>
              <a:spcBef>
                <a:spcPts val="1200"/>
              </a:spcBef>
            </a:pPr>
            <a:r>
              <a:rPr lang="en-IN" sz="2500" dirty="0">
                <a:latin typeface="Calibri" panose="020F0502020204030204" pitchFamily="34" charset="0"/>
              </a:rPr>
              <a:t>How Do Businesses Support Community Interests?</a:t>
            </a:r>
          </a:p>
          <a:p>
            <a:pPr>
              <a:lnSpc>
                <a:spcPct val="100000"/>
              </a:lnSpc>
              <a:spcBef>
                <a:spcPts val="300"/>
              </a:spcBef>
            </a:pPr>
            <a:r>
              <a:rPr lang="en-IN" sz="1800" b="1" dirty="0">
                <a:solidFill>
                  <a:srgbClr val="006699"/>
                </a:solidFill>
                <a:latin typeface="Calibri" panose="020F0502020204030204" pitchFamily="34" charset="0"/>
              </a:rPr>
              <a:t>Producing Goods And Services</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Food and medicine, clothing and shelter, heat and light, and many other necessities of life are produced by businesses. </a:t>
            </a:r>
            <a:endParaRPr lang="en-IN" sz="1800" b="1" dirty="0">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Providing </a:t>
            </a:r>
            <a:r>
              <a:rPr lang="en-IN" sz="1800" b="1" dirty="0" err="1">
                <a:solidFill>
                  <a:srgbClr val="006699"/>
                </a:solidFill>
                <a:latin typeface="Calibri" panose="020F0502020204030204" pitchFamily="34" charset="0"/>
              </a:rPr>
              <a:t>Paychecks</a:t>
            </a:r>
            <a:r>
              <a:rPr lang="en-IN" sz="1800" b="1" dirty="0">
                <a:solidFill>
                  <a:srgbClr val="006699"/>
                </a:solidFill>
                <a:latin typeface="Calibri" panose="020F0502020204030204" pitchFamily="34" charset="0"/>
              </a:rPr>
              <a:t> and Benefits for Employees</a:t>
            </a:r>
          </a:p>
          <a:p>
            <a:pPr marL="342900" indent="-342900">
              <a:spcBef>
                <a:spcPts val="600"/>
              </a:spcBef>
              <a:buFont typeface="Wingdings" panose="05000000000000000000" pitchFamily="2" charset="2"/>
              <a:buChar char="§"/>
            </a:pPr>
            <a:r>
              <a:rPr lang="en-IN" sz="1800" dirty="0">
                <a:solidFill>
                  <a:srgbClr val="006699"/>
                </a:solidFill>
                <a:latin typeface="Calibri" panose="020F0502020204030204" pitchFamily="34" charset="0"/>
              </a:rPr>
              <a:t>Employees depend on an individual business owner for </a:t>
            </a:r>
            <a:r>
              <a:rPr lang="en-IN" sz="1800" dirty="0" err="1">
                <a:solidFill>
                  <a:srgbClr val="006699"/>
                </a:solidFill>
                <a:latin typeface="Calibri" panose="020F0502020204030204" pitchFamily="34" charset="0"/>
              </a:rPr>
              <a:t>paychecks</a:t>
            </a:r>
            <a:r>
              <a:rPr lang="en-IN" sz="1800" dirty="0">
                <a:solidFill>
                  <a:srgbClr val="006699"/>
                </a:solidFill>
                <a:latin typeface="Calibri" panose="020F0502020204030204" pitchFamily="34" charset="0"/>
              </a:rPr>
              <a:t> and benefits, such as health insurance and a retirement plan.</a:t>
            </a:r>
          </a:p>
          <a:p>
            <a:pPr>
              <a:spcBef>
                <a:spcPts val="300"/>
              </a:spcBef>
            </a:pPr>
            <a:r>
              <a:rPr lang="en-IN" sz="1800" b="1" dirty="0">
                <a:solidFill>
                  <a:srgbClr val="006699"/>
                </a:solidFill>
                <a:latin typeface="Calibri" panose="020F0502020204030204" pitchFamily="34" charset="0"/>
              </a:rPr>
              <a:t>Paying Taxes to Support Government Spending</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Most businesses pay taxes.</a:t>
            </a:r>
          </a:p>
          <a:p>
            <a:pPr marL="342900" indent="-342900">
              <a:spcBef>
                <a:spcPts val="0"/>
              </a:spcBef>
              <a:buFont typeface="Wingdings" panose="05000000000000000000" pitchFamily="2" charset="2"/>
              <a:buChar char="§"/>
            </a:pPr>
            <a:r>
              <a:rPr lang="en-IN" sz="1800" dirty="0">
                <a:solidFill>
                  <a:srgbClr val="006699"/>
                </a:solidFill>
                <a:latin typeface="Calibri" panose="020F0502020204030204" pitchFamily="34" charset="0"/>
              </a:rPr>
              <a:t>The employees pay payroll taxes.</a:t>
            </a:r>
          </a:p>
          <a:p>
            <a:pPr marL="342900" indent="-342900">
              <a:spcBef>
                <a:spcPts val="0"/>
              </a:spcBef>
              <a:buFont typeface="Wingdings" panose="05000000000000000000" pitchFamily="2" charset="2"/>
              <a:buChar char="§"/>
            </a:pPr>
            <a:r>
              <a:rPr lang="en-IN" sz="1800" dirty="0">
                <a:solidFill>
                  <a:srgbClr val="006699"/>
                </a:solidFill>
                <a:latin typeface="Calibri" panose="020F0502020204030204" pitchFamily="34" charset="0"/>
              </a:rPr>
              <a:t>The government uses these taxes to fund public health programs, social security, education, </a:t>
            </a:r>
            <a:r>
              <a:rPr lang="en-IN" sz="1800" dirty="0" err="1">
                <a:solidFill>
                  <a:srgbClr val="006699"/>
                </a:solidFill>
                <a:latin typeface="Calibri" panose="020F0502020204030204" pitchFamily="34" charset="0"/>
              </a:rPr>
              <a:t>defense</a:t>
            </a:r>
            <a:r>
              <a:rPr lang="en-IN" sz="1800" dirty="0">
                <a:solidFill>
                  <a:srgbClr val="006699"/>
                </a:solidFill>
                <a:latin typeface="Calibri" panose="020F0502020204030204" pitchFamily="34" charset="0"/>
              </a:rPr>
              <a:t>, and other essential services.</a:t>
            </a:r>
            <a:r>
              <a:rPr lang="en-IN" sz="1800" dirty="0">
                <a:latin typeface="Calibri" panose="020F0502020204030204" pitchFamily="34" charset="0"/>
              </a:rPr>
              <a:t> </a:t>
            </a:r>
          </a:p>
          <a:p>
            <a:pPr>
              <a:spcBef>
                <a:spcPts val="600"/>
              </a:spcBef>
            </a:pPr>
            <a:r>
              <a:rPr lang="en-IN" sz="1800" b="1" dirty="0">
                <a:solidFill>
                  <a:srgbClr val="006699"/>
                </a:solidFill>
                <a:latin typeface="Calibri" panose="020F0502020204030204" pitchFamily="34" charset="0"/>
              </a:rPr>
              <a:t>Donating Funds, Goods, and Services for Community Causes </a:t>
            </a:r>
          </a:p>
          <a:p>
            <a:pPr marL="342900" lvl="1" indent="-342900">
              <a:spcBef>
                <a:spcPts val="600"/>
              </a:spcBef>
              <a:buFont typeface="Wingdings" panose="05000000000000000000" pitchFamily="2" charset="2"/>
              <a:buChar char="§"/>
            </a:pPr>
            <a:r>
              <a:rPr lang="en-IN" sz="1800" dirty="0">
                <a:latin typeface="Calibri" panose="020F0502020204030204" pitchFamily="34" charset="0"/>
              </a:rPr>
              <a:t>In many communities, businesses are strong supporters of charitable causes.</a:t>
            </a:r>
            <a:endParaRPr lang="en-IN" sz="1800" b="1" dirty="0">
              <a:latin typeface="Calibri" panose="020F0502020204030204" pitchFamily="34" charset="0"/>
            </a:endParaRPr>
          </a:p>
          <a:p>
            <a:endParaRPr lang="en-IN" sz="1800" dirty="0">
              <a:solidFill>
                <a:srgbClr val="006699"/>
              </a:solidFill>
              <a:latin typeface="Calibri" panose="020F0502020204030204" pitchFamily="34" charset="0"/>
            </a:endParaRPr>
          </a:p>
          <a:p>
            <a:pPr marL="457200" lvl="1" indent="0">
              <a:buNone/>
            </a:pPr>
            <a:r>
              <a:rPr lang="en-IN" sz="1800" dirty="0">
                <a:latin typeface="Calibri" panose="020F0502020204030204" pitchFamily="34" charset="0"/>
              </a:rPr>
              <a:t>               </a:t>
            </a:r>
          </a:p>
          <a:p>
            <a:endParaRPr lang="en-IN" sz="2500" dirty="0">
              <a:latin typeface="Calibri" panose="020F0502020204030204" pitchFamily="34" charset="0"/>
            </a:endParaRPr>
          </a:p>
        </p:txBody>
      </p:sp>
      <p:sp>
        <p:nvSpPr>
          <p:cNvPr id="9" name="Title 1"/>
          <p:cNvSpPr>
            <a:spLocks noGrp="1"/>
          </p:cNvSpPr>
          <p:nvPr>
            <p:ph type="title"/>
          </p:nvPr>
        </p:nvSpPr>
        <p:spPr>
          <a:xfrm>
            <a:off x="613166" y="946201"/>
            <a:ext cx="7886700" cy="772058"/>
          </a:xfrm>
        </p:spPr>
        <p:txBody>
          <a:bodyPr>
            <a:normAutofit/>
          </a:bodyPr>
          <a:lstStyle/>
          <a:p>
            <a:r>
              <a:rPr lang="en-IN" sz="3500" dirty="0">
                <a:solidFill>
                  <a:srgbClr val="8B0304"/>
                </a:solidFill>
                <a:latin typeface="Calibri" panose="020F0502020204030204" pitchFamily="34" charset="0"/>
              </a:rPr>
              <a:t>Role Business Plays in Society</a:t>
            </a:r>
            <a:endParaRPr lang="en-US" sz="2500" dirty="0">
              <a:solidFill>
                <a:srgbClr val="8B0304"/>
              </a:solidFill>
              <a:latin typeface="Calibri" panose="020F0502020204030204" pitchFamily="34" charset="0"/>
            </a:endParaRPr>
          </a:p>
        </p:txBody>
      </p:sp>
    </p:spTree>
    <p:extLst>
      <p:ext uri="{BB962C8B-B14F-4D97-AF65-F5344CB8AC3E}">
        <p14:creationId xmlns:p14="http://schemas.microsoft.com/office/powerpoint/2010/main" val="4073837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6858000" cy="1655762"/>
          </a:xfrm>
        </p:spPr>
        <p:txBody>
          <a:bodyPr>
            <a:noAutofit/>
          </a:bodyPr>
          <a:lstStyle/>
          <a:p>
            <a:pPr algn="l"/>
            <a:r>
              <a:rPr lang="en-IN" sz="3600" b="1" dirty="0">
                <a:solidFill>
                  <a:srgbClr val="006699"/>
                </a:solidFill>
                <a:latin typeface="Calibri" panose="020F0502020204030204" pitchFamily="34" charset="0"/>
              </a:rPr>
              <a:t>Entrepreneurial Risks and Factors of Production</a:t>
            </a:r>
            <a:endParaRPr lang="en-US" sz="3600" b="1" dirty="0">
              <a:solidFill>
                <a:srgbClr val="006699"/>
              </a:solidFill>
              <a:latin typeface="Calibri" panose="020F0502020204030204" pitchFamily="34" charset="0"/>
            </a:endParaRPr>
          </a:p>
        </p:txBody>
      </p:sp>
    </p:spTree>
    <p:extLst>
      <p:ext uri="{BB962C8B-B14F-4D97-AF65-F5344CB8AC3E}">
        <p14:creationId xmlns:p14="http://schemas.microsoft.com/office/powerpoint/2010/main" val="1545315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58" y="1216364"/>
            <a:ext cx="7886700" cy="723572"/>
          </a:xfrm>
        </p:spPr>
        <p:txBody>
          <a:bodyPr>
            <a:noAutofit/>
          </a:bodyPr>
          <a:lstStyle/>
          <a:p>
            <a:r>
              <a:rPr lang="en-IN" sz="3500" dirty="0">
                <a:solidFill>
                  <a:srgbClr val="8B0304"/>
                </a:solidFill>
                <a:latin typeface="Calibri" panose="020F0502020204030204" pitchFamily="34" charset="0"/>
              </a:rPr>
              <a:t>Entrepreneurial Risks and Factors of Production </a:t>
            </a:r>
            <a:r>
              <a:rPr lang="en-IN" sz="2500" dirty="0">
                <a:solidFill>
                  <a:srgbClr val="8B0304"/>
                </a:solidFill>
                <a:latin typeface="Calibri" panose="020F0502020204030204" pitchFamily="34" charset="0"/>
              </a:rPr>
              <a:t>1 of 3</a:t>
            </a:r>
            <a:endParaRPr lang="en-US" sz="2500" dirty="0">
              <a:solidFill>
                <a:srgbClr val="8B0304"/>
              </a:solidFill>
            </a:endParaRPr>
          </a:p>
        </p:txBody>
      </p:sp>
      <p:sp>
        <p:nvSpPr>
          <p:cNvPr id="11" name="Content Placeholder 2"/>
          <p:cNvSpPr>
            <a:spLocks noGrp="1"/>
          </p:cNvSpPr>
          <p:nvPr>
            <p:ph idx="1"/>
          </p:nvPr>
        </p:nvSpPr>
        <p:spPr>
          <a:xfrm>
            <a:off x="628650" y="2001259"/>
            <a:ext cx="7886700" cy="3620435"/>
          </a:xfrm>
        </p:spPr>
        <p:txBody>
          <a:bodyPr>
            <a:normAutofit/>
          </a:bodyPr>
          <a:lstStyle/>
          <a:p>
            <a:r>
              <a:rPr lang="en-IN" sz="2500" dirty="0">
                <a:latin typeface="Calibri" panose="020F0502020204030204" pitchFamily="34" charset="0"/>
              </a:rPr>
              <a:t>What is an Entrepreneur? How Does an Entrepreneur Differ from an Employee?</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Entrepreneurs take a larger risk in starting a business compared to employees who work for that business.</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An entrepreneur:</a:t>
            </a:r>
          </a:p>
          <a:p>
            <a:pPr lvl="1">
              <a:buFont typeface="Calibri" panose="020F0502020204030204" pitchFamily="34" charset="0"/>
              <a:buChar char="–"/>
            </a:pPr>
            <a:r>
              <a:rPr lang="en-IN" sz="1800" dirty="0">
                <a:solidFill>
                  <a:srgbClr val="006699"/>
                </a:solidFill>
                <a:latin typeface="Calibri" panose="020F0502020204030204" pitchFamily="34" charset="0"/>
              </a:rPr>
              <a:t>sees a new opportunity for a product or service.</a:t>
            </a:r>
          </a:p>
          <a:p>
            <a:pPr lvl="1">
              <a:buFont typeface="Calibri" panose="020F0502020204030204" pitchFamily="34" charset="0"/>
              <a:buChar char="–"/>
            </a:pPr>
            <a:r>
              <a:rPr lang="en-IN" sz="1800" dirty="0">
                <a:solidFill>
                  <a:srgbClr val="006699"/>
                </a:solidFill>
                <a:latin typeface="Calibri" panose="020F0502020204030204" pitchFamily="34" charset="0"/>
              </a:rPr>
              <a:t>risks time and money to start a business with the goal of making a profit.</a:t>
            </a:r>
          </a:p>
          <a:p>
            <a:pPr lvl="1">
              <a:buFont typeface="Calibri" panose="020F0502020204030204" pitchFamily="34" charset="0"/>
              <a:buChar char="–"/>
            </a:pPr>
            <a:r>
              <a:rPr lang="en-IN" sz="1800" dirty="0">
                <a:solidFill>
                  <a:srgbClr val="006699"/>
                </a:solidFill>
                <a:latin typeface="Calibri" panose="020F0502020204030204" pitchFamily="34" charset="0"/>
              </a:rPr>
              <a:t>provides the catalyst that drives innovation.</a:t>
            </a:r>
          </a:p>
          <a:p>
            <a:pPr lvl="1">
              <a:buFont typeface="Calibri" panose="020F0502020204030204" pitchFamily="34" charset="0"/>
              <a:buChar char="–"/>
            </a:pPr>
            <a:r>
              <a:rPr lang="en-IN" sz="1800" dirty="0">
                <a:solidFill>
                  <a:srgbClr val="006699"/>
                </a:solidFill>
                <a:latin typeface="Calibri" panose="020F0502020204030204" pitchFamily="34" charset="0"/>
              </a:rPr>
              <a:t>start small businesses designed to capture, meet, or improve a segment of a </a:t>
            </a:r>
          </a:p>
          <a:p>
            <a:pPr lvl="1" indent="0">
              <a:buNone/>
            </a:pPr>
            <a:r>
              <a:rPr lang="en-IN" sz="1800" dirty="0">
                <a:latin typeface="Calibri" panose="020F0502020204030204" pitchFamily="34" charset="0"/>
              </a:rPr>
              <a:t>    </a:t>
            </a:r>
            <a:r>
              <a:rPr lang="en-IN" sz="1800" dirty="0">
                <a:solidFill>
                  <a:srgbClr val="006699"/>
                </a:solidFill>
                <a:latin typeface="Calibri" panose="020F0502020204030204" pitchFamily="34" charset="0"/>
              </a:rPr>
              <a:t>market that is underserved.</a:t>
            </a:r>
          </a:p>
          <a:p>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p:txBody>
      </p:sp>
    </p:spTree>
    <p:extLst>
      <p:ext uri="{BB962C8B-B14F-4D97-AF65-F5344CB8AC3E}">
        <p14:creationId xmlns:p14="http://schemas.microsoft.com/office/powerpoint/2010/main" val="1513918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2001256"/>
            <a:ext cx="7886700" cy="4732052"/>
          </a:xfrm>
        </p:spPr>
        <p:txBody>
          <a:bodyPr>
            <a:normAutofit/>
          </a:bodyPr>
          <a:lstStyle/>
          <a:p>
            <a:r>
              <a:rPr lang="en-IN" sz="2500" dirty="0">
                <a:latin typeface="Calibri" panose="020F0502020204030204" pitchFamily="34" charset="0"/>
              </a:rPr>
              <a:t>What Are the Factors of Production? </a:t>
            </a:r>
            <a:endParaRPr lang="en-IN" sz="1800" dirty="0">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Entrepreneurship</a:t>
            </a:r>
          </a:p>
          <a:p>
            <a:pPr marL="285750" indent="-285750">
              <a:spcBef>
                <a:spcPts val="600"/>
              </a:spcBef>
              <a:buFont typeface="Wingdings" panose="05000000000000000000" pitchFamily="2" charset="2"/>
              <a:buChar char="§"/>
            </a:pPr>
            <a:r>
              <a:rPr lang="en-IN" sz="1800" dirty="0">
                <a:solidFill>
                  <a:srgbClr val="006699"/>
                </a:solidFill>
                <a:latin typeface="Calibri" panose="020F0502020204030204" pitchFamily="34" charset="0"/>
              </a:rPr>
              <a:t>An entrepreneur is a person who sees a new opportunity for a product or service, and risks his or her time and money to start a business with the goal of making a profit.</a:t>
            </a:r>
            <a:endParaRPr lang="en-IN" sz="1200" dirty="0">
              <a:solidFill>
                <a:srgbClr val="006699"/>
              </a:solidFill>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Natural Resources</a:t>
            </a:r>
          </a:p>
          <a:p>
            <a:pPr marL="285750" indent="-285750">
              <a:spcBef>
                <a:spcPts val="600"/>
              </a:spcBef>
              <a:buFont typeface="Wingdings" panose="05000000000000000000" pitchFamily="2" charset="2"/>
              <a:buChar char="§"/>
            </a:pPr>
            <a:r>
              <a:rPr lang="en-IN" sz="1800" dirty="0">
                <a:solidFill>
                  <a:srgbClr val="006699"/>
                </a:solidFill>
                <a:latin typeface="Calibri" panose="020F0502020204030204" pitchFamily="34" charset="0"/>
              </a:rPr>
              <a:t>Natural resources consist of production inputs that are useful just as they appear in nature. </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Most natural resources can’t be created; they must be mined, harvested, harnessed, or purified. </a:t>
            </a:r>
            <a:endParaRPr lang="en-IN" sz="1200" dirty="0">
              <a:solidFill>
                <a:srgbClr val="006699"/>
              </a:solidFill>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Capital</a:t>
            </a:r>
          </a:p>
          <a:p>
            <a:pPr marL="285750" indent="-285750">
              <a:spcBef>
                <a:spcPts val="600"/>
              </a:spcBef>
              <a:buFont typeface="Wingdings" panose="05000000000000000000" pitchFamily="2" charset="2"/>
              <a:buChar char="§"/>
            </a:pPr>
            <a:r>
              <a:rPr lang="en-IN" sz="1800" dirty="0">
                <a:solidFill>
                  <a:srgbClr val="006699"/>
                </a:solidFill>
                <a:latin typeface="Calibri" panose="020F0502020204030204" pitchFamily="34" charset="0"/>
              </a:rPr>
              <a:t>Capital includes the buildings, machines, tools, and technology used to produce goods and services.  </a:t>
            </a:r>
          </a:p>
          <a:p>
            <a:pPr marL="285750" indent="-285750">
              <a:spcBef>
                <a:spcPts val="600"/>
              </a:spcBef>
              <a:buFont typeface="Wingdings" panose="05000000000000000000" pitchFamily="2" charset="2"/>
              <a:buChar char="§"/>
            </a:pPr>
            <a:r>
              <a:rPr lang="en-IN" sz="1800" dirty="0">
                <a:solidFill>
                  <a:srgbClr val="006699"/>
                </a:solidFill>
                <a:latin typeface="Calibri" panose="020F0502020204030204" pitchFamily="34" charset="0"/>
              </a:rPr>
              <a:t>Money is used to acquire buildings and other capital. </a:t>
            </a:r>
          </a:p>
          <a:p>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p:txBody>
      </p:sp>
      <p:sp>
        <p:nvSpPr>
          <p:cNvPr id="7" name="Title 1"/>
          <p:cNvSpPr>
            <a:spLocks noGrp="1"/>
          </p:cNvSpPr>
          <p:nvPr>
            <p:ph type="title"/>
          </p:nvPr>
        </p:nvSpPr>
        <p:spPr>
          <a:xfrm>
            <a:off x="612755" y="1216365"/>
            <a:ext cx="7886700" cy="723572"/>
          </a:xfrm>
        </p:spPr>
        <p:txBody>
          <a:bodyPr>
            <a:noAutofit/>
          </a:bodyPr>
          <a:lstStyle/>
          <a:p>
            <a:r>
              <a:rPr lang="en-IN" sz="3500" dirty="0">
                <a:solidFill>
                  <a:srgbClr val="8B0304"/>
                </a:solidFill>
                <a:latin typeface="Calibri" panose="020F0502020204030204" pitchFamily="34" charset="0"/>
              </a:rPr>
              <a:t>Entrepreneurial Risks and Factors of Production </a:t>
            </a:r>
            <a:r>
              <a:rPr lang="en-IN" sz="2500" dirty="0">
                <a:solidFill>
                  <a:srgbClr val="8B0304"/>
                </a:solidFill>
                <a:latin typeface="Calibri" panose="020F0502020204030204" pitchFamily="34" charset="0"/>
              </a:rPr>
              <a:t>2 of 3</a:t>
            </a:r>
            <a:endParaRPr lang="en-US" sz="2500" dirty="0">
              <a:solidFill>
                <a:srgbClr val="8B0304"/>
              </a:solidFill>
            </a:endParaRPr>
          </a:p>
        </p:txBody>
      </p:sp>
    </p:spTree>
    <p:extLst>
      <p:ext uri="{BB962C8B-B14F-4D97-AF65-F5344CB8AC3E}">
        <p14:creationId xmlns:p14="http://schemas.microsoft.com/office/powerpoint/2010/main" val="3311023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1987401"/>
            <a:ext cx="7886700" cy="5151154"/>
          </a:xfrm>
        </p:spPr>
        <p:txBody>
          <a:bodyPr>
            <a:normAutofit/>
          </a:bodyPr>
          <a:lstStyle/>
          <a:p>
            <a:r>
              <a:rPr lang="en-IN" sz="2500" dirty="0">
                <a:latin typeface="Calibri" panose="020F0502020204030204" pitchFamily="34" charset="0"/>
              </a:rPr>
              <a:t>What Are the Factors of Production? </a:t>
            </a:r>
            <a:r>
              <a:rPr lang="en-IN" sz="1800" dirty="0">
                <a:latin typeface="Calibri" panose="020F0502020204030204" pitchFamily="34" charset="0"/>
              </a:rPr>
              <a:t>continued</a:t>
            </a:r>
          </a:p>
          <a:p>
            <a:r>
              <a:rPr lang="en-IN" sz="1800" b="1" dirty="0">
                <a:solidFill>
                  <a:srgbClr val="006699"/>
                </a:solidFill>
                <a:latin typeface="Calibri" panose="020F0502020204030204" pitchFamily="34" charset="0"/>
              </a:rPr>
              <a:t>Human Resources</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Human resources consist of </a:t>
            </a:r>
            <a:r>
              <a:rPr lang="en-IN" sz="1800" dirty="0" err="1">
                <a:solidFill>
                  <a:srgbClr val="006699"/>
                </a:solidFill>
                <a:latin typeface="Calibri" panose="020F0502020204030204" pitchFamily="34" charset="0"/>
              </a:rPr>
              <a:t>labor</a:t>
            </a:r>
            <a:r>
              <a:rPr lang="en-IN" sz="1800" dirty="0">
                <a:solidFill>
                  <a:srgbClr val="006699"/>
                </a:solidFill>
                <a:latin typeface="Calibri" panose="020F0502020204030204" pitchFamily="34" charset="0"/>
              </a:rPr>
              <a:t>, the physical and intellectual contributions of a company’s employees. </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It</a:t>
            </a:r>
            <a:r>
              <a:rPr lang="en-IN" sz="1800" dirty="0">
                <a:latin typeface="Calibri" panose="020F0502020204030204" pitchFamily="34" charset="0"/>
              </a:rPr>
              <a:t> </a:t>
            </a:r>
            <a:r>
              <a:rPr lang="en-IN" sz="1800" dirty="0">
                <a:solidFill>
                  <a:srgbClr val="006699"/>
                </a:solidFill>
                <a:latin typeface="Calibri" panose="020F0502020204030204" pitchFamily="34" charset="0"/>
              </a:rPr>
              <a:t>includes the buildings, machines, tools, and technology used to produce goods and services.  </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Money is used to acquire buildings and other capital.</a:t>
            </a:r>
            <a:r>
              <a:rPr lang="en-IN" sz="1800" dirty="0">
                <a:latin typeface="Calibri" panose="020F0502020204030204" pitchFamily="34" charset="0"/>
              </a:rPr>
              <a:t> </a:t>
            </a:r>
          </a:p>
          <a:p>
            <a:pPr>
              <a:lnSpc>
                <a:spcPct val="100000"/>
              </a:lnSpc>
              <a:spcBef>
                <a:spcPts val="0"/>
              </a:spcBef>
            </a:pPr>
            <a:endParaRPr lang="en-IN" sz="1400" dirty="0">
              <a:latin typeface="Calibri" panose="020F0502020204030204" pitchFamily="34" charset="0"/>
            </a:endParaRPr>
          </a:p>
          <a:p>
            <a:r>
              <a:rPr lang="en-IN" sz="1800" b="1" dirty="0">
                <a:solidFill>
                  <a:srgbClr val="006699"/>
                </a:solidFill>
                <a:latin typeface="Calibri" panose="020F0502020204030204" pitchFamily="34" charset="0"/>
              </a:rPr>
              <a:t>Knowledge</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Knowledge is composed of the facts, information, and skills acquired by a person through training or education.</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It is revolutionized by computers, telecommunications, and databases.</a:t>
            </a:r>
          </a:p>
          <a:p>
            <a:endParaRPr lang="en-IN" sz="1800" b="1" dirty="0">
              <a:solidFill>
                <a:srgbClr val="006699"/>
              </a:solidFill>
              <a:latin typeface="Calibri" panose="020F0502020204030204" pitchFamily="34" charset="0"/>
            </a:endParaRPr>
          </a:p>
          <a:p>
            <a:pPr marL="285750" indent="-285750">
              <a:buFont typeface="Wingdings" panose="05000000000000000000" pitchFamily="2" charset="2"/>
              <a:buChar char="§"/>
            </a:pPr>
            <a:endParaRPr lang="en-IN" sz="1800" dirty="0">
              <a:solidFill>
                <a:srgbClr val="006699"/>
              </a:solidFill>
              <a:latin typeface="Calibri" panose="020F0502020204030204" pitchFamily="34" charset="0"/>
            </a:endParaRPr>
          </a:p>
          <a:p>
            <a:pPr marL="285750" indent="-285750">
              <a:buFont typeface="Wingdings" panose="05000000000000000000" pitchFamily="2" charset="2"/>
              <a:buChar char="§"/>
            </a:pPr>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p:txBody>
      </p:sp>
      <p:sp>
        <p:nvSpPr>
          <p:cNvPr id="6" name="Rectangle 5"/>
          <p:cNvSpPr/>
          <p:nvPr/>
        </p:nvSpPr>
        <p:spPr>
          <a:xfrm>
            <a:off x="7751762" y="5948544"/>
            <a:ext cx="840038" cy="369332"/>
          </a:xfrm>
          <a:prstGeom prst="rect">
            <a:avLst/>
          </a:prstGeom>
        </p:spPr>
        <p:txBody>
          <a:bodyPr wrap="none">
            <a:spAutoFit/>
          </a:bodyPr>
          <a:lstStyle/>
          <a:p>
            <a:r>
              <a:rPr lang="en-US" altLang="en-US" dirty="0">
                <a:solidFill>
                  <a:srgbClr val="006699"/>
                </a:solidFill>
                <a:latin typeface="Calibri" panose="020F0502020204030204" pitchFamily="34" charset="0"/>
              </a:rPr>
              <a:t>LO 1-6 </a:t>
            </a:r>
            <a:endParaRPr lang="en-IN" dirty="0">
              <a:solidFill>
                <a:srgbClr val="006699"/>
              </a:solidFill>
              <a:latin typeface="Calibri" panose="020F0502020204030204" pitchFamily="34" charset="0"/>
            </a:endParaRPr>
          </a:p>
        </p:txBody>
      </p:sp>
      <p:sp>
        <p:nvSpPr>
          <p:cNvPr id="7" name="Title 1"/>
          <p:cNvSpPr>
            <a:spLocks noGrp="1"/>
          </p:cNvSpPr>
          <p:nvPr>
            <p:ph type="title"/>
          </p:nvPr>
        </p:nvSpPr>
        <p:spPr>
          <a:xfrm>
            <a:off x="612757" y="1216363"/>
            <a:ext cx="7886700" cy="723572"/>
          </a:xfrm>
        </p:spPr>
        <p:txBody>
          <a:bodyPr>
            <a:noAutofit/>
          </a:bodyPr>
          <a:lstStyle/>
          <a:p>
            <a:r>
              <a:rPr lang="en-IN" sz="3500" dirty="0">
                <a:solidFill>
                  <a:srgbClr val="8B0304"/>
                </a:solidFill>
                <a:latin typeface="Calibri" panose="020F0502020204030204" pitchFamily="34" charset="0"/>
              </a:rPr>
              <a:t>Entrepreneurial Risks and Factors of Production</a:t>
            </a:r>
            <a:r>
              <a:rPr lang="en-IN" sz="3400" dirty="0">
                <a:solidFill>
                  <a:schemeClr val="bg1"/>
                </a:solidFill>
                <a:latin typeface="Calibri" panose="020F0502020204030204" pitchFamily="34" charset="0"/>
              </a:rPr>
              <a:t> </a:t>
            </a:r>
            <a:r>
              <a:rPr lang="en-IN" sz="2500" dirty="0">
                <a:solidFill>
                  <a:srgbClr val="8B0304"/>
                </a:solidFill>
                <a:latin typeface="Calibri" panose="020F0502020204030204" pitchFamily="34" charset="0"/>
              </a:rPr>
              <a:t>3 of 3</a:t>
            </a:r>
            <a:endParaRPr lang="en-US" sz="2500" dirty="0">
              <a:solidFill>
                <a:srgbClr val="8B0304"/>
              </a:solidFill>
            </a:endParaRPr>
          </a:p>
        </p:txBody>
      </p:sp>
    </p:spTree>
    <p:extLst>
      <p:ext uri="{BB962C8B-B14F-4D97-AF65-F5344CB8AC3E}">
        <p14:creationId xmlns:p14="http://schemas.microsoft.com/office/powerpoint/2010/main" val="3072975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7893424" cy="1655762"/>
          </a:xfrm>
        </p:spPr>
        <p:txBody>
          <a:bodyPr>
            <a:noAutofit/>
          </a:bodyPr>
          <a:lstStyle/>
          <a:p>
            <a:pPr algn="l"/>
            <a:r>
              <a:rPr lang="en-IN" sz="3500" b="1" dirty="0">
                <a:solidFill>
                  <a:srgbClr val="006699"/>
                </a:solidFill>
                <a:latin typeface="Calibri" panose="020F0502020204030204" pitchFamily="34" charset="0"/>
              </a:rPr>
              <a:t>The Forces of the Business Environment</a:t>
            </a:r>
            <a:endParaRPr lang="en-US" sz="3500" b="1" dirty="0">
              <a:solidFill>
                <a:srgbClr val="006699"/>
              </a:solidFill>
            </a:endParaRPr>
          </a:p>
        </p:txBody>
      </p:sp>
    </p:spTree>
    <p:extLst>
      <p:ext uri="{BB962C8B-B14F-4D97-AF65-F5344CB8AC3E}">
        <p14:creationId xmlns:p14="http://schemas.microsoft.com/office/powerpoint/2010/main" val="3307463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1987820"/>
            <a:ext cx="7886700" cy="5164601"/>
          </a:xfrm>
        </p:spPr>
        <p:txBody>
          <a:bodyPr>
            <a:normAutofit/>
          </a:bodyPr>
          <a:lstStyle/>
          <a:p>
            <a:pPr>
              <a:spcBef>
                <a:spcPts val="600"/>
              </a:spcBef>
            </a:pPr>
            <a:r>
              <a:rPr lang="en-IN" sz="2500" dirty="0">
                <a:latin typeface="Calibri" panose="020F0502020204030204" pitchFamily="34" charset="0"/>
              </a:rPr>
              <a:t>What Forces Affect the Business Environment? </a:t>
            </a:r>
            <a:endParaRPr lang="en-IN" sz="1800" dirty="0">
              <a:latin typeface="Calibri" panose="020F0502020204030204" pitchFamily="34" charset="0"/>
            </a:endParaRPr>
          </a:p>
          <a:p>
            <a:pPr>
              <a:spcBef>
                <a:spcPts val="600"/>
              </a:spcBef>
            </a:pPr>
            <a:r>
              <a:rPr lang="en-US" sz="1800" dirty="0">
                <a:solidFill>
                  <a:srgbClr val="006699"/>
                </a:solidFill>
                <a:latin typeface="Calibri" panose="020F0502020204030204" pitchFamily="34" charset="0"/>
              </a:rPr>
              <a:t>Business and entrepreneurship don’t exist in a vacuum. All companies operate within the </a:t>
            </a:r>
            <a:r>
              <a:rPr lang="en-IN" sz="1800" b="1" dirty="0">
                <a:solidFill>
                  <a:srgbClr val="006699"/>
                </a:solidFill>
                <a:latin typeface="Calibri" panose="020F0502020204030204" pitchFamily="34" charset="0"/>
              </a:rPr>
              <a:t>business environment</a:t>
            </a:r>
            <a:r>
              <a:rPr lang="en-IN" sz="1800" dirty="0">
                <a:solidFill>
                  <a:srgbClr val="006699"/>
                </a:solidFill>
                <a:latin typeface="Calibri" panose="020F0502020204030204" pitchFamily="34" charset="0"/>
              </a:rPr>
              <a:t>, which</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is the arena of forces that encourage or discourage the development of business. They are divided into six categories:</a:t>
            </a:r>
            <a:endParaRPr lang="en-IN" sz="1800" b="1" dirty="0">
              <a:solidFill>
                <a:srgbClr val="006699"/>
              </a:solidFill>
              <a:latin typeface="Calibri" panose="020F0502020204030204" pitchFamily="34" charset="0"/>
            </a:endParaRPr>
          </a:p>
          <a:p>
            <a:pPr>
              <a:spcBef>
                <a:spcPts val="0"/>
              </a:spcBef>
            </a:pPr>
            <a:endParaRPr lang="en-IN" sz="1200" b="1" dirty="0">
              <a:solidFill>
                <a:srgbClr val="006699"/>
              </a:solidFill>
              <a:latin typeface="Calibri" panose="020F0502020204030204" pitchFamily="34" charset="0"/>
            </a:endParaRPr>
          </a:p>
          <a:p>
            <a:pPr>
              <a:spcBef>
                <a:spcPts val="0"/>
              </a:spcBef>
            </a:pPr>
            <a:r>
              <a:rPr lang="en-IN" sz="1800" dirty="0">
                <a:solidFill>
                  <a:srgbClr val="006699"/>
                </a:solidFill>
                <a:latin typeface="Calibri" panose="020F0502020204030204" pitchFamily="34" charset="0"/>
              </a:rPr>
              <a:t>1.</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Economic Forces: The Tension Between Freedom and Restraint</a:t>
            </a:r>
          </a:p>
          <a:p>
            <a:pPr>
              <a:spcBef>
                <a:spcPts val="0"/>
              </a:spcBef>
            </a:pPr>
            <a:r>
              <a:rPr lang="en-IN" sz="1800" dirty="0">
                <a:solidFill>
                  <a:srgbClr val="006699"/>
                </a:solidFill>
                <a:latin typeface="Calibri" panose="020F0502020204030204" pitchFamily="34" charset="0"/>
              </a:rPr>
              <a:t>2. Technological Forces: The Effect on Productivity and Security</a:t>
            </a:r>
          </a:p>
          <a:p>
            <a:pPr>
              <a:spcBef>
                <a:spcPts val="0"/>
              </a:spcBef>
            </a:pPr>
            <a:r>
              <a:rPr lang="en-IN" sz="1800" dirty="0">
                <a:solidFill>
                  <a:srgbClr val="006699"/>
                </a:solidFill>
                <a:latin typeface="Calibri" panose="020F0502020204030204" pitchFamily="34" charset="0"/>
              </a:rPr>
              <a:t>3. Competitive Forces: The Influence on Customer, Employee, and Investor</a:t>
            </a:r>
          </a:p>
          <a:p>
            <a:pPr>
              <a:spcBef>
                <a:spcPts val="0"/>
              </a:spcBef>
            </a:pPr>
            <a:r>
              <a:rPr lang="en-IN" sz="1800" dirty="0">
                <a:solidFill>
                  <a:srgbClr val="006699"/>
                </a:solidFill>
                <a:latin typeface="Calibri" panose="020F0502020204030204" pitchFamily="34" charset="0"/>
              </a:rPr>
              <a:t>     Satisfaction</a:t>
            </a:r>
          </a:p>
          <a:p>
            <a:pPr>
              <a:spcBef>
                <a:spcPts val="0"/>
              </a:spcBef>
            </a:pPr>
            <a:r>
              <a:rPr lang="en-IN" sz="1800" dirty="0">
                <a:solidFill>
                  <a:srgbClr val="006699"/>
                </a:solidFill>
                <a:latin typeface="Calibri" panose="020F0502020204030204" pitchFamily="34" charset="0"/>
              </a:rPr>
              <a:t>4. Social Forces: The Impact of Demographics</a:t>
            </a:r>
          </a:p>
          <a:p>
            <a:pPr>
              <a:spcBef>
                <a:spcPts val="0"/>
              </a:spcBef>
            </a:pPr>
            <a:r>
              <a:rPr lang="en-IN" sz="1800" dirty="0">
                <a:solidFill>
                  <a:srgbClr val="006699"/>
                </a:solidFill>
                <a:latin typeface="Calibri" panose="020F0502020204030204" pitchFamily="34" charset="0"/>
              </a:rPr>
              <a:t>5. Global Forces: The Effect on Trade and Stability</a:t>
            </a:r>
          </a:p>
          <a:p>
            <a:pPr>
              <a:spcBef>
                <a:spcPts val="0"/>
              </a:spcBef>
            </a:pPr>
            <a:r>
              <a:rPr lang="en-IN" sz="1800" dirty="0">
                <a:solidFill>
                  <a:srgbClr val="006699"/>
                </a:solidFill>
                <a:latin typeface="Calibri" panose="020F0502020204030204" pitchFamily="34" charset="0"/>
              </a:rPr>
              <a:t>6. Legal/Regulatory/Political Forces: The Rules Business Must Play By</a:t>
            </a:r>
          </a:p>
          <a:p>
            <a:pPr>
              <a:spcBef>
                <a:spcPts val="0"/>
              </a:spcBef>
            </a:pPr>
            <a:endParaRPr lang="en-IN" sz="1800" b="1" dirty="0">
              <a:solidFill>
                <a:srgbClr val="006699"/>
              </a:solidFill>
              <a:latin typeface="Calibri" panose="020F0502020204030204" pitchFamily="34" charset="0"/>
            </a:endParaRPr>
          </a:p>
          <a:p>
            <a:pPr>
              <a:spcBef>
                <a:spcPts val="0"/>
              </a:spcBef>
            </a:pPr>
            <a:endParaRPr lang="en-IN" sz="1800" b="1" dirty="0">
              <a:solidFill>
                <a:srgbClr val="006699"/>
              </a:solidFill>
              <a:latin typeface="Calibri" panose="020F0502020204030204" pitchFamily="34" charset="0"/>
            </a:endParaRPr>
          </a:p>
          <a:p>
            <a:endParaRPr lang="en-IN" dirty="0"/>
          </a:p>
          <a:p>
            <a:endParaRPr lang="en-IN" dirty="0"/>
          </a:p>
        </p:txBody>
      </p:sp>
      <p:sp>
        <p:nvSpPr>
          <p:cNvPr id="7" name="Title 1"/>
          <p:cNvSpPr>
            <a:spLocks noGrp="1"/>
          </p:cNvSpPr>
          <p:nvPr>
            <p:ph type="title"/>
          </p:nvPr>
        </p:nvSpPr>
        <p:spPr>
          <a:xfrm>
            <a:off x="626205" y="1133639"/>
            <a:ext cx="7886700" cy="749397"/>
          </a:xfrm>
        </p:spPr>
        <p:txBody>
          <a:bodyPr>
            <a:noAutofit/>
          </a:bodyPr>
          <a:lstStyle/>
          <a:p>
            <a:r>
              <a:rPr lang="en-IN" sz="3500" dirty="0">
                <a:solidFill>
                  <a:srgbClr val="8B0304"/>
                </a:solidFill>
                <a:latin typeface="Calibri" panose="020F0502020204030204" pitchFamily="34" charset="0"/>
              </a:rPr>
              <a:t>The Forces of the Business Environment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1 of 3</a:t>
            </a:r>
            <a:endParaRPr lang="en-US" sz="2500" dirty="0">
              <a:solidFill>
                <a:srgbClr val="8B0304"/>
              </a:solidFill>
            </a:endParaRPr>
          </a:p>
        </p:txBody>
      </p:sp>
    </p:spTree>
    <p:extLst>
      <p:ext uri="{BB962C8B-B14F-4D97-AF65-F5344CB8AC3E}">
        <p14:creationId xmlns:p14="http://schemas.microsoft.com/office/powerpoint/2010/main" val="4212340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2029384"/>
            <a:ext cx="7886700" cy="5164601"/>
          </a:xfrm>
        </p:spPr>
        <p:txBody>
          <a:bodyPr>
            <a:normAutofit/>
          </a:bodyPr>
          <a:lstStyle/>
          <a:p>
            <a:pPr>
              <a:spcBef>
                <a:spcPts val="0"/>
              </a:spcBef>
            </a:pPr>
            <a:r>
              <a:rPr lang="en-IN" sz="1800" b="1" dirty="0">
                <a:solidFill>
                  <a:srgbClr val="006699"/>
                </a:solidFill>
                <a:latin typeface="Calibri" panose="020F0502020204030204" pitchFamily="34" charset="0"/>
              </a:rPr>
              <a:t>1. Economic Forces: The Tension Between Freedom and Restraint</a:t>
            </a:r>
          </a:p>
          <a:p>
            <a:pPr>
              <a:spcBef>
                <a:spcPts val="0"/>
              </a:spcBef>
            </a:pPr>
            <a:r>
              <a:rPr lang="en-US" sz="1800" dirty="0">
                <a:solidFill>
                  <a:srgbClr val="006699"/>
                </a:solidFill>
                <a:latin typeface="Calibri" panose="020F0502020204030204" pitchFamily="34" charset="0"/>
              </a:rPr>
              <a:t>Business owners face continual tension between the freedom to operate and the regulations provided by governments. Several common areas include: </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Taxation</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Contract enforcement</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Corruption</a:t>
            </a:r>
          </a:p>
          <a:p>
            <a:pPr>
              <a:spcBef>
                <a:spcPts val="0"/>
              </a:spcBef>
            </a:pPr>
            <a:endParaRPr lang="en-IN" sz="1800" dirty="0">
              <a:solidFill>
                <a:srgbClr val="006699"/>
              </a:solidFill>
              <a:latin typeface="Calibri" panose="020F0502020204030204" pitchFamily="34" charset="0"/>
            </a:endParaRPr>
          </a:p>
          <a:p>
            <a:pPr>
              <a:spcBef>
                <a:spcPts val="0"/>
              </a:spcBef>
            </a:pPr>
            <a:r>
              <a:rPr lang="en-IN" sz="1800" b="1" dirty="0">
                <a:solidFill>
                  <a:srgbClr val="006699"/>
                </a:solidFill>
                <a:latin typeface="Calibri" panose="020F0502020204030204" pitchFamily="34" charset="0"/>
              </a:rPr>
              <a:t>2. Technological Forces: The Effect on Productivity and Security</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Technology mainly includes digital technology and machines.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Information technology has facilitated e-business. </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Some impacts of technology include:</a:t>
            </a:r>
          </a:p>
          <a:p>
            <a:pPr marL="457200" lvl="1" indent="-222250">
              <a:spcBef>
                <a:spcPts val="0"/>
              </a:spcBef>
              <a:buFont typeface="Calibri" panose="020F0502020204030204" pitchFamily="34" charset="0"/>
              <a:buChar char="–"/>
            </a:pPr>
            <a:r>
              <a:rPr lang="en-IN" sz="1800" b="1" dirty="0">
                <a:latin typeface="Calibri" panose="020F0502020204030204" pitchFamily="34" charset="0"/>
              </a:rPr>
              <a:t>Productivity: </a:t>
            </a:r>
            <a:r>
              <a:rPr lang="en-IN" sz="1800" dirty="0">
                <a:latin typeface="Calibri" panose="020F0502020204030204" pitchFamily="34" charset="0"/>
              </a:rPr>
              <a:t>The amount of output given the amount of input</a:t>
            </a:r>
          </a:p>
          <a:p>
            <a:pPr marL="457200" lvl="1" indent="-222250">
              <a:spcBef>
                <a:spcPts val="0"/>
              </a:spcBef>
              <a:buFont typeface="Calibri" panose="020F0502020204030204" pitchFamily="34" charset="0"/>
              <a:buChar char="–"/>
            </a:pPr>
            <a:r>
              <a:rPr lang="en-IN" sz="1800" b="1" dirty="0">
                <a:latin typeface="Calibri" panose="020F0502020204030204" pitchFamily="34" charset="0"/>
              </a:rPr>
              <a:t>Security: </a:t>
            </a:r>
            <a:r>
              <a:rPr lang="en-IN" sz="1800" dirty="0">
                <a:latin typeface="Calibri" panose="020F0502020204030204" pitchFamily="34" charset="0"/>
              </a:rPr>
              <a:t>Technological systems can enhance productivity, but they can also compromise security.</a:t>
            </a:r>
          </a:p>
          <a:p>
            <a:endParaRPr lang="en-IN" dirty="0"/>
          </a:p>
          <a:p>
            <a:endParaRPr lang="en-IN" dirty="0"/>
          </a:p>
        </p:txBody>
      </p:sp>
      <p:sp>
        <p:nvSpPr>
          <p:cNvPr id="7" name="Title 1"/>
          <p:cNvSpPr>
            <a:spLocks noGrp="1"/>
          </p:cNvSpPr>
          <p:nvPr>
            <p:ph type="title"/>
          </p:nvPr>
        </p:nvSpPr>
        <p:spPr>
          <a:xfrm>
            <a:off x="640060" y="1133644"/>
            <a:ext cx="7886700" cy="749397"/>
          </a:xfrm>
        </p:spPr>
        <p:txBody>
          <a:bodyPr>
            <a:noAutofit/>
          </a:bodyPr>
          <a:lstStyle/>
          <a:p>
            <a:r>
              <a:rPr lang="en-IN" sz="3500" dirty="0">
                <a:solidFill>
                  <a:srgbClr val="8B0304"/>
                </a:solidFill>
                <a:latin typeface="Calibri" panose="020F0502020204030204" pitchFamily="34" charset="0"/>
              </a:rPr>
              <a:t>The Forces of the Business Environment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1 of 3</a:t>
            </a:r>
            <a:endParaRPr lang="en-US" sz="2500" dirty="0">
              <a:solidFill>
                <a:srgbClr val="8B0304"/>
              </a:solidFill>
            </a:endParaRPr>
          </a:p>
        </p:txBody>
      </p:sp>
    </p:spTree>
    <p:extLst>
      <p:ext uri="{BB962C8B-B14F-4D97-AF65-F5344CB8AC3E}">
        <p14:creationId xmlns:p14="http://schemas.microsoft.com/office/powerpoint/2010/main" val="2656250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1987811"/>
            <a:ext cx="7886700" cy="5164601"/>
          </a:xfrm>
        </p:spPr>
        <p:txBody>
          <a:bodyPr>
            <a:normAutofit/>
          </a:bodyPr>
          <a:lstStyle/>
          <a:p>
            <a:pPr>
              <a:spcBef>
                <a:spcPts val="1200"/>
              </a:spcBef>
            </a:pPr>
            <a:r>
              <a:rPr lang="en-IN" sz="2500" dirty="0">
                <a:latin typeface="Calibri" panose="020F0502020204030204" pitchFamily="34" charset="0"/>
              </a:rPr>
              <a:t>What Forces Affect the Business Environment? </a:t>
            </a:r>
            <a:r>
              <a:rPr lang="en-IN" sz="1800" dirty="0">
                <a:latin typeface="Calibri" panose="020F0502020204030204" pitchFamily="34" charset="0"/>
              </a:rPr>
              <a:t>continued</a:t>
            </a:r>
          </a:p>
          <a:p>
            <a:pPr>
              <a:spcBef>
                <a:spcPts val="600"/>
              </a:spcBef>
            </a:pPr>
            <a:r>
              <a:rPr lang="en-IN" sz="1800" b="1" dirty="0">
                <a:solidFill>
                  <a:srgbClr val="006699"/>
                </a:solidFill>
                <a:latin typeface="Calibri" panose="020F0502020204030204" pitchFamily="34" charset="0"/>
              </a:rPr>
              <a:t>3. Competitive Forces: The Influence on Customer, Employee, and Investor Satisfaction</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Competitors</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Customers</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Employees</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Investors</a:t>
            </a:r>
          </a:p>
          <a:p>
            <a:pPr>
              <a:spcBef>
                <a:spcPts val="0"/>
              </a:spcBef>
            </a:pPr>
            <a:endParaRPr lang="en-IN" sz="1400" dirty="0">
              <a:solidFill>
                <a:srgbClr val="006699"/>
              </a:solidFill>
              <a:latin typeface="Calibri" panose="020F0502020204030204" pitchFamily="34" charset="0"/>
            </a:endParaRPr>
          </a:p>
          <a:p>
            <a:pPr>
              <a:spcBef>
                <a:spcPts val="0"/>
              </a:spcBef>
            </a:pPr>
            <a:r>
              <a:rPr lang="en-IN" sz="1800" b="1" dirty="0">
                <a:solidFill>
                  <a:srgbClr val="006699"/>
                </a:solidFill>
                <a:latin typeface="Calibri" panose="020F0502020204030204" pitchFamily="34" charset="0"/>
              </a:rPr>
              <a:t>4. Social Forces: The Impact of Demographics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Changes in a country’s demographics, the population’s measurable characteristics, can change a business’s number of customers. </a:t>
            </a:r>
          </a:p>
          <a:p>
            <a:pPr marL="285750" indent="-285750">
              <a:spcBef>
                <a:spcPts val="600"/>
              </a:spcBef>
              <a:buFont typeface="Wingdings" panose="05000000000000000000" pitchFamily="2" charset="2"/>
              <a:buChar char="§"/>
            </a:pPr>
            <a:r>
              <a:rPr lang="en-IN" sz="1800" dirty="0">
                <a:solidFill>
                  <a:srgbClr val="006699"/>
                </a:solidFill>
                <a:latin typeface="Calibri" panose="020F0502020204030204" pitchFamily="34" charset="0"/>
              </a:rPr>
              <a:t>Customers’ changing needs and tastes can also affect the business.</a:t>
            </a:r>
          </a:p>
          <a:p>
            <a:endParaRPr lang="en-IN" dirty="0"/>
          </a:p>
        </p:txBody>
      </p:sp>
      <p:sp>
        <p:nvSpPr>
          <p:cNvPr id="7" name="Title 1"/>
          <p:cNvSpPr>
            <a:spLocks noGrp="1"/>
          </p:cNvSpPr>
          <p:nvPr>
            <p:ph type="title"/>
          </p:nvPr>
        </p:nvSpPr>
        <p:spPr>
          <a:xfrm>
            <a:off x="640060" y="1133642"/>
            <a:ext cx="7886700" cy="749397"/>
          </a:xfrm>
        </p:spPr>
        <p:txBody>
          <a:bodyPr>
            <a:noAutofit/>
          </a:bodyPr>
          <a:lstStyle/>
          <a:p>
            <a:r>
              <a:rPr lang="en-IN" sz="3500" dirty="0">
                <a:solidFill>
                  <a:srgbClr val="8B0304"/>
                </a:solidFill>
                <a:latin typeface="Calibri" panose="020F0502020204030204" pitchFamily="34" charset="0"/>
              </a:rPr>
              <a:t>The Forces of the Business Environment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2 of 3</a:t>
            </a:r>
            <a:endParaRPr lang="en-US" sz="2500" dirty="0">
              <a:solidFill>
                <a:srgbClr val="8B0304"/>
              </a:solidFill>
            </a:endParaRPr>
          </a:p>
        </p:txBody>
      </p:sp>
    </p:spTree>
    <p:extLst>
      <p:ext uri="{BB962C8B-B14F-4D97-AF65-F5344CB8AC3E}">
        <p14:creationId xmlns:p14="http://schemas.microsoft.com/office/powerpoint/2010/main" val="245199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28650" y="1987814"/>
            <a:ext cx="7886700" cy="5164601"/>
          </a:xfrm>
        </p:spPr>
        <p:txBody>
          <a:bodyPr>
            <a:normAutofit/>
          </a:bodyPr>
          <a:lstStyle/>
          <a:p>
            <a:pPr>
              <a:spcBef>
                <a:spcPts val="1200"/>
              </a:spcBef>
            </a:pPr>
            <a:r>
              <a:rPr lang="en-IN" sz="2500" dirty="0">
                <a:latin typeface="Calibri" panose="020F0502020204030204" pitchFamily="34" charset="0"/>
              </a:rPr>
              <a:t>What Forces Affect the Business Environment? </a:t>
            </a:r>
            <a:r>
              <a:rPr lang="en-IN" sz="1800" dirty="0">
                <a:latin typeface="Calibri" panose="020F0502020204030204" pitchFamily="34" charset="0"/>
              </a:rPr>
              <a:t>continued</a:t>
            </a:r>
          </a:p>
          <a:p>
            <a:pPr>
              <a:spcBef>
                <a:spcPts val="1200"/>
              </a:spcBef>
            </a:pPr>
            <a:r>
              <a:rPr lang="en-IN" sz="1800" b="1" dirty="0">
                <a:solidFill>
                  <a:srgbClr val="006699"/>
                </a:solidFill>
                <a:latin typeface="Calibri" panose="020F0502020204030204" pitchFamily="34" charset="0"/>
              </a:rPr>
              <a:t>5. Global Forces: The Effect on Trade and Stability</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Globalization</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is</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the movement of the world economy toward becoming a more interdependent system.</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Global forces include:</a:t>
            </a:r>
          </a:p>
          <a:p>
            <a:pPr marL="800100" lvl="1" indent="-342900">
              <a:buFontTx/>
              <a:buChar char="–"/>
            </a:pPr>
            <a:r>
              <a:rPr lang="en-IN" sz="1800" dirty="0">
                <a:latin typeface="Calibri" panose="020F0502020204030204" pitchFamily="34" charset="0"/>
              </a:rPr>
              <a:t>Trade pacts and economic unions</a:t>
            </a:r>
          </a:p>
          <a:p>
            <a:pPr marL="800100" lvl="1" indent="-342900">
              <a:buFontTx/>
              <a:buChar char="–"/>
            </a:pPr>
            <a:r>
              <a:rPr lang="en-IN" sz="1800" dirty="0"/>
              <a:t>Military alliances</a:t>
            </a:r>
          </a:p>
          <a:p>
            <a:pPr marL="800100" lvl="1" indent="-342900">
              <a:buFontTx/>
              <a:buChar char="–"/>
            </a:pPr>
            <a:r>
              <a:rPr lang="en-IN" sz="1800" dirty="0"/>
              <a:t>Currency exchanges</a:t>
            </a:r>
          </a:p>
          <a:p>
            <a:pPr marL="800100" lvl="1" indent="-342900">
              <a:buFontTx/>
              <a:buChar char="–"/>
            </a:pPr>
            <a:r>
              <a:rPr lang="en-IN" sz="1800" dirty="0"/>
              <a:t>Immigration policies</a:t>
            </a:r>
          </a:p>
          <a:p>
            <a:pPr marL="800100" lvl="1" indent="-342900">
              <a:buFontTx/>
              <a:buChar char="–"/>
            </a:pPr>
            <a:r>
              <a:rPr lang="en-IN" sz="1800" dirty="0"/>
              <a:t>Environmental regulations</a:t>
            </a:r>
            <a:endParaRPr lang="en-IN" sz="1400" dirty="0"/>
          </a:p>
          <a:p>
            <a:r>
              <a:rPr lang="en-IN" sz="1800" b="1" dirty="0">
                <a:solidFill>
                  <a:srgbClr val="006699"/>
                </a:solidFill>
                <a:latin typeface="Calibri" panose="020F0502020204030204" pitchFamily="34" charset="0"/>
              </a:rPr>
              <a:t>6. Legal/Regulatory/Political Forces: The Rules Business Must Play By</a:t>
            </a:r>
          </a:p>
          <a:p>
            <a:pPr marL="285750" indent="-285750">
              <a:buFont typeface="Wingdings" panose="05000000000000000000" pitchFamily="2" charset="2"/>
              <a:buChar char="§"/>
            </a:pPr>
            <a:r>
              <a:rPr lang="en-IN" sz="1800" dirty="0">
                <a:solidFill>
                  <a:srgbClr val="006699"/>
                </a:solidFill>
                <a:latin typeface="Calibri" panose="020F0502020204030204" pitchFamily="34" charset="0"/>
              </a:rPr>
              <a:t>Both nationally and internationally, regulations, laws, and politics set the rules businesses must abide to stay in business and out of trouble. </a:t>
            </a:r>
          </a:p>
          <a:p>
            <a:pPr marL="288131"/>
            <a:endParaRPr lang="en-IN" sz="2325" dirty="0">
              <a:latin typeface="Calibri" panose="020F0502020204030204" pitchFamily="34" charset="0"/>
            </a:endParaRPr>
          </a:p>
          <a:p>
            <a:endParaRPr lang="en-IN" dirty="0"/>
          </a:p>
        </p:txBody>
      </p:sp>
      <p:sp>
        <p:nvSpPr>
          <p:cNvPr id="7" name="Title 1"/>
          <p:cNvSpPr>
            <a:spLocks noGrp="1"/>
          </p:cNvSpPr>
          <p:nvPr>
            <p:ph type="title"/>
          </p:nvPr>
        </p:nvSpPr>
        <p:spPr>
          <a:xfrm>
            <a:off x="640058" y="1133644"/>
            <a:ext cx="7886700" cy="749397"/>
          </a:xfrm>
        </p:spPr>
        <p:txBody>
          <a:bodyPr>
            <a:noAutofit/>
          </a:bodyPr>
          <a:lstStyle/>
          <a:p>
            <a:r>
              <a:rPr lang="en-IN" sz="3500" dirty="0">
                <a:solidFill>
                  <a:srgbClr val="8B0304"/>
                </a:solidFill>
                <a:latin typeface="Calibri" panose="020F0502020204030204" pitchFamily="34" charset="0"/>
              </a:rPr>
              <a:t>The Forces of the Business Environment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3 of 3</a:t>
            </a:r>
            <a:endParaRPr lang="en-US" sz="2500" dirty="0">
              <a:solidFill>
                <a:srgbClr val="8B0304"/>
              </a:solidFill>
            </a:endParaRPr>
          </a:p>
        </p:txBody>
      </p:sp>
    </p:spTree>
    <p:extLst>
      <p:ext uri="{BB962C8B-B14F-4D97-AF65-F5344CB8AC3E}">
        <p14:creationId xmlns:p14="http://schemas.microsoft.com/office/powerpoint/2010/main" val="2198523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5494" y="4570226"/>
            <a:ext cx="5822577" cy="1655762"/>
          </a:xfrm>
        </p:spPr>
        <p:txBody>
          <a:bodyPr>
            <a:noAutofit/>
          </a:bodyPr>
          <a:lstStyle/>
          <a:p>
            <a:pPr algn="l"/>
            <a:r>
              <a:rPr lang="en-IN" sz="3500" b="1" dirty="0">
                <a:solidFill>
                  <a:srgbClr val="006699"/>
                </a:solidFill>
                <a:latin typeface="Calibri" panose="020F0502020204030204" pitchFamily="34" charset="0"/>
              </a:rPr>
              <a:t>Stakeholders and Succeeding in Business</a:t>
            </a:r>
            <a:endParaRPr lang="en-US" sz="3500" b="1" dirty="0">
              <a:solidFill>
                <a:srgbClr val="006699"/>
              </a:solidFill>
            </a:endParaRPr>
          </a:p>
        </p:txBody>
      </p:sp>
    </p:spTree>
    <p:extLst>
      <p:ext uri="{BB962C8B-B14F-4D97-AF65-F5344CB8AC3E}">
        <p14:creationId xmlns:p14="http://schemas.microsoft.com/office/powerpoint/2010/main" val="497351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612" y="1134859"/>
            <a:ext cx="7886700" cy="749397"/>
          </a:xfrm>
        </p:spPr>
        <p:txBody>
          <a:bodyPr>
            <a:noAutofit/>
          </a:bodyPr>
          <a:lstStyle/>
          <a:p>
            <a:r>
              <a:rPr lang="en-IN" sz="3500" dirty="0">
                <a:solidFill>
                  <a:srgbClr val="8B0304"/>
                </a:solidFill>
                <a:latin typeface="Calibri" panose="020F0502020204030204" pitchFamily="34" charset="0"/>
              </a:rPr>
              <a:t>Stakeholders and Succeeding in Business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1 of 4</a:t>
            </a:r>
            <a:endParaRPr lang="en-US" sz="2500" dirty="0">
              <a:solidFill>
                <a:srgbClr val="8B0304"/>
              </a:solidFill>
            </a:endParaRPr>
          </a:p>
        </p:txBody>
      </p:sp>
      <p:sp>
        <p:nvSpPr>
          <p:cNvPr id="11" name="Content Placeholder 2"/>
          <p:cNvSpPr>
            <a:spLocks noGrp="1"/>
          </p:cNvSpPr>
          <p:nvPr>
            <p:ph idx="1"/>
          </p:nvPr>
        </p:nvSpPr>
        <p:spPr>
          <a:xfrm>
            <a:off x="614795" y="1987410"/>
            <a:ext cx="7886700" cy="5151154"/>
          </a:xfrm>
        </p:spPr>
        <p:txBody>
          <a:bodyPr>
            <a:normAutofit/>
          </a:bodyPr>
          <a:lstStyle/>
          <a:p>
            <a:pPr>
              <a:spcBef>
                <a:spcPts val="0"/>
              </a:spcBef>
            </a:pPr>
            <a:r>
              <a:rPr lang="en-IN" sz="2500" dirty="0">
                <a:latin typeface="Calibri" panose="020F0502020204030204" pitchFamily="34" charset="0"/>
              </a:rPr>
              <a:t>Management and Stakeholders</a:t>
            </a:r>
          </a:p>
          <a:p>
            <a:pPr>
              <a:spcBef>
                <a:spcPts val="0"/>
              </a:spcBef>
            </a:pPr>
            <a:r>
              <a:rPr lang="en-IN" sz="1800" dirty="0">
                <a:solidFill>
                  <a:srgbClr val="006699"/>
                </a:solidFill>
                <a:latin typeface="Calibri" panose="020F0502020204030204" pitchFamily="34" charset="0"/>
              </a:rPr>
              <a:t>Managers and entrepreneurs operate in an organizational environment composed of various stakeholders: </a:t>
            </a:r>
            <a:endParaRPr lang="en-IN" sz="1800" b="1" dirty="0">
              <a:solidFill>
                <a:srgbClr val="006699"/>
              </a:solidFill>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Owners: Hoping for Profit but Risking Loss</a:t>
            </a:r>
          </a:p>
          <a:p>
            <a:pPr marL="342900" indent="-342900">
              <a:spcBef>
                <a:spcPts val="0"/>
              </a:spcBef>
              <a:buFont typeface="Wingdings" panose="05000000000000000000" pitchFamily="2" charset="2"/>
              <a:buChar char="§"/>
            </a:pPr>
            <a:r>
              <a:rPr lang="en-IN" sz="1800" dirty="0">
                <a:solidFill>
                  <a:srgbClr val="006699"/>
                </a:solidFill>
                <a:latin typeface="Calibri" panose="020F0502020204030204" pitchFamily="34" charset="0"/>
              </a:rPr>
              <a:t>Owners are those who claim the organization as their legal property. In the for-profit world, there are several forms of ownership.</a:t>
            </a:r>
          </a:p>
          <a:p>
            <a:pPr marL="342900" indent="-342900">
              <a:spcBef>
                <a:spcPts val="0"/>
              </a:spcBef>
              <a:buFont typeface="Wingdings" panose="05000000000000000000" pitchFamily="2" charset="2"/>
              <a:buChar char="§"/>
            </a:pPr>
            <a:r>
              <a:rPr lang="en-IN" sz="1800" dirty="0">
                <a:solidFill>
                  <a:srgbClr val="006699"/>
                </a:solidFill>
                <a:latin typeface="Calibri" panose="020F0502020204030204" pitchFamily="34" charset="0"/>
              </a:rPr>
              <a:t>The owners’ goal is to make a profit, but they risk the loss of everything they have invested.</a:t>
            </a:r>
            <a:endParaRPr lang="en-IN" sz="1050" dirty="0">
              <a:solidFill>
                <a:srgbClr val="006699"/>
              </a:solidFill>
              <a:latin typeface="Calibri" panose="020F0502020204030204" pitchFamily="34" charset="0"/>
            </a:endParaRPr>
          </a:p>
          <a:p>
            <a:pPr>
              <a:spcBef>
                <a:spcPts val="0"/>
              </a:spcBef>
            </a:pPr>
            <a:r>
              <a:rPr lang="en-IN" sz="1800" b="1" dirty="0">
                <a:solidFill>
                  <a:srgbClr val="006699"/>
                </a:solidFill>
                <a:latin typeface="Calibri" panose="020F0502020204030204" pitchFamily="34" charset="0"/>
              </a:rPr>
              <a:t>Customers: The Focus of Business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Customers</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are the people or companies that pay to use an organization’s goods or services. </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For-profit companies and </a:t>
            </a:r>
            <a:r>
              <a:rPr lang="en-IN" sz="1800" dirty="0" err="1">
                <a:solidFill>
                  <a:srgbClr val="006699"/>
                </a:solidFill>
                <a:latin typeface="Calibri" panose="020F0502020204030204" pitchFamily="34" charset="0"/>
              </a:rPr>
              <a:t>nonprofit</a:t>
            </a:r>
            <a:r>
              <a:rPr lang="en-IN" sz="1800" dirty="0">
                <a:solidFill>
                  <a:srgbClr val="006699"/>
                </a:solidFill>
                <a:latin typeface="Calibri" panose="020F0502020204030204" pitchFamily="34" charset="0"/>
              </a:rPr>
              <a:t> organizations both focus on customers.</a:t>
            </a:r>
            <a:endParaRPr lang="en-IN" sz="1050" dirty="0">
              <a:solidFill>
                <a:srgbClr val="006699"/>
              </a:solidFill>
              <a:latin typeface="Calibri" panose="020F0502020204030204" pitchFamily="34" charset="0"/>
            </a:endParaRPr>
          </a:p>
          <a:p>
            <a:pPr>
              <a:lnSpc>
                <a:spcPct val="100000"/>
              </a:lnSpc>
              <a:spcBef>
                <a:spcPts val="0"/>
              </a:spcBef>
            </a:pPr>
            <a:r>
              <a:rPr lang="en-IN" sz="1800" b="1" dirty="0">
                <a:solidFill>
                  <a:srgbClr val="006699"/>
                </a:solidFill>
                <a:latin typeface="Calibri" panose="020F0502020204030204" pitchFamily="34" charset="0"/>
              </a:rPr>
              <a:t>Employees: The Need for Performance</a:t>
            </a:r>
          </a:p>
          <a:p>
            <a:pPr marL="342900" indent="-342900">
              <a:lnSpc>
                <a:spcPct val="100000"/>
              </a:lnSpc>
              <a:spcBef>
                <a:spcPts val="0"/>
              </a:spcBef>
              <a:buFont typeface="Wingdings" panose="05000000000000000000" pitchFamily="2" charset="2"/>
              <a:buChar char="§"/>
            </a:pPr>
            <a:r>
              <a:rPr lang="en-IN" sz="1800" dirty="0">
                <a:solidFill>
                  <a:srgbClr val="006699"/>
                </a:solidFill>
                <a:latin typeface="Calibri" panose="020F0502020204030204" pitchFamily="34" charset="0"/>
              </a:rPr>
              <a:t>Employees are the key stakeholders in a business as they provide the </a:t>
            </a:r>
            <a:r>
              <a:rPr lang="en-IN" sz="1800" dirty="0" err="1">
                <a:solidFill>
                  <a:srgbClr val="006699"/>
                </a:solidFill>
                <a:latin typeface="Calibri" panose="020F0502020204030204" pitchFamily="34" charset="0"/>
              </a:rPr>
              <a:t>labor</a:t>
            </a:r>
            <a:r>
              <a:rPr lang="en-IN" sz="1800" dirty="0">
                <a:solidFill>
                  <a:srgbClr val="006699"/>
                </a:solidFill>
                <a:latin typeface="Calibri" panose="020F0502020204030204" pitchFamily="34" charset="0"/>
              </a:rPr>
              <a:t>, create the culture, and provide the service that ultimately makes a business succeed or fail.</a:t>
            </a:r>
          </a:p>
          <a:p>
            <a:endParaRPr lang="en-IN" sz="1800" dirty="0">
              <a:solidFill>
                <a:srgbClr val="006699"/>
              </a:solidFill>
              <a:latin typeface="Calibri" panose="020F0502020204030204" pitchFamily="34" charset="0"/>
            </a:endParaRPr>
          </a:p>
        </p:txBody>
      </p:sp>
    </p:spTree>
    <p:extLst>
      <p:ext uri="{BB962C8B-B14F-4D97-AF65-F5344CB8AC3E}">
        <p14:creationId xmlns:p14="http://schemas.microsoft.com/office/powerpoint/2010/main" val="230406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14795" y="2001251"/>
            <a:ext cx="7886700" cy="5151154"/>
          </a:xfrm>
        </p:spPr>
        <p:txBody>
          <a:bodyPr>
            <a:normAutofit/>
          </a:bodyPr>
          <a:lstStyle/>
          <a:p>
            <a:pPr>
              <a:spcBef>
                <a:spcPts val="600"/>
              </a:spcBef>
            </a:pPr>
            <a:r>
              <a:rPr lang="en-IN" sz="2500" dirty="0">
                <a:latin typeface="Calibri" panose="020F0502020204030204" pitchFamily="34" charset="0"/>
              </a:rPr>
              <a:t>Management and Stakeholders</a:t>
            </a:r>
            <a:endParaRPr lang="en-IN" sz="2500" dirty="0">
              <a:solidFill>
                <a:srgbClr val="006699"/>
              </a:solidFill>
              <a:latin typeface="Calibri" panose="020F0502020204030204" pitchFamily="34" charset="0"/>
            </a:endParaRPr>
          </a:p>
          <a:p>
            <a:pPr>
              <a:spcBef>
                <a:spcPts val="600"/>
              </a:spcBef>
            </a:pPr>
            <a:r>
              <a:rPr lang="en-IN" sz="1800" b="1" dirty="0">
                <a:solidFill>
                  <a:srgbClr val="006699"/>
                </a:solidFill>
                <a:latin typeface="Calibri" panose="020F0502020204030204" pitchFamily="34" charset="0"/>
              </a:rPr>
              <a:t>Suppliers: Providing Parts and Products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A supplier</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is a</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person or an organization that supplies raw materials, services, equipment, </a:t>
            </a:r>
            <a:r>
              <a:rPr lang="en-IN" sz="1800" dirty="0" err="1">
                <a:solidFill>
                  <a:srgbClr val="006699"/>
                </a:solidFill>
                <a:latin typeface="Calibri" panose="020F0502020204030204" pitchFamily="34" charset="0"/>
              </a:rPr>
              <a:t>labor</a:t>
            </a:r>
            <a:r>
              <a:rPr lang="en-IN" sz="1800" dirty="0">
                <a:solidFill>
                  <a:srgbClr val="006699"/>
                </a:solidFill>
                <a:latin typeface="Calibri" panose="020F0502020204030204" pitchFamily="34" charset="0"/>
              </a:rPr>
              <a:t>, energy, and other products to other organizations.</a:t>
            </a:r>
          </a:p>
          <a:p>
            <a:pPr>
              <a:spcBef>
                <a:spcPts val="0"/>
              </a:spcBef>
            </a:pPr>
            <a:endParaRPr lang="en-IN" sz="1800" dirty="0">
              <a:solidFill>
                <a:srgbClr val="006699"/>
              </a:solidFill>
              <a:latin typeface="Calibri" panose="020F0502020204030204" pitchFamily="34" charset="0"/>
            </a:endParaRPr>
          </a:p>
          <a:p>
            <a:pPr>
              <a:spcBef>
                <a:spcPts val="0"/>
              </a:spcBef>
            </a:pPr>
            <a:r>
              <a:rPr lang="en-IN" sz="1800" b="1" dirty="0">
                <a:solidFill>
                  <a:srgbClr val="006699"/>
                </a:solidFill>
                <a:latin typeface="Calibri" panose="020F0502020204030204" pitchFamily="34" charset="0"/>
              </a:rPr>
              <a:t>Distributors: Directing Products to Customers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A distributor is a person or an organization that helps sell goods and services to customers.</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They are quite important in terms of ensuring that customers have a place to purchase a product. </a:t>
            </a:r>
          </a:p>
          <a:p>
            <a:pPr>
              <a:spcBef>
                <a:spcPts val="0"/>
              </a:spcBef>
            </a:pPr>
            <a:endParaRPr lang="en-IN" sz="1800" dirty="0">
              <a:solidFill>
                <a:srgbClr val="006699"/>
              </a:solidFill>
              <a:latin typeface="Calibri" panose="020F0502020204030204" pitchFamily="34" charset="0"/>
            </a:endParaRPr>
          </a:p>
          <a:p>
            <a:pPr>
              <a:spcBef>
                <a:spcPts val="0"/>
              </a:spcBef>
            </a:pPr>
            <a:r>
              <a:rPr lang="en-IN" sz="1800" b="1" dirty="0">
                <a:solidFill>
                  <a:srgbClr val="006699"/>
                </a:solidFill>
                <a:latin typeface="Calibri" panose="020F0502020204030204" pitchFamily="34" charset="0"/>
              </a:rPr>
              <a:t>Lenders: Carrying the Company When Money is Short</a:t>
            </a:r>
          </a:p>
          <a:p>
            <a:pPr marL="285750" indent="-285750">
              <a:spcBef>
                <a:spcPts val="0"/>
              </a:spcBef>
              <a:buFont typeface="Wingdings" panose="05000000000000000000" pitchFamily="2" charset="2"/>
              <a:buChar char="§"/>
            </a:pPr>
            <a:r>
              <a:rPr lang="en-IN" sz="1800" dirty="0">
                <a:solidFill>
                  <a:srgbClr val="006699"/>
                </a:solidFill>
                <a:latin typeface="Calibri" panose="020F0502020204030204" pitchFamily="34" charset="0"/>
              </a:rPr>
              <a:t>Businesses rely on lenders such as banks to give them loans:</a:t>
            </a:r>
          </a:p>
          <a:p>
            <a:pPr lvl="1">
              <a:spcBef>
                <a:spcPts val="0"/>
              </a:spcBef>
              <a:buFont typeface="Calibri" panose="020F0502020204030204" pitchFamily="34" charset="0"/>
              <a:buChar char="–"/>
            </a:pPr>
            <a:r>
              <a:rPr lang="en-IN" sz="1800" dirty="0">
                <a:latin typeface="Calibri" panose="020F0502020204030204" pitchFamily="34" charset="0"/>
              </a:rPr>
              <a:t>to start a business,</a:t>
            </a:r>
          </a:p>
          <a:p>
            <a:pPr lvl="1">
              <a:buFont typeface="Calibri" panose="020F0502020204030204" pitchFamily="34" charset="0"/>
              <a:buChar char="–"/>
            </a:pPr>
            <a:r>
              <a:rPr lang="en-IN" sz="1800" dirty="0">
                <a:latin typeface="Calibri" panose="020F0502020204030204" pitchFamily="34" charset="0"/>
              </a:rPr>
              <a:t>to keep the business afloat when revenues are low, and</a:t>
            </a:r>
          </a:p>
          <a:p>
            <a:pPr lvl="1">
              <a:buFont typeface="Calibri" panose="020F0502020204030204" pitchFamily="34" charset="0"/>
              <a:buChar char="–"/>
            </a:pPr>
            <a:r>
              <a:rPr lang="en-IN" sz="1800" dirty="0">
                <a:latin typeface="Calibri" panose="020F0502020204030204" pitchFamily="34" charset="0"/>
              </a:rPr>
              <a:t>to expand their operations. </a:t>
            </a:r>
          </a:p>
          <a:p>
            <a:pPr lvl="1">
              <a:buFont typeface="Calibri" panose="020F0502020204030204" pitchFamily="34" charset="0"/>
              <a:buChar char="–"/>
            </a:pPr>
            <a:endParaRPr lang="en-IN" sz="1800" dirty="0">
              <a:latin typeface="Calibri" panose="020F0502020204030204" pitchFamily="34" charset="0"/>
            </a:endParaRPr>
          </a:p>
          <a:p>
            <a:endParaRPr lang="en-IN" sz="1800" dirty="0">
              <a:solidFill>
                <a:srgbClr val="006699"/>
              </a:solidFill>
              <a:latin typeface="Calibri" panose="020F0502020204030204" pitchFamily="34" charset="0"/>
            </a:endParaRPr>
          </a:p>
          <a:p>
            <a:pPr marL="285750" indent="-285750">
              <a:buFont typeface="Wingdings" panose="05000000000000000000" pitchFamily="2" charset="2"/>
              <a:buChar char="§"/>
            </a:pPr>
            <a:endParaRPr lang="en-IN" sz="1800" dirty="0">
              <a:solidFill>
                <a:srgbClr val="006699"/>
              </a:solidFill>
              <a:latin typeface="Calibri" panose="020F0502020204030204" pitchFamily="34" charset="0"/>
            </a:endParaRPr>
          </a:p>
          <a:p>
            <a:endParaRPr lang="en-IN" sz="1800" dirty="0">
              <a:solidFill>
                <a:srgbClr val="006699"/>
              </a:solidFill>
              <a:latin typeface="Calibri" panose="020F0502020204030204" pitchFamily="34" charset="0"/>
            </a:endParaRPr>
          </a:p>
        </p:txBody>
      </p:sp>
      <p:sp>
        <p:nvSpPr>
          <p:cNvPr id="7" name="Title 1"/>
          <p:cNvSpPr txBox="1">
            <a:spLocks/>
          </p:cNvSpPr>
          <p:nvPr/>
        </p:nvSpPr>
        <p:spPr>
          <a:xfrm>
            <a:off x="626610" y="1134864"/>
            <a:ext cx="7886700" cy="749397"/>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625" b="1" kern="1200">
                <a:solidFill>
                  <a:srgbClr val="990000"/>
                </a:solidFill>
                <a:latin typeface="+mn-lt"/>
                <a:ea typeface="+mj-ea"/>
                <a:cs typeface="+mj-cs"/>
              </a:defRPr>
            </a:lvl1pPr>
          </a:lstStyle>
          <a:p>
            <a:r>
              <a:rPr lang="en-IN" sz="3500" dirty="0">
                <a:solidFill>
                  <a:srgbClr val="8B0304"/>
                </a:solidFill>
                <a:latin typeface="Calibri" panose="020F0502020204030204" pitchFamily="34" charset="0"/>
              </a:rPr>
              <a:t>Stakeholders and Succeeding in Business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2 of 4</a:t>
            </a:r>
            <a:endParaRPr lang="en-US" sz="2500" dirty="0">
              <a:solidFill>
                <a:srgbClr val="8B0304"/>
              </a:solidFill>
            </a:endParaRPr>
          </a:p>
        </p:txBody>
      </p:sp>
    </p:spTree>
    <p:extLst>
      <p:ext uri="{BB962C8B-B14F-4D97-AF65-F5344CB8AC3E}">
        <p14:creationId xmlns:p14="http://schemas.microsoft.com/office/powerpoint/2010/main" val="1004391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14795" y="1987406"/>
            <a:ext cx="7886700" cy="5164601"/>
          </a:xfrm>
        </p:spPr>
        <p:txBody>
          <a:bodyPr>
            <a:normAutofit/>
          </a:bodyPr>
          <a:lstStyle/>
          <a:p>
            <a:pPr>
              <a:spcBef>
                <a:spcPts val="800"/>
              </a:spcBef>
            </a:pPr>
            <a:r>
              <a:rPr lang="en-IN" sz="2500" dirty="0">
                <a:latin typeface="Calibri" panose="020F0502020204030204" pitchFamily="34" charset="0"/>
              </a:rPr>
              <a:t>Management and Stakeholders</a:t>
            </a:r>
          </a:p>
          <a:p>
            <a:pPr>
              <a:spcBef>
                <a:spcPts val="800"/>
              </a:spcBef>
            </a:pPr>
            <a:r>
              <a:rPr lang="en-IN" sz="1800" b="1" dirty="0">
                <a:solidFill>
                  <a:srgbClr val="006699"/>
                </a:solidFill>
                <a:latin typeface="Calibri" panose="020F0502020204030204" pitchFamily="34" charset="0"/>
              </a:rPr>
              <a:t>Nearby Communities: The Local Environment</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Important stakeholders because schools and municipal governments rely on businesses for a portion of their tax base. </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Families and merchants depend on the employee payroll for their livelihoods.</a:t>
            </a:r>
          </a:p>
          <a:p>
            <a:pPr marL="285750" indent="-285750">
              <a:spcBef>
                <a:spcPts val="300"/>
              </a:spcBef>
              <a:buFont typeface="Wingdings" panose="05000000000000000000" pitchFamily="2" charset="2"/>
              <a:buChar char="§"/>
            </a:pPr>
            <a:r>
              <a:rPr lang="en-IN" sz="1800" dirty="0" err="1">
                <a:solidFill>
                  <a:srgbClr val="006699"/>
                </a:solidFill>
                <a:latin typeface="Calibri" panose="020F0502020204030204" pitchFamily="34" charset="0"/>
              </a:rPr>
              <a:t>Nonprofit</a:t>
            </a:r>
            <a:r>
              <a:rPr lang="en-IN" sz="1800" dirty="0">
                <a:solidFill>
                  <a:srgbClr val="006699"/>
                </a:solidFill>
                <a:latin typeface="Calibri" panose="020F0502020204030204" pitchFamily="34" charset="0"/>
              </a:rPr>
              <a:t> organizations such as sports leagues may depend on them for donations.</a:t>
            </a:r>
          </a:p>
          <a:p>
            <a:pPr>
              <a:spcBef>
                <a:spcPts val="0"/>
              </a:spcBef>
            </a:pPr>
            <a:endParaRPr lang="en-IN" sz="1800" dirty="0">
              <a:solidFill>
                <a:srgbClr val="006699"/>
              </a:solidFill>
              <a:latin typeface="Calibri" panose="020F0502020204030204" pitchFamily="34" charset="0"/>
            </a:endParaRPr>
          </a:p>
          <a:p>
            <a:pPr>
              <a:spcBef>
                <a:spcPts val="300"/>
              </a:spcBef>
            </a:pPr>
            <a:r>
              <a:rPr lang="en-IN" sz="1800" b="1" dirty="0">
                <a:solidFill>
                  <a:srgbClr val="006699"/>
                </a:solidFill>
                <a:latin typeface="Calibri" panose="020F0502020204030204" pitchFamily="34" charset="0"/>
              </a:rPr>
              <a:t>Government Regulators: Local, State, Federal, and World</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Government regulators are</a:t>
            </a:r>
            <a:r>
              <a:rPr lang="en-IN" sz="1800" b="1" dirty="0">
                <a:solidFill>
                  <a:srgbClr val="006699"/>
                </a:solidFill>
                <a:latin typeface="Calibri" panose="020F0502020204030204" pitchFamily="34" charset="0"/>
              </a:rPr>
              <a:t> </a:t>
            </a:r>
            <a:r>
              <a:rPr lang="en-IN" sz="1800" dirty="0">
                <a:solidFill>
                  <a:srgbClr val="006699"/>
                </a:solidFill>
                <a:latin typeface="Calibri" panose="020F0502020204030204" pitchFamily="34" charset="0"/>
              </a:rPr>
              <a:t>government agencies that establish rules and regulations under which organizations must operate; in turn, regulators are often affected by organizations. </a:t>
            </a:r>
          </a:p>
          <a:p>
            <a:endParaRPr lang="en-IN" sz="1800" dirty="0">
              <a:solidFill>
                <a:srgbClr val="006699"/>
              </a:solidFill>
              <a:latin typeface="Calibri" panose="020F0502020204030204" pitchFamily="34" charset="0"/>
            </a:endParaRPr>
          </a:p>
        </p:txBody>
      </p:sp>
      <p:sp>
        <p:nvSpPr>
          <p:cNvPr id="7" name="Title 1"/>
          <p:cNvSpPr>
            <a:spLocks noGrp="1"/>
          </p:cNvSpPr>
          <p:nvPr>
            <p:ph type="title"/>
          </p:nvPr>
        </p:nvSpPr>
        <p:spPr>
          <a:xfrm>
            <a:off x="626609" y="1134859"/>
            <a:ext cx="7886700" cy="749397"/>
          </a:xfrm>
        </p:spPr>
        <p:txBody>
          <a:bodyPr>
            <a:noAutofit/>
          </a:bodyPr>
          <a:lstStyle/>
          <a:p>
            <a:r>
              <a:rPr lang="en-IN" sz="3500" dirty="0">
                <a:solidFill>
                  <a:srgbClr val="8B0304"/>
                </a:solidFill>
                <a:latin typeface="Calibri" panose="020F0502020204030204" pitchFamily="34" charset="0"/>
              </a:rPr>
              <a:t>Stakeholders and Succeeding in Business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3 of 4</a:t>
            </a:r>
            <a:endParaRPr lang="en-US" sz="2500" dirty="0">
              <a:solidFill>
                <a:srgbClr val="8B0304"/>
              </a:solidFill>
            </a:endParaRPr>
          </a:p>
        </p:txBody>
      </p:sp>
    </p:spTree>
    <p:extLst>
      <p:ext uri="{BB962C8B-B14F-4D97-AF65-F5344CB8AC3E}">
        <p14:creationId xmlns:p14="http://schemas.microsoft.com/office/powerpoint/2010/main" val="1234362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614795" y="1987006"/>
            <a:ext cx="7886700" cy="4635481"/>
          </a:xfrm>
        </p:spPr>
        <p:txBody>
          <a:bodyPr>
            <a:normAutofit/>
          </a:bodyPr>
          <a:lstStyle/>
          <a:p>
            <a:pPr>
              <a:spcBef>
                <a:spcPts val="900"/>
              </a:spcBef>
            </a:pPr>
            <a:r>
              <a:rPr lang="en-IN" sz="2500" dirty="0">
                <a:latin typeface="Calibri" panose="020F0502020204030204" pitchFamily="34" charset="0"/>
              </a:rPr>
              <a:t>Management and Stakeholders</a:t>
            </a:r>
          </a:p>
          <a:p>
            <a:pPr>
              <a:spcBef>
                <a:spcPts val="300"/>
              </a:spcBef>
            </a:pPr>
            <a:r>
              <a:rPr lang="en-IN" sz="1800" b="1" dirty="0">
                <a:solidFill>
                  <a:srgbClr val="006699"/>
                </a:solidFill>
                <a:latin typeface="Calibri" panose="020F0502020204030204" pitchFamily="34" charset="0"/>
              </a:rPr>
              <a:t>Interest Groups: People with Specific Issues</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Interest groups are groups whose members try to influence businesses and governments on specific issues.</a:t>
            </a:r>
          </a:p>
          <a:p>
            <a:pPr marL="342900" indent="-342900">
              <a:spcBef>
                <a:spcPts val="300"/>
              </a:spcBef>
              <a:buFont typeface="Wingdings" panose="05000000000000000000" pitchFamily="2" charset="2"/>
              <a:buChar char="§"/>
            </a:pPr>
            <a:r>
              <a:rPr lang="en-IN" sz="1800" dirty="0">
                <a:solidFill>
                  <a:srgbClr val="006699"/>
                </a:solidFill>
                <a:latin typeface="Calibri" panose="020F0502020204030204" pitchFamily="34" charset="0"/>
              </a:rPr>
              <a:t>They try to exert political influence, as in contributing funds to lawmakers’ election campaigns or in launching letter-writing efforts to businesses and politicians.</a:t>
            </a:r>
          </a:p>
          <a:p>
            <a:pPr marL="342900" indent="-342900">
              <a:spcBef>
                <a:spcPts val="300"/>
              </a:spcBef>
              <a:buFont typeface="Wingdings" panose="05000000000000000000" pitchFamily="2" charset="2"/>
              <a:buChar char="§"/>
            </a:pPr>
            <a:r>
              <a:rPr lang="en-US" sz="1800" dirty="0">
                <a:solidFill>
                  <a:srgbClr val="006699"/>
                </a:solidFill>
                <a:latin typeface="Calibri" panose="020F0502020204030204" pitchFamily="34" charset="0"/>
              </a:rPr>
              <a:t>The Sierra Club, the United Auto Workers, and the Chamber of Commerce are examples of interest groups or special-interest groups.</a:t>
            </a:r>
            <a:endParaRPr lang="en-IN" sz="1400" dirty="0">
              <a:solidFill>
                <a:srgbClr val="006699"/>
              </a:solidFill>
              <a:latin typeface="Calibri" panose="020F0502020204030204" pitchFamily="34" charset="0"/>
            </a:endParaRPr>
          </a:p>
          <a:p>
            <a:pPr>
              <a:spcBef>
                <a:spcPts val="300"/>
              </a:spcBef>
            </a:pPr>
            <a:r>
              <a:rPr lang="en-IN" sz="1800" b="1" dirty="0">
                <a:solidFill>
                  <a:srgbClr val="006699"/>
                </a:solidFill>
                <a:latin typeface="Calibri" panose="020F0502020204030204" pitchFamily="34" charset="0"/>
              </a:rPr>
              <a:t>Media: From Print to Internet</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Media can rapidly and widely disseminate both bad news and good news.</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Most midsized and larger businesses have a public relations person or media department to communicate effectively with the press.</a:t>
            </a:r>
          </a:p>
          <a:p>
            <a:pPr marL="285750" indent="-285750">
              <a:spcBef>
                <a:spcPts val="300"/>
              </a:spcBef>
              <a:buFont typeface="Wingdings" panose="05000000000000000000" pitchFamily="2" charset="2"/>
              <a:buChar char="§"/>
            </a:pPr>
            <a:r>
              <a:rPr lang="en-IN" sz="1800" dirty="0">
                <a:solidFill>
                  <a:srgbClr val="006699"/>
                </a:solidFill>
                <a:latin typeface="Calibri" panose="020F0502020204030204" pitchFamily="34" charset="0"/>
              </a:rPr>
              <a:t>Top-level executives often receive special instruction on how to best deal with the media.</a:t>
            </a:r>
          </a:p>
          <a:p>
            <a:endParaRPr lang="en-IN" sz="1800" dirty="0">
              <a:solidFill>
                <a:srgbClr val="006699"/>
              </a:solidFill>
              <a:latin typeface="Calibri" panose="020F0502020204030204" pitchFamily="34" charset="0"/>
            </a:endParaRPr>
          </a:p>
        </p:txBody>
      </p:sp>
      <p:sp>
        <p:nvSpPr>
          <p:cNvPr id="7" name="Title 1"/>
          <p:cNvSpPr>
            <a:spLocks noGrp="1"/>
          </p:cNvSpPr>
          <p:nvPr>
            <p:ph type="title"/>
          </p:nvPr>
        </p:nvSpPr>
        <p:spPr>
          <a:xfrm>
            <a:off x="626610" y="1134865"/>
            <a:ext cx="7886700" cy="749397"/>
          </a:xfrm>
        </p:spPr>
        <p:txBody>
          <a:bodyPr>
            <a:noAutofit/>
          </a:bodyPr>
          <a:lstStyle/>
          <a:p>
            <a:r>
              <a:rPr lang="en-IN" sz="3500" dirty="0">
                <a:solidFill>
                  <a:srgbClr val="8B0304"/>
                </a:solidFill>
                <a:latin typeface="Calibri" panose="020F0502020204030204" pitchFamily="34" charset="0"/>
              </a:rPr>
              <a:t>Stakeholders and Succeeding in Business </a:t>
            </a:r>
            <a:br>
              <a:rPr lang="en-IN" sz="3400" dirty="0">
                <a:solidFill>
                  <a:schemeClr val="bg1"/>
                </a:solidFill>
                <a:latin typeface="Calibri" panose="020F0502020204030204" pitchFamily="34" charset="0"/>
              </a:rPr>
            </a:br>
            <a:r>
              <a:rPr lang="en-IN" sz="2500" dirty="0">
                <a:solidFill>
                  <a:srgbClr val="8B0304"/>
                </a:solidFill>
                <a:latin typeface="Calibri" panose="020F0502020204030204" pitchFamily="34" charset="0"/>
              </a:rPr>
              <a:t>4 of 4</a:t>
            </a:r>
            <a:endParaRPr lang="en-US" sz="2500" dirty="0">
              <a:solidFill>
                <a:srgbClr val="8B0304"/>
              </a:solidFill>
            </a:endParaRPr>
          </a:p>
        </p:txBody>
      </p:sp>
    </p:spTree>
    <p:extLst>
      <p:ext uri="{BB962C8B-B14F-4D97-AF65-F5344CB8AC3E}">
        <p14:creationId xmlns:p14="http://schemas.microsoft.com/office/powerpoint/2010/main" val="318269308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lternate FIRST, BREAK, LAST slides">
  <a:themeElements>
    <a:clrScheme name="Alternate FIRST, BREAK, LAST slides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fontScheme name="Alternate FIRST, BREAK, LAST slides">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Alternate FIRST, BREAK, LAST slides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IDDEN INSTRUCTIONAL SLIDES">
  <a:themeElements>
    <a:clrScheme name="MHHE Branding">
      <a:dk1>
        <a:sysClr val="windowText" lastClr="000000"/>
      </a:dk1>
      <a:lt1>
        <a:sysClr val="window" lastClr="FFFFFF"/>
      </a:lt1>
      <a:dk2>
        <a:srgbClr val="E6E4CC"/>
      </a:dk2>
      <a:lt2>
        <a:srgbClr val="C30C20"/>
      </a:lt2>
      <a:accent1>
        <a:srgbClr val="7AC1AC"/>
      </a:accent1>
      <a:accent2>
        <a:srgbClr val="802754"/>
      </a:accent2>
      <a:accent3>
        <a:srgbClr val="777777"/>
      </a:accent3>
      <a:accent4>
        <a:srgbClr val="DC5A20"/>
      </a:accent4>
      <a:accent5>
        <a:srgbClr val="39858E"/>
      </a:accent5>
      <a:accent6>
        <a:srgbClr val="FFCE00"/>
      </a:accent6>
      <a:hlink>
        <a:srgbClr val="39858E"/>
      </a:hlink>
      <a:folHlink>
        <a:srgbClr val="39858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Plain BODY/MAIN CONTENT">
  <a:themeElements>
    <a:clrScheme name="Plain BODY/MAIN CONTENT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fontScheme name="Plain BODY/MAIN CONTENT">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lain BODY/MAIN CONTENT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Plain BODY/MAIN CONTENT">
  <a:themeElements>
    <a:clrScheme name="Plain BODY/MAIN CONTENT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fontScheme name="Plain BODY/MAIN CONTENT">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lain BODY/MAIN CONTENT 1">
        <a:dk1>
          <a:srgbClr val="000000"/>
        </a:dk1>
        <a:lt1>
          <a:srgbClr val="FFFFFF"/>
        </a:lt1>
        <a:dk2>
          <a:srgbClr val="E6E4CC"/>
        </a:dk2>
        <a:lt2>
          <a:srgbClr val="C30C20"/>
        </a:lt2>
        <a:accent1>
          <a:srgbClr val="7AC1AC"/>
        </a:accent1>
        <a:accent2>
          <a:srgbClr val="802754"/>
        </a:accent2>
        <a:accent3>
          <a:srgbClr val="FFFFFF"/>
        </a:accent3>
        <a:accent4>
          <a:srgbClr val="000000"/>
        </a:accent4>
        <a:accent5>
          <a:srgbClr val="BEDDD2"/>
        </a:accent5>
        <a:accent6>
          <a:srgbClr val="73224B"/>
        </a:accent6>
        <a:hlink>
          <a:srgbClr val="39858E"/>
        </a:hlink>
        <a:folHlink>
          <a:srgbClr val="3985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Alternate FIRST, BREAK, LAST slides">
  <a:themeElements>
    <a:clrScheme name="MHHE Branding">
      <a:dk1>
        <a:sysClr val="windowText" lastClr="000000"/>
      </a:dk1>
      <a:lt1>
        <a:sysClr val="window" lastClr="FFFFFF"/>
      </a:lt1>
      <a:dk2>
        <a:srgbClr val="E6E4CC"/>
      </a:dk2>
      <a:lt2>
        <a:srgbClr val="C30C20"/>
      </a:lt2>
      <a:accent1>
        <a:srgbClr val="7AC1AC"/>
      </a:accent1>
      <a:accent2>
        <a:srgbClr val="802754"/>
      </a:accent2>
      <a:accent3>
        <a:srgbClr val="777777"/>
      </a:accent3>
      <a:accent4>
        <a:srgbClr val="DC5A20"/>
      </a:accent4>
      <a:accent5>
        <a:srgbClr val="39858E"/>
      </a:accent5>
      <a:accent6>
        <a:srgbClr val="FFCE00"/>
      </a:accent6>
      <a:hlink>
        <a:srgbClr val="39858E"/>
      </a:hlink>
      <a:folHlink>
        <a:srgbClr val="39858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4_Plain BODY/MAIN CONTENT">
  <a:themeElements>
    <a:clrScheme name="MHHE Branding">
      <a:dk1>
        <a:sysClr val="windowText" lastClr="000000"/>
      </a:dk1>
      <a:lt1>
        <a:sysClr val="window" lastClr="FFFFFF"/>
      </a:lt1>
      <a:dk2>
        <a:srgbClr val="E6E4CC"/>
      </a:dk2>
      <a:lt2>
        <a:srgbClr val="C30C20"/>
      </a:lt2>
      <a:accent1>
        <a:srgbClr val="7AC1AC"/>
      </a:accent1>
      <a:accent2>
        <a:srgbClr val="802754"/>
      </a:accent2>
      <a:accent3>
        <a:srgbClr val="777777"/>
      </a:accent3>
      <a:accent4>
        <a:srgbClr val="DC5A20"/>
      </a:accent4>
      <a:accent5>
        <a:srgbClr val="39858E"/>
      </a:accent5>
      <a:accent6>
        <a:srgbClr val="FFCE00"/>
      </a:accent6>
      <a:hlink>
        <a:srgbClr val="39858E"/>
      </a:hlink>
      <a:folHlink>
        <a:srgbClr val="39858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4950</TotalTime>
  <Words>3596</Words>
  <Application>Microsoft Office PowerPoint</Application>
  <PresentationFormat>On-screen Show (4:3)</PresentationFormat>
  <Paragraphs>346</Paragraphs>
  <Slides>28</Slides>
  <Notes>23</Notes>
  <HiddenSlides>0</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28</vt:i4>
      </vt:variant>
    </vt:vector>
  </HeadingPairs>
  <TitlesOfParts>
    <vt:vector size="41" baseType="lpstr">
      <vt:lpstr>Arial</vt:lpstr>
      <vt:lpstr>Calibri</vt:lpstr>
      <vt:lpstr>Calibri Light</vt:lpstr>
      <vt:lpstr>Helvetica</vt:lpstr>
      <vt:lpstr>Wingdings</vt:lpstr>
      <vt:lpstr>Custom Design</vt:lpstr>
      <vt:lpstr>1_Office Theme</vt:lpstr>
      <vt:lpstr>Alternate FIRST, BREAK, LAST slides</vt:lpstr>
      <vt:lpstr>HIDDEN INSTRUCTIONAL SLIDES</vt:lpstr>
      <vt:lpstr>Plain BODY/MAIN CONTENT</vt:lpstr>
      <vt:lpstr>1_Plain BODY/MAIN CONTENT</vt:lpstr>
      <vt:lpstr>2_Alternate FIRST, BREAK, LAST slides</vt:lpstr>
      <vt:lpstr>4_Plain BODY/MAIN CONTENT</vt:lpstr>
      <vt:lpstr>PowerPoint Presentation</vt:lpstr>
      <vt:lpstr>Module Contents</vt:lpstr>
      <vt:lpstr>Learning Objectives 1 of 2</vt:lpstr>
      <vt:lpstr>Learning Objectives 2 of 2</vt:lpstr>
      <vt:lpstr>PowerPoint Presentation</vt:lpstr>
      <vt:lpstr>Business and Profits 1 of 6</vt:lpstr>
      <vt:lpstr>Business and Profits 2 of 6</vt:lpstr>
      <vt:lpstr>Business and Profits 3 of 6</vt:lpstr>
      <vt:lpstr>Business and Profits 4 of 6</vt:lpstr>
      <vt:lpstr>Business and Profits 5 of 6</vt:lpstr>
      <vt:lpstr>PowerPoint Presentation</vt:lpstr>
      <vt:lpstr>PowerPoint Presentation</vt:lpstr>
      <vt:lpstr>Role Business Plays in Society</vt:lpstr>
      <vt:lpstr>Role Business Plays in Society</vt:lpstr>
      <vt:lpstr>PowerPoint Presentation</vt:lpstr>
      <vt:lpstr>Entrepreneurial Risks and Factors of Production 1 of 3</vt:lpstr>
      <vt:lpstr>Entrepreneurial Risks and Factors of Production 2 of 3</vt:lpstr>
      <vt:lpstr>Entrepreneurial Risks and Factors of Production 3 of 3</vt:lpstr>
      <vt:lpstr>PowerPoint Presentation</vt:lpstr>
      <vt:lpstr>The Forces of the Business Environment  1 of 3</vt:lpstr>
      <vt:lpstr>The Forces of the Business Environment  1 of 3</vt:lpstr>
      <vt:lpstr>The Forces of the Business Environment  2 of 3</vt:lpstr>
      <vt:lpstr>The Forces of the Business Environment  3 of 3</vt:lpstr>
      <vt:lpstr>PowerPoint Presentation</vt:lpstr>
      <vt:lpstr>Stakeholders and Succeeding in Business  1 of 4</vt:lpstr>
      <vt:lpstr>PowerPoint Presentation</vt:lpstr>
      <vt:lpstr>Stakeholders and Succeeding in Business  3 of 4</vt:lpstr>
      <vt:lpstr>Stakeholders and Succeeding in Business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Sandy</dc:creator>
  <cp:lastModifiedBy>Ray Wimer</cp:lastModifiedBy>
  <cp:revision>495</cp:revision>
  <dcterms:created xsi:type="dcterms:W3CDTF">2018-08-14T04:49:45Z</dcterms:created>
  <dcterms:modified xsi:type="dcterms:W3CDTF">2021-08-05T19:48:18Z</dcterms:modified>
</cp:coreProperties>
</file>